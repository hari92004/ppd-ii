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AA58B-3A70-EB44-87DA-5CFD59B6F30F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27F47-D76C-1246-BF5E-3091FB741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96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PRELIMINARY PROJECT DESIGN  •  B.TECH CSE MINOR PROJECT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and Prediction for Autonomous Vehicles in Unstructured and Dynamic Road Environments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097280" cy="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by: 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[Guide Name]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College of Engineering, Kalahandi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r>
              <a:rPr lang="en-US" sz="9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r>
              <a:rPr lang="en-US" sz="9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r>
              <a:rPr lang="en-US" sz="9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0" y="457200"/>
            <a:ext cx="3108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143000"/>
            <a:ext cx="3108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0" y="457200"/>
            <a:ext cx="0" cy="411480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828800"/>
            <a:ext cx="3108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14160" y="457200"/>
            <a:ext cx="0" cy="411480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514600"/>
            <a:ext cx="3108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457200"/>
            <a:ext cx="0" cy="411480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200400"/>
            <a:ext cx="3108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50480" y="457200"/>
            <a:ext cx="0" cy="411480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3886200"/>
            <a:ext cx="3108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8640" y="457200"/>
            <a:ext cx="0" cy="411480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5274" y="457200"/>
            <a:ext cx="124358" cy="411480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8127187" y="457200"/>
            <a:ext cx="124358" cy="411480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5969569" y="786384"/>
            <a:ext cx="1162751" cy="2962656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H="1" flipV="1">
            <a:off x="6550944" y="786384"/>
            <a:ext cx="581376" cy="2962656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7132320" y="786384"/>
            <a:ext cx="0" cy="2962656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7132320" y="786384"/>
            <a:ext cx="581376" cy="2962656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7132320" y="786384"/>
            <a:ext cx="1162751" cy="2962656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723022" y="185623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0207" y="190324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5200" y="194997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13184" y="199615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3964" y="193178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32784" y="19760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4913" y="2019053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0240" y="2060497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94085" y="1990481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41789" y="2028287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43303" y="2064039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002" y="2097619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270" y="2019213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095" y="20482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8874" y="2074891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34005" y="209923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34478" y="201157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35680" y="2031429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82990" y="204918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86365" y="2064987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1153" y="196926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42681" y="198166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50847" y="199266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60930" y="2002515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18183" y="1901727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32420" y="19100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43216" y="1691640"/>
            <a:ext cx="310896" cy="493776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43216" y="153619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323990" y="2308860"/>
            <a:ext cx="310896" cy="370332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23990" y="2153412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002829" y="2720340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2596896"/>
            <a:ext cx="4663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754112" y="2441448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127187" y="2926080"/>
            <a:ext cx="248717" cy="411480"/>
          </a:xfrm>
          <a:custGeom>
            <a:avLst/>
            <a:gdLst/>
            <a:ahLst/>
            <a:cxnLst/>
            <a:rect l="l" t="t" r="r" b="b"/>
            <a:pathLst>
              <a:path w="248717" h="411480">
                <a:moveTo>
                  <a:pt x="248717" y="411480"/>
                </a:moveTo>
                <a:cubicBezTo>
                  <a:pt x="186538" y="246888"/>
                  <a:pt x="93269" y="123444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sysDot"/>
          </a:ln>
        </p:spPr>
      </p:sp>
      <p:sp>
        <p:nvSpPr>
          <p:cNvPr id="59" name="Shape 57"/>
          <p:cNvSpPr/>
          <p:nvPr/>
        </p:nvSpPr>
        <p:spPr>
          <a:xfrm>
            <a:off x="7132320" y="2926080"/>
            <a:ext cx="932688" cy="205740"/>
          </a:xfrm>
          <a:custGeom>
            <a:avLst/>
            <a:gdLst/>
            <a:ahLst/>
            <a:cxnLst/>
            <a:rect l="l" t="t" r="r" b="b"/>
            <a:pathLst>
              <a:path w="932688" h="205740">
                <a:moveTo>
                  <a:pt x="932688" y="0"/>
                </a:moveTo>
                <a:cubicBezTo>
                  <a:pt x="683971" y="82296"/>
                  <a:pt x="310896" y="205740"/>
                  <a:pt x="0" y="164592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D8741B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7629754" y="2350008"/>
            <a:ext cx="435254" cy="576072"/>
          </a:xfrm>
          <a:custGeom>
            <a:avLst/>
            <a:gdLst/>
            <a:ahLst/>
            <a:cxnLst/>
            <a:rect l="l" t="t" r="r" b="b"/>
            <a:pathLst>
              <a:path w="435254" h="576072">
                <a:moveTo>
                  <a:pt x="435254" y="576072"/>
                </a:moveTo>
                <a:cubicBezTo>
                  <a:pt x="310896" y="370332"/>
                  <a:pt x="124358" y="164592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D8741B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6510528" y="539496"/>
            <a:ext cx="621792" cy="3209544"/>
          </a:xfrm>
          <a:custGeom>
            <a:avLst/>
            <a:gdLst/>
            <a:ahLst/>
            <a:cxnLst/>
            <a:rect l="l" t="t" r="r" b="b"/>
            <a:pathLst>
              <a:path w="621792" h="3209544">
                <a:moveTo>
                  <a:pt x="621792" y="3209544"/>
                </a:moveTo>
                <a:cubicBezTo>
                  <a:pt x="0" y="2386584"/>
                  <a:pt x="0" y="1152144"/>
                  <a:pt x="373075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2320" y="539496"/>
            <a:ext cx="683971" cy="3209544"/>
          </a:xfrm>
          <a:custGeom>
            <a:avLst/>
            <a:gdLst/>
            <a:ahLst/>
            <a:cxnLst/>
            <a:rect l="l" t="t" r="r" b="b"/>
            <a:pathLst>
              <a:path w="683971" h="3209544">
                <a:moveTo>
                  <a:pt x="0" y="3209544"/>
                </a:moveTo>
                <a:cubicBezTo>
                  <a:pt x="621792" y="2386584"/>
                  <a:pt x="683971" y="1152144"/>
                  <a:pt x="373075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32320" y="539496"/>
            <a:ext cx="155448" cy="3209544"/>
          </a:xfrm>
          <a:custGeom>
            <a:avLst/>
            <a:gdLst/>
            <a:ahLst/>
            <a:cxnLst/>
            <a:rect l="l" t="t" r="r" b="b"/>
            <a:pathLst>
              <a:path w="155448" h="3209544">
                <a:moveTo>
                  <a:pt x="0" y="3209544"/>
                </a:moveTo>
                <a:cubicBezTo>
                  <a:pt x="0" y="2180844"/>
                  <a:pt x="155448" y="1152144"/>
                  <a:pt x="62179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1424" y="539496"/>
            <a:ext cx="310896" cy="3209544"/>
          </a:xfrm>
          <a:custGeom>
            <a:avLst/>
            <a:gdLst/>
            <a:ahLst/>
            <a:cxnLst/>
            <a:rect l="l" t="t" r="r" b="b"/>
            <a:pathLst>
              <a:path w="310896" h="3209544">
                <a:moveTo>
                  <a:pt x="310896" y="3209544"/>
                </a:moveTo>
                <a:cubicBezTo>
                  <a:pt x="62179" y="2304288"/>
                  <a:pt x="0" y="1152144"/>
                  <a:pt x="186538" y="0"/>
                </a:cubicBez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D8741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61327" y="3749040"/>
            <a:ext cx="341986" cy="6172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77840" y="4617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BEV: ego vehicle • detections • predicted motion • selected path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Autonomous Driving Difficult on Indian Roads?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becomes far harder when road geometry, traffic patterns and road-user behavior are highly variable.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353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371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ROADS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or missing lane markings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280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28016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98648" y="1353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37160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 OBSTACLES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16642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Pedestrians, animals, roadside objects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4884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4884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TRAFFIC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532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Cars, motorcycles, auto-rickshaws, buses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88920" y="214884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214884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98648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22402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BEHAVIOR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898648" y="2532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Sudden change of direction or speed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01752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HAZARDS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4015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Potholes and irregular surfaces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88920" y="301752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3017520"/>
            <a:ext cx="0" cy="77724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98648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31089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DECISIONS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98648" y="34015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planning, limited computation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1234440"/>
            <a:ext cx="33375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9240" y="1668780"/>
            <a:ext cx="33375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05500" y="1234440"/>
            <a:ext cx="0" cy="260604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2103120"/>
            <a:ext cx="33375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61760" y="1234440"/>
            <a:ext cx="0" cy="260604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9240" y="2537460"/>
            <a:ext cx="33375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18020" y="1234440"/>
            <a:ext cx="0" cy="260604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9240" y="2971800"/>
            <a:ext cx="33375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4280" y="1234440"/>
            <a:ext cx="0" cy="260604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3406140"/>
            <a:ext cx="33375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30540" y="1234440"/>
            <a:ext cx="0" cy="260604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83250" y="1234440"/>
            <a:ext cx="133502" cy="26060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>
            <a:off x="8086039" y="1234440"/>
            <a:ext cx="133502" cy="260604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51776" y="2016252"/>
            <a:ext cx="333756" cy="312725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51776" y="1860804"/>
            <a:ext cx="1001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50254" y="2407158"/>
            <a:ext cx="333756" cy="234544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150254" y="2251710"/>
            <a:ext cx="1001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952537" y="2667762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52410" y="2589581"/>
            <a:ext cx="500634" cy="260604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685532" y="2434133"/>
            <a:ext cx="10012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086039" y="2798064"/>
            <a:ext cx="267005" cy="260604"/>
          </a:xfrm>
          <a:custGeom>
            <a:avLst/>
            <a:gdLst/>
            <a:ahLst/>
            <a:cxnLst/>
            <a:rect l="l" t="t" r="r" b="b"/>
            <a:pathLst>
              <a:path w="267005" h="260604">
                <a:moveTo>
                  <a:pt x="267005" y="260604"/>
                </a:moveTo>
                <a:cubicBezTo>
                  <a:pt x="200254" y="156362"/>
                  <a:pt x="100127" y="78181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sysDot"/>
          </a:ln>
        </p:spPr>
      </p:sp>
      <p:sp>
        <p:nvSpPr>
          <p:cNvPr id="60" name="Shape 58"/>
          <p:cNvSpPr/>
          <p:nvPr/>
        </p:nvSpPr>
        <p:spPr>
          <a:xfrm>
            <a:off x="6684264" y="1286561"/>
            <a:ext cx="333756" cy="2032711"/>
          </a:xfrm>
          <a:custGeom>
            <a:avLst/>
            <a:gdLst/>
            <a:ahLst/>
            <a:cxnLst/>
            <a:rect l="l" t="t" r="r" b="b"/>
            <a:pathLst>
              <a:path w="333756" h="2032711">
                <a:moveTo>
                  <a:pt x="333756" y="2032711"/>
                </a:moveTo>
                <a:cubicBezTo>
                  <a:pt x="66751" y="1459382"/>
                  <a:pt x="0" y="729691"/>
                  <a:pt x="200254" y="0"/>
                </a:cubicBez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D8741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34454" y="3319272"/>
            <a:ext cx="367132" cy="390906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49240" y="3886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BEV: ego vehicle • detections • predicted motion • selected path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94360" y="4041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an autonomous vehicle perceive, predict and plan a safe path when the road itself is uncertain and surrounding objects are constantly changing?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Perception to Adaptive Path Planning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lightweight, modular pipeline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perception, prediction and planning for dynamic, unstructured roads.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801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LiDAR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20240" y="1581912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1709928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70992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&amp; ENVIRONMENT PERCEPTION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2011680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139696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13969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TRACKING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20240" y="2441448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569464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694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/ TRAJECTORY PREDICTION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20240" y="2871216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2999232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9992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PATH GENERATION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20240" y="3300984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42900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&amp; COST EVALUATION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20240" y="3730752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3858768"/>
            <a:ext cx="2926080" cy="301752"/>
          </a:xfrm>
          <a:prstGeom prst="rect">
            <a:avLst/>
          </a:prstGeom>
          <a:solidFill>
            <a:srgbClr val="FFF3E8"/>
          </a:solidFill>
          <a:ln w="12700">
            <a:solidFill>
              <a:srgbClr val="D8741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85876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PATH SELECTION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20240" y="4160520"/>
            <a:ext cx="0" cy="128016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4288536"/>
            <a:ext cx="2926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2885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CONTROL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03320" y="1280160"/>
            <a:ext cx="28346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3320" y="1844040"/>
            <a:ext cx="28346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5760" y="1280160"/>
            <a:ext cx="0" cy="33832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03320" y="2407920"/>
            <a:ext cx="28346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8200" y="1280160"/>
            <a:ext cx="0" cy="33832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03320" y="2971800"/>
            <a:ext cx="28346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1280160"/>
            <a:ext cx="0" cy="33832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3535680"/>
            <a:ext cx="28346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93080" y="1280160"/>
            <a:ext cx="0" cy="33832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03320" y="4099560"/>
            <a:ext cx="283464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65520" y="1280160"/>
            <a:ext cx="0" cy="338328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56862" y="1280160"/>
            <a:ext cx="113386" cy="338328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6027725" y="1280160"/>
            <a:ext cx="113386" cy="3383280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4060485" y="1550822"/>
            <a:ext cx="1060155" cy="2435962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H="1" flipV="1">
            <a:off x="4590562" y="1550822"/>
            <a:ext cx="530078" cy="2435962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5120640" y="1550822"/>
            <a:ext cx="0" cy="2435962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5120640" y="1550822"/>
            <a:ext cx="530078" cy="2435962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V="1">
            <a:off x="5120640" y="1550822"/>
            <a:ext cx="1060155" cy="2435962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404104" y="2295144"/>
            <a:ext cx="283464" cy="405994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04104" y="2139696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383634" y="2802636"/>
            <a:ext cx="283464" cy="304495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383634" y="2647188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pothole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914339" y="3140964"/>
            <a:ext cx="146304" cy="14630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29300" y="3039466"/>
            <a:ext cx="425196" cy="33832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87568" y="2884018"/>
            <a:ext cx="8503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27725" y="3310128"/>
            <a:ext cx="226771" cy="338328"/>
          </a:xfrm>
          <a:custGeom>
            <a:avLst/>
            <a:gdLst/>
            <a:ahLst/>
            <a:cxnLst/>
            <a:rect l="l" t="t" r="r" b="b"/>
            <a:pathLst>
              <a:path w="226771" h="338328">
                <a:moveTo>
                  <a:pt x="226771" y="338328"/>
                </a:moveTo>
                <a:cubicBezTo>
                  <a:pt x="170078" y="202997"/>
                  <a:pt x="85039" y="101498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666666"/>
            </a:solidFill>
            <a:prstDash val="sysDot"/>
          </a:ln>
        </p:spPr>
      </p:sp>
      <p:sp>
        <p:nvSpPr>
          <p:cNvPr id="58" name="Shape 56"/>
          <p:cNvSpPr/>
          <p:nvPr/>
        </p:nvSpPr>
        <p:spPr>
          <a:xfrm>
            <a:off x="5120640" y="3310128"/>
            <a:ext cx="850392" cy="169164"/>
          </a:xfrm>
          <a:custGeom>
            <a:avLst/>
            <a:gdLst/>
            <a:ahLst/>
            <a:cxnLst/>
            <a:rect l="l" t="t" r="r" b="b"/>
            <a:pathLst>
              <a:path w="850392" h="169164">
                <a:moveTo>
                  <a:pt x="850392" y="0"/>
                </a:moveTo>
                <a:cubicBezTo>
                  <a:pt x="623621" y="67666"/>
                  <a:pt x="283464" y="169164"/>
                  <a:pt x="0" y="135331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D8741B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5574182" y="2836469"/>
            <a:ext cx="396850" cy="473659"/>
          </a:xfrm>
          <a:custGeom>
            <a:avLst/>
            <a:gdLst/>
            <a:ahLst/>
            <a:cxnLst/>
            <a:rect l="l" t="t" r="r" b="b"/>
            <a:pathLst>
              <a:path w="396850" h="473659">
                <a:moveTo>
                  <a:pt x="396850" y="473659"/>
                </a:moveTo>
                <a:cubicBezTo>
                  <a:pt x="283464" y="304495"/>
                  <a:pt x="113386" y="135331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D8741B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4553712" y="1347826"/>
            <a:ext cx="566928" cy="2638958"/>
          </a:xfrm>
          <a:custGeom>
            <a:avLst/>
            <a:gdLst/>
            <a:ahLst/>
            <a:cxnLst/>
            <a:rect l="l" t="t" r="r" b="b"/>
            <a:pathLst>
              <a:path w="566928" h="2638958">
                <a:moveTo>
                  <a:pt x="566928" y="2638958"/>
                </a:moveTo>
                <a:cubicBezTo>
                  <a:pt x="0" y="1962302"/>
                  <a:pt x="0" y="947318"/>
                  <a:pt x="340157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20640" y="1347826"/>
            <a:ext cx="623621" cy="2638958"/>
          </a:xfrm>
          <a:custGeom>
            <a:avLst/>
            <a:gdLst/>
            <a:ahLst/>
            <a:cxnLst/>
            <a:rect l="l" t="t" r="r" b="b"/>
            <a:pathLst>
              <a:path w="623621" h="2638958">
                <a:moveTo>
                  <a:pt x="0" y="2638958"/>
                </a:moveTo>
                <a:cubicBezTo>
                  <a:pt x="566928" y="1962302"/>
                  <a:pt x="623621" y="947318"/>
                  <a:pt x="340157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20640" y="1347826"/>
            <a:ext cx="141732" cy="2638958"/>
          </a:xfrm>
          <a:custGeom>
            <a:avLst/>
            <a:gdLst/>
            <a:ahLst/>
            <a:cxnLst/>
            <a:rect l="l" t="t" r="r" b="b"/>
            <a:pathLst>
              <a:path w="141732" h="2638958">
                <a:moveTo>
                  <a:pt x="0" y="2638958"/>
                </a:moveTo>
                <a:cubicBezTo>
                  <a:pt x="0" y="1793138"/>
                  <a:pt x="141732" y="947318"/>
                  <a:pt x="56693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37176" y="1347826"/>
            <a:ext cx="283464" cy="2638958"/>
          </a:xfrm>
          <a:custGeom>
            <a:avLst/>
            <a:gdLst/>
            <a:ahLst/>
            <a:cxnLst/>
            <a:rect l="l" t="t" r="r" b="b"/>
            <a:pathLst>
              <a:path w="283464" h="2638958">
                <a:moveTo>
                  <a:pt x="283464" y="2638958"/>
                </a:moveTo>
                <a:cubicBezTo>
                  <a:pt x="56693" y="1894637"/>
                  <a:pt x="0" y="947318"/>
                  <a:pt x="170078" y="0"/>
                </a:cubicBez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D874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64735" y="3986784"/>
            <a:ext cx="311810" cy="507492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03320" y="46634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→ Predicted motion → Candidate paths → Safe path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766560" y="1280160"/>
            <a:ext cx="0" cy="548640"/>
          </a:xfrm>
          <a:prstGeom prst="line">
            <a:avLst/>
          </a:prstGeom>
          <a:noFill/>
          <a:ln w="25400">
            <a:solidFill>
              <a:srgbClr val="D8741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90372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6903720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around us?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766560" y="1956816"/>
            <a:ext cx="0" cy="548640"/>
          </a:xfrm>
          <a:prstGeom prst="line">
            <a:avLst/>
          </a:prstGeom>
          <a:noFill/>
          <a:ln w="25400">
            <a:solidFill>
              <a:srgbClr val="D8741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903720" y="1956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6903720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it moving?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766560" y="2633472"/>
            <a:ext cx="0" cy="548640"/>
          </a:xfrm>
          <a:prstGeom prst="line">
            <a:avLst/>
          </a:prstGeom>
          <a:noFill/>
          <a:ln w="25400">
            <a:solidFill>
              <a:srgbClr val="D8741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90372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69037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could it move next?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766560" y="3310128"/>
            <a:ext cx="0" cy="548640"/>
          </a:xfrm>
          <a:prstGeom prst="line">
            <a:avLst/>
          </a:prstGeom>
          <a:noFill/>
          <a:ln w="25400">
            <a:solidFill>
              <a:srgbClr val="D8741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903720" y="3310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903720" y="3557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path is safe?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766560" y="3986784"/>
            <a:ext cx="0" cy="548640"/>
          </a:xfrm>
          <a:prstGeom prst="line">
            <a:avLst/>
          </a:prstGeom>
          <a:noFill/>
          <a:ln w="25400">
            <a:solidFill>
              <a:srgbClr val="D8741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903720" y="3986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6903720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the vehicle move?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1463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LiDAR + mmWave Radar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365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060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appearance. LiDAR: 3D geometry. Radar: range &amp; velocity.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21031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30552" y="1005840"/>
            <a:ext cx="1463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21992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&amp; FUSION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221992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detection + LiDAR 3D perception + radar 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21992" y="2542032"/>
            <a:ext cx="365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26060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complementary sensors to understand objects and free space.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93592" y="2286000"/>
            <a:ext cx="21031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03904" y="1005840"/>
            <a:ext cx="1463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95344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95344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&amp; PREDICTION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895344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+ environment representation + trajectory prediction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95344" y="2542032"/>
            <a:ext cx="365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95344" y="26060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object motion; estimate future trajectories.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266944" y="2286000"/>
            <a:ext cx="21031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77256" y="1005840"/>
            <a:ext cx="1463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68696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568696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568696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trajectories + collision check + cost selection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68696" y="2542032"/>
            <a:ext cx="365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68696" y="26060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collision risk, clearance, smoothness, length, direction.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40296" y="2286000"/>
            <a:ext cx="21031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150608" y="1005840"/>
            <a:ext cx="1463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42048" y="10789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242048" y="1417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CONTROL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242048" y="18288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Stanley steering + PID speed / braking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42048" y="2542032"/>
            <a:ext cx="3657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42048" y="26060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selected trajectory into vehicle commands.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" y="3703320"/>
            <a:ext cx="411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" y="3767328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023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371600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74080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41189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0076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93031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47798" y="3703320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58825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65645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44849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82466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02759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45920" y="3758184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47068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54818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544907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93355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14469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47685" y="3813048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37265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42460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41356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1876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27227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52951" y="3867912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30197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429557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34480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607350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640018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61299" y="3922776"/>
            <a:ext cx="27432" cy="2743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28016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point cloud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651760" y="3840480"/>
            <a:ext cx="182880" cy="182880"/>
          </a:xfrm>
          <a:prstGeom prst="arc">
            <a:avLst>
              <a:gd name="adj1" fmla="val 12000000"/>
              <a:gd name="adj2" fmla="val 20400000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651760" y="3749040"/>
            <a:ext cx="365760" cy="365760"/>
          </a:xfrm>
          <a:prstGeom prst="arc">
            <a:avLst>
              <a:gd name="adj1" fmla="val 12000000"/>
              <a:gd name="adj2" fmla="val 20400000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51760" y="3657600"/>
            <a:ext cx="548640" cy="548640"/>
          </a:xfrm>
          <a:prstGeom prst="arc">
            <a:avLst>
              <a:gd name="adj1" fmla="val 12000000"/>
              <a:gd name="adj2" fmla="val 20400000"/>
            </a:avLst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2606040" y="4023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mmWave Radar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566160" y="3840480"/>
            <a:ext cx="54864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4160520" y="3657600"/>
            <a:ext cx="32004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16052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AUTONOMOUS VEHICLE</a:t>
            </a:r>
            <a:endParaRPr lang="en-US" sz="10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arrows = major data flow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System Work?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the environment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road users, hazards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3464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motion across frames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2336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future trajectories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1208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feasible ego paths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risk, clearance, cost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89520" y="960120"/>
            <a:ext cx="1097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960120"/>
            <a:ext cx="109728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80960" y="1051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1417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169164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Steering, speed, braking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PEDESTRIAN CROSSING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292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detected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48132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64592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9164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tracked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67004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283464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88036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trajectory predicted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85876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02336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06908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paths generated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4748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21208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25780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Collision-risk path rejected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3620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400800" y="2788920"/>
            <a:ext cx="1024128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4652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path selected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424928" y="3154680"/>
            <a:ext cx="164592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589520" y="2788920"/>
            <a:ext cx="102412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635240" y="2788920"/>
            <a:ext cx="93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slows / steers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r>
              <a:rPr lang="en-US" sz="13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r>
              <a:rPr lang="en-US" sz="13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r>
              <a:rPr lang="en-US" sz="13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r>
              <a:rPr lang="en-US" sz="13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r>
              <a:rPr lang="en-US" sz="13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Implementation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325880" cy="822960"/>
          </a:xfrm>
          <a:prstGeom prst="homePlate">
            <a:avLst/>
          </a:prstGeom>
          <a:solidFill>
            <a:srgbClr val="D8741B"/>
          </a:solidFill>
          <a:ln w="15875">
            <a:solidFill>
              <a:srgbClr val="D874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1097280"/>
            <a:ext cx="1325880" cy="822960"/>
          </a:xfrm>
          <a:prstGeom prst="homePlate">
            <a:avLst/>
          </a:prstGeom>
          <a:solidFill>
            <a:srgbClr val="D8741B"/>
          </a:solidFill>
          <a:ln w="15875">
            <a:solidFill>
              <a:srgbClr val="D874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1325880" cy="822960"/>
          </a:xfrm>
          <a:prstGeom prst="homePlate">
            <a:avLst/>
          </a:prstGeom>
          <a:solidFill>
            <a:srgbClr val="D8741B"/>
          </a:solidFill>
          <a:ln w="15875">
            <a:solidFill>
              <a:srgbClr val="D874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1325880" cy="822960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1325880" cy="822960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893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0" y="1097280"/>
            <a:ext cx="1325880" cy="822960"/>
          </a:xfrm>
          <a:prstGeom prst="homePlat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1097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48840"/>
            <a:ext cx="4114800" cy="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212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 ▮▮▮▮▮▮▮▮▮▮▮▮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39319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0175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Perception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Tracking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3776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Perception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mmWave Radar Perception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Prediction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Path Planning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Checking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Control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Literature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8686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Research Studied — 2024–2026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34440"/>
            <a:ext cx="0" cy="160020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362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FUSION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17373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IS-Fusion — CVPR 2024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Instance-scene collaborative fusion.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423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Relevance: complementary sensor information.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11880" y="123444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234440"/>
            <a:ext cx="0" cy="160020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1325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1362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PERCEPTION &amp; OCCUPANCY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17373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BEVNeXt, Cam4DOcc — CVPR 2024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011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/ 3D occupancy scene understanding.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4231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Relevance: richer spatial representation.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71800"/>
            <a:ext cx="0" cy="160020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099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PREDICTION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4747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NeurIPS 2024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with directional intent and dynamic states.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160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Relevance: future motion of road users.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11880" y="297180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971800"/>
            <a:ext cx="0" cy="160020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4904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3099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TRAFFIC STUDIES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34747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IDD-PeD 2025, TIAND — IEEE 2024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749040" y="3749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and traffic understanding in Indian roads.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4160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Relevance: Indian-road perception context.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03720" y="1234440"/>
            <a:ext cx="17830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03720" y="12344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90688" y="1737360"/>
            <a:ext cx="0" cy="36576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03720" y="2103120"/>
            <a:ext cx="17830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SCENE UNDERSTANDING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90688" y="2606040"/>
            <a:ext cx="0" cy="36576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903720" y="2971800"/>
            <a:ext cx="17830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03720" y="2971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PREDICTION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790688" y="3474720"/>
            <a:ext cx="0" cy="36576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903720" y="3840480"/>
            <a:ext cx="17830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8741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03720" y="3840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&amp; Proposed Direction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9601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LANDSCAPE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systems combine multimodal perception, 3D understanding, prediction and planning. Advanced approaches can involve large models and substantial computation, challenging edge hardware, real-time processing, memory and modular development.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74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51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DIRECTION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880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+ Modular + Decoupled pipeline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engineering direction being explored — not a claim of superiority over state-of-the-art.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20116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1728" y="1051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INTEGRATION COMPLEXITY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508760"/>
            <a:ext cx="179222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160020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coupled components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model footprint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optimization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Heavier deployment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960120"/>
            <a:ext cx="20116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741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84848" y="10515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DEVELOPMENT APPROACH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508760"/>
            <a:ext cx="179222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84848" y="1600200"/>
            <a:ext cx="18105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modules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components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optimization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Replaceable parts, edge potential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4160520"/>
            <a:ext cx="32004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48840" y="39319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488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4160520"/>
            <a:ext cx="32004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40480" y="39319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4160520"/>
            <a:ext cx="32004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32120" y="39319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321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4160520"/>
            <a:ext cx="32004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23760" y="39319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computational burden → Modular development → Independent optimization → Potential edge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274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49808"/>
            <a:ext cx="9144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&amp; Prediction for Autonomous Vehicles  |  GCE Kalahandi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31750">
            <a:solidFill>
              <a:srgbClr val="D8741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2432304"/>
            <a:ext cx="164592" cy="164592"/>
          </a:xfrm>
          <a:prstGeom prst="ellipse">
            <a:avLst/>
          </a:prstGeom>
          <a:solidFill>
            <a:srgbClr val="D8741B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" y="128016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Trajectory Prediction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" y="1719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interacting road users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0" cy="28346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222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07592" y="29718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 Planning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307592" y="34107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in perception and motion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74520" y="2596896"/>
            <a:ext cx="0" cy="10058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8094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1460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496312" y="128016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mmWave Radar Integration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496312" y="1719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&amp; velocity in poor visibility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63240" y="2148840"/>
            <a:ext cx="0" cy="28346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966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685032" y="29718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Edge Deployment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685032" y="34107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Low-power computing platforms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51960" y="2596896"/>
            <a:ext cx="0" cy="10058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838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73752" y="128016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Path Planning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873752" y="1719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roads, obstacles, traffic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40680" y="2148840"/>
            <a:ext cx="0" cy="28346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4710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062472" y="297180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Real-World Validation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62472" y="341071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/ autonomous vehicle tests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29400" y="2596896"/>
            <a:ext cx="0" cy="10058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35824" y="24323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741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6948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251192" y="128016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Indian-Road Dataset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251192" y="1719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Indian traffic conditions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18120" y="2148840"/>
            <a:ext cx="0" cy="28346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" y="2395728"/>
            <a:ext cx="457200" cy="237744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9776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3776" y="39776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LiDAR + mmWave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4206240"/>
            <a:ext cx="27432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2148840" y="39776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185416" y="39776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Environmental Understanding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566160" y="4206240"/>
            <a:ext cx="27432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840480" y="39776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77056" y="39776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Motion Prediction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57800" y="4206240"/>
            <a:ext cx="27432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532120" y="3977640"/>
            <a:ext cx="1417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568696" y="39776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Path Planning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949440" y="4206240"/>
            <a:ext cx="274320" cy="0"/>
          </a:xfrm>
          <a:prstGeom prst="line">
            <a:avLst/>
          </a:prstGeom>
          <a:noFill/>
          <a:ln w="19050">
            <a:solidFill>
              <a:srgbClr val="D8741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223760" y="3977640"/>
            <a:ext cx="1417320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D8741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60336" y="397764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Navigation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3108960"/>
            <a:ext cx="8778240" cy="1371600"/>
          </a:xfrm>
          <a:custGeom>
            <a:avLst/>
            <a:gdLst/>
            <a:ahLst/>
            <a:cxnLst/>
            <a:rect l="l" t="t" r="r" b="b"/>
            <a:pathLst>
              <a:path w="8778240" h="1371600">
                <a:moveTo>
                  <a:pt x="0" y="1371600"/>
                </a:moveTo>
                <a:cubicBezTo>
                  <a:pt x="2743200" y="1097280"/>
                  <a:pt x="5029200" y="731520"/>
                  <a:pt x="877824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566160"/>
            <a:ext cx="8778240" cy="1280160"/>
          </a:xfrm>
          <a:custGeom>
            <a:avLst/>
            <a:gdLst/>
            <a:ahLst/>
            <a:cxnLst/>
            <a:rect l="l" t="t" r="r" b="b"/>
            <a:pathLst>
              <a:path w="8778240" h="1280160">
                <a:moveTo>
                  <a:pt x="0" y="1280160"/>
                </a:moveTo>
                <a:cubicBezTo>
                  <a:pt x="2743200" y="1188720"/>
                  <a:pt x="5486400" y="914400"/>
                  <a:pt x="877824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246120"/>
            <a:ext cx="7223760" cy="1371600"/>
          </a:xfrm>
          <a:custGeom>
            <a:avLst/>
            <a:gdLst/>
            <a:ahLst/>
            <a:cxnLst/>
            <a:rect l="l" t="t" r="r" b="b"/>
            <a:pathLst>
              <a:path w="7223760" h="1371600">
                <a:moveTo>
                  <a:pt x="0" y="1371600"/>
                </a:moveTo>
                <a:cubicBezTo>
                  <a:pt x="2194560" y="1051560"/>
                  <a:pt x="4480560" y="502920"/>
                  <a:pt x="7223760" y="0"/>
                </a:cubicBezTo>
              </a:path>
            </a:pathLst>
          </a:custGeom>
          <a:solidFill>
            <a:srgbClr val="FFFFFF">
              <a:alpha val="0"/>
            </a:srgbClr>
          </a:solidFill>
          <a:ln w="38100">
            <a:solidFill>
              <a:srgbClr val="D874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389120"/>
            <a:ext cx="822960" cy="3657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1463040"/>
            <a:ext cx="1280160" cy="0"/>
          </a:xfrm>
          <a:prstGeom prst="line">
            <a:avLst/>
          </a:prstGeom>
          <a:noFill/>
          <a:ln w="38100">
            <a:solidFill>
              <a:srgbClr val="D874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7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Planning and Prediction for Autonomous Vehicles in Unstructured and Dynamic Road Environments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  |  Government College of Engineering, Kalahandi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Planning and Prediction for Autonomous Vehicles</dc:title>
  <dc:subject>PptxGenJS Presentation</dc:subject>
  <dc:creator>PptxGenJS</dc:creator>
  <cp:lastModifiedBy>Sai Kunal choudhury</cp:lastModifiedBy>
  <cp:revision>2</cp:revision>
  <dcterms:created xsi:type="dcterms:W3CDTF">2026-10-02T18:08:33Z</dcterms:created>
  <dcterms:modified xsi:type="dcterms:W3CDTF">2026-10-02T18:20:12Z</dcterms:modified>
</cp:coreProperties>
</file>