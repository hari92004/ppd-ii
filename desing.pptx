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59" r:id="rId6"/>
    <p:sldId id="268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8288000" cy="10287000"/>
  <p:notesSz cx="6858000" cy="9144000"/>
  <p:embeddedFontLst>
    <p:embeddedFont>
      <p:font typeface="Gotham Bold" panose="020B0604020202020204" charset="0"/>
      <p:regular r:id="rId15"/>
    </p:embeddedFont>
    <p:embeddedFont>
      <p:font typeface="Nunito" pitchFamily="2" charset="0"/>
      <p:regular r:id="rId16"/>
      <p:bold r:id="rId17"/>
      <p:italic r:id="rId18"/>
      <p:boldItalic r:id="rId19"/>
    </p:embeddedFont>
    <p:embeddedFont>
      <p:font typeface="Nunito Semi-Bold" panose="020B0604020202020204" charset="0"/>
      <p:regular r:id="rId20"/>
    </p:embeddedFont>
    <p:embeddedFont>
      <p:font typeface="Poppins" panose="00000500000000000000" pitchFamily="2" charset="0"/>
      <p:regular r:id="rId21"/>
      <p:bold r:id="rId22"/>
      <p:italic r:id="rId23"/>
      <p:boldItalic r:id="rId24"/>
    </p:embeddedFont>
    <p:embeddedFont>
      <p:font typeface="Poppins Medium" panose="00000600000000000000" pitchFamily="2" charset="0"/>
      <p:regular r:id="rId25"/>
      <p: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797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4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7.png"/><Relationship Id="rId7" Type="http://schemas.openxmlformats.org/officeDocument/2006/relationships/image" Target="../media/image6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25.svg"/><Relationship Id="rId3" Type="http://schemas.openxmlformats.org/officeDocument/2006/relationships/image" Target="../media/image8.svg"/><Relationship Id="rId7" Type="http://schemas.openxmlformats.org/officeDocument/2006/relationships/image" Target="../media/image21.svg"/><Relationship Id="rId12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3.svg"/><Relationship Id="rId5" Type="http://schemas.openxmlformats.org/officeDocument/2006/relationships/image" Target="../media/image15.svg"/><Relationship Id="rId10" Type="http://schemas.openxmlformats.org/officeDocument/2006/relationships/image" Target="../media/image22.png"/><Relationship Id="rId4" Type="http://schemas.openxmlformats.org/officeDocument/2006/relationships/image" Target="../media/image14.png"/><Relationship Id="rId9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.svg"/><Relationship Id="rId7" Type="http://schemas.openxmlformats.org/officeDocument/2006/relationships/image" Target="../media/image1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34.png"/><Relationship Id="rId7" Type="http://schemas.openxmlformats.org/officeDocument/2006/relationships/image" Target="../media/image8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6.png"/><Relationship Id="rId7" Type="http://schemas.openxmlformats.org/officeDocument/2006/relationships/image" Target="../media/image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9.png"/><Relationship Id="rId7" Type="http://schemas.openxmlformats.org/officeDocument/2006/relationships/image" Target="../media/image6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30768" y="4646344"/>
            <a:ext cx="5455035" cy="5106842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6676"/>
                  </a:moveTo>
                  <a:lnTo>
                    <a:pt x="596900" y="288124"/>
                  </a:lnTo>
                  <a:cubicBezTo>
                    <a:pt x="596900" y="298773"/>
                    <a:pt x="592536" y="308957"/>
                    <a:pt x="584824" y="316301"/>
                  </a:cubicBezTo>
                  <a:lnTo>
                    <a:pt x="342276" y="547299"/>
                  </a:lnTo>
                  <a:cubicBezTo>
                    <a:pt x="334524" y="554682"/>
                    <a:pt x="324229" y="558800"/>
                    <a:pt x="313524" y="558800"/>
                  </a:cubicBezTo>
                  <a:lnTo>
                    <a:pt x="16676" y="558800"/>
                  </a:lnTo>
                  <a:cubicBezTo>
                    <a:pt x="12253" y="558800"/>
                    <a:pt x="8012" y="557043"/>
                    <a:pt x="4884" y="553916"/>
                  </a:cubicBezTo>
                  <a:cubicBezTo>
                    <a:pt x="1757" y="550788"/>
                    <a:pt x="0" y="546547"/>
                    <a:pt x="0" y="542124"/>
                  </a:cubicBezTo>
                  <a:lnTo>
                    <a:pt x="0" y="265596"/>
                  </a:lnTo>
                  <a:cubicBezTo>
                    <a:pt x="0" y="254950"/>
                    <a:pt x="4379" y="244774"/>
                    <a:pt x="12109" y="237454"/>
                  </a:cubicBezTo>
                  <a:lnTo>
                    <a:pt x="250781" y="11466"/>
                  </a:lnTo>
                  <a:cubicBezTo>
                    <a:pt x="258557" y="4103"/>
                    <a:pt x="268858" y="0"/>
                    <a:pt x="279566" y="0"/>
                  </a:cubicBezTo>
                  <a:lnTo>
                    <a:pt x="580224" y="0"/>
                  </a:lnTo>
                  <a:cubicBezTo>
                    <a:pt x="584647" y="0"/>
                    <a:pt x="588888" y="1757"/>
                    <a:pt x="592016" y="4884"/>
                  </a:cubicBezTo>
                  <a:cubicBezTo>
                    <a:pt x="595143" y="8012"/>
                    <a:pt x="596900" y="12253"/>
                    <a:pt x="596900" y="16676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626760" y="5534027"/>
            <a:ext cx="2765738" cy="2589201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32891"/>
                  </a:moveTo>
                  <a:lnTo>
                    <a:pt x="596900" y="271909"/>
                  </a:lnTo>
                  <a:cubicBezTo>
                    <a:pt x="596900" y="292913"/>
                    <a:pt x="588292" y="312998"/>
                    <a:pt x="573082" y="327483"/>
                  </a:cubicBezTo>
                  <a:lnTo>
                    <a:pt x="354018" y="536117"/>
                  </a:lnTo>
                  <a:cubicBezTo>
                    <a:pt x="338728" y="550678"/>
                    <a:pt x="318423" y="558800"/>
                    <a:pt x="297309" y="558800"/>
                  </a:cubicBezTo>
                  <a:lnTo>
                    <a:pt x="32891" y="558800"/>
                  </a:lnTo>
                  <a:cubicBezTo>
                    <a:pt x="14726" y="558800"/>
                    <a:pt x="0" y="544074"/>
                    <a:pt x="0" y="525909"/>
                  </a:cubicBezTo>
                  <a:lnTo>
                    <a:pt x="0" y="281811"/>
                  </a:lnTo>
                  <a:cubicBezTo>
                    <a:pt x="0" y="260814"/>
                    <a:pt x="8637" y="240742"/>
                    <a:pt x="23883" y="226306"/>
                  </a:cubicBezTo>
                  <a:lnTo>
                    <a:pt x="239007" y="22614"/>
                  </a:lnTo>
                  <a:cubicBezTo>
                    <a:pt x="254343" y="8093"/>
                    <a:pt x="274661" y="0"/>
                    <a:pt x="295781" y="0"/>
                  </a:cubicBezTo>
                  <a:lnTo>
                    <a:pt x="564009" y="0"/>
                  </a:lnTo>
                  <a:cubicBezTo>
                    <a:pt x="582174" y="0"/>
                    <a:pt x="596900" y="14726"/>
                    <a:pt x="596900" y="328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225979" y="8542449"/>
            <a:ext cx="4218545" cy="3949276"/>
            <a:chOff x="0" y="0"/>
            <a:chExt cx="596900" cy="558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21564"/>
                  </a:moveTo>
                  <a:lnTo>
                    <a:pt x="596900" y="283236"/>
                  </a:lnTo>
                  <a:cubicBezTo>
                    <a:pt x="596900" y="297006"/>
                    <a:pt x="591256" y="310175"/>
                    <a:pt x="581285" y="319672"/>
                  </a:cubicBezTo>
                  <a:lnTo>
                    <a:pt x="345815" y="543928"/>
                  </a:lnTo>
                  <a:cubicBezTo>
                    <a:pt x="335791" y="553475"/>
                    <a:pt x="322479" y="558800"/>
                    <a:pt x="308636" y="558800"/>
                  </a:cubicBezTo>
                  <a:lnTo>
                    <a:pt x="21564" y="558800"/>
                  </a:lnTo>
                  <a:cubicBezTo>
                    <a:pt x="9654" y="558800"/>
                    <a:pt x="0" y="549146"/>
                    <a:pt x="0" y="537236"/>
                  </a:cubicBezTo>
                  <a:lnTo>
                    <a:pt x="0" y="270484"/>
                  </a:lnTo>
                  <a:cubicBezTo>
                    <a:pt x="0" y="256718"/>
                    <a:pt x="5662" y="243558"/>
                    <a:pt x="15658" y="234094"/>
                  </a:cubicBezTo>
                  <a:lnTo>
                    <a:pt x="247232" y="14826"/>
                  </a:lnTo>
                  <a:cubicBezTo>
                    <a:pt x="257286" y="5306"/>
                    <a:pt x="270607" y="0"/>
                    <a:pt x="284454" y="0"/>
                  </a:cubicBezTo>
                  <a:lnTo>
                    <a:pt x="575336" y="0"/>
                  </a:lnTo>
                  <a:cubicBezTo>
                    <a:pt x="587246" y="0"/>
                    <a:pt x="596900" y="9654"/>
                    <a:pt x="596900" y="21564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-536217" y="-2958766"/>
            <a:ext cx="6321001" cy="5917533"/>
            <a:chOff x="0" y="0"/>
            <a:chExt cx="596900" cy="558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4391"/>
                  </a:moveTo>
                  <a:lnTo>
                    <a:pt x="596900" y="290409"/>
                  </a:lnTo>
                  <a:cubicBezTo>
                    <a:pt x="596900" y="299599"/>
                    <a:pt x="593134" y="308387"/>
                    <a:pt x="586479" y="314725"/>
                  </a:cubicBezTo>
                  <a:lnTo>
                    <a:pt x="340621" y="548875"/>
                  </a:lnTo>
                  <a:cubicBezTo>
                    <a:pt x="333931" y="555246"/>
                    <a:pt x="325047" y="558800"/>
                    <a:pt x="315809" y="558800"/>
                  </a:cubicBezTo>
                  <a:lnTo>
                    <a:pt x="14391" y="558800"/>
                  </a:lnTo>
                  <a:cubicBezTo>
                    <a:pt x="10575" y="558800"/>
                    <a:pt x="6914" y="557284"/>
                    <a:pt x="4215" y="554585"/>
                  </a:cubicBezTo>
                  <a:cubicBezTo>
                    <a:pt x="1516" y="551886"/>
                    <a:pt x="0" y="548226"/>
                    <a:pt x="0" y="544409"/>
                  </a:cubicBezTo>
                  <a:lnTo>
                    <a:pt x="0" y="263311"/>
                  </a:lnTo>
                  <a:cubicBezTo>
                    <a:pt x="0" y="254124"/>
                    <a:pt x="3779" y="245342"/>
                    <a:pt x="10450" y="239025"/>
                  </a:cubicBezTo>
                  <a:lnTo>
                    <a:pt x="252440" y="9895"/>
                  </a:lnTo>
                  <a:cubicBezTo>
                    <a:pt x="259150" y="3541"/>
                    <a:pt x="268040" y="0"/>
                    <a:pt x="277281" y="0"/>
                  </a:cubicBezTo>
                  <a:lnTo>
                    <a:pt x="582509" y="0"/>
                  </a:lnTo>
                  <a:cubicBezTo>
                    <a:pt x="586326" y="0"/>
                    <a:pt x="589986" y="1516"/>
                    <a:pt x="592685" y="4215"/>
                  </a:cubicBezTo>
                  <a:cubicBezTo>
                    <a:pt x="595384" y="6914"/>
                    <a:pt x="596900" y="10575"/>
                    <a:pt x="596900" y="14391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10800000">
            <a:off x="13810359" y="-3147653"/>
            <a:ext cx="4531224" cy="4241997"/>
            <a:chOff x="0" y="0"/>
            <a:chExt cx="596900" cy="558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20076"/>
                  </a:moveTo>
                  <a:lnTo>
                    <a:pt x="596900" y="284724"/>
                  </a:lnTo>
                  <a:cubicBezTo>
                    <a:pt x="596900" y="297544"/>
                    <a:pt x="591646" y="309804"/>
                    <a:pt x="582362" y="318645"/>
                  </a:cubicBezTo>
                  <a:lnTo>
                    <a:pt x="344738" y="544955"/>
                  </a:lnTo>
                  <a:cubicBezTo>
                    <a:pt x="335405" y="553843"/>
                    <a:pt x="323012" y="558800"/>
                    <a:pt x="310124" y="558800"/>
                  </a:cubicBezTo>
                  <a:lnTo>
                    <a:pt x="20076" y="558800"/>
                  </a:lnTo>
                  <a:cubicBezTo>
                    <a:pt x="8988" y="558800"/>
                    <a:pt x="0" y="549812"/>
                    <a:pt x="0" y="538724"/>
                  </a:cubicBezTo>
                  <a:lnTo>
                    <a:pt x="0" y="268996"/>
                  </a:lnTo>
                  <a:cubicBezTo>
                    <a:pt x="0" y="256180"/>
                    <a:pt x="5272" y="243928"/>
                    <a:pt x="14578" y="235117"/>
                  </a:cubicBezTo>
                  <a:lnTo>
                    <a:pt x="248312" y="13803"/>
                  </a:lnTo>
                  <a:cubicBezTo>
                    <a:pt x="257673" y="4940"/>
                    <a:pt x="270074" y="0"/>
                    <a:pt x="282966" y="0"/>
                  </a:cubicBezTo>
                  <a:lnTo>
                    <a:pt x="576824" y="0"/>
                  </a:lnTo>
                  <a:cubicBezTo>
                    <a:pt x="587912" y="0"/>
                    <a:pt x="596900" y="8988"/>
                    <a:pt x="596900" y="20076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634197" y="543858"/>
            <a:ext cx="3762996" cy="3522804"/>
            <a:chOff x="0" y="0"/>
            <a:chExt cx="596900" cy="558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24174"/>
                  </a:moveTo>
                  <a:lnTo>
                    <a:pt x="596900" y="280626"/>
                  </a:lnTo>
                  <a:cubicBezTo>
                    <a:pt x="596900" y="296063"/>
                    <a:pt x="590573" y="310826"/>
                    <a:pt x="579395" y="321472"/>
                  </a:cubicBezTo>
                  <a:lnTo>
                    <a:pt x="347705" y="542128"/>
                  </a:lnTo>
                  <a:cubicBezTo>
                    <a:pt x="336468" y="552831"/>
                    <a:pt x="321544" y="558800"/>
                    <a:pt x="306026" y="558800"/>
                  </a:cubicBezTo>
                  <a:lnTo>
                    <a:pt x="24174" y="558800"/>
                  </a:lnTo>
                  <a:cubicBezTo>
                    <a:pt x="17763" y="558800"/>
                    <a:pt x="11614" y="556253"/>
                    <a:pt x="7080" y="551720"/>
                  </a:cubicBezTo>
                  <a:cubicBezTo>
                    <a:pt x="2547" y="547186"/>
                    <a:pt x="0" y="541037"/>
                    <a:pt x="0" y="534626"/>
                  </a:cubicBezTo>
                  <a:lnTo>
                    <a:pt x="0" y="273094"/>
                  </a:lnTo>
                  <a:cubicBezTo>
                    <a:pt x="0" y="257662"/>
                    <a:pt x="6348" y="242909"/>
                    <a:pt x="17554" y="232299"/>
                  </a:cubicBezTo>
                  <a:lnTo>
                    <a:pt x="245336" y="16621"/>
                  </a:lnTo>
                  <a:cubicBezTo>
                    <a:pt x="256608" y="5948"/>
                    <a:pt x="271541" y="0"/>
                    <a:pt x="287064" y="0"/>
                  </a:cubicBezTo>
                  <a:lnTo>
                    <a:pt x="572726" y="0"/>
                  </a:lnTo>
                  <a:cubicBezTo>
                    <a:pt x="579137" y="0"/>
                    <a:pt x="585286" y="2547"/>
                    <a:pt x="589820" y="7080"/>
                  </a:cubicBezTo>
                  <a:cubicBezTo>
                    <a:pt x="594353" y="11614"/>
                    <a:pt x="596900" y="17763"/>
                    <a:pt x="596900" y="24174"/>
                  </a:cubicBezTo>
                  <a:close/>
                </a:path>
              </a:pathLst>
            </a:custGeom>
            <a:solidFill>
              <a:srgbClr val="FE971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147937" y="1323502"/>
            <a:ext cx="2737867" cy="2563109"/>
            <a:chOff x="0" y="0"/>
            <a:chExt cx="596900" cy="558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33226"/>
                  </a:moveTo>
                  <a:lnTo>
                    <a:pt x="596900" y="271574"/>
                  </a:lnTo>
                  <a:cubicBezTo>
                    <a:pt x="596900" y="292792"/>
                    <a:pt x="588204" y="313082"/>
                    <a:pt x="572840" y="327714"/>
                  </a:cubicBezTo>
                  <a:lnTo>
                    <a:pt x="354260" y="535886"/>
                  </a:lnTo>
                  <a:cubicBezTo>
                    <a:pt x="338815" y="550595"/>
                    <a:pt x="318303" y="558800"/>
                    <a:pt x="296974" y="558800"/>
                  </a:cubicBezTo>
                  <a:lnTo>
                    <a:pt x="33226" y="558800"/>
                  </a:lnTo>
                  <a:cubicBezTo>
                    <a:pt x="14876" y="558800"/>
                    <a:pt x="0" y="543924"/>
                    <a:pt x="0" y="525574"/>
                  </a:cubicBezTo>
                  <a:lnTo>
                    <a:pt x="0" y="282146"/>
                  </a:lnTo>
                  <a:cubicBezTo>
                    <a:pt x="0" y="260935"/>
                    <a:pt x="8725" y="240659"/>
                    <a:pt x="24126" y="226076"/>
                  </a:cubicBezTo>
                  <a:lnTo>
                    <a:pt x="238764" y="22844"/>
                  </a:lnTo>
                  <a:cubicBezTo>
                    <a:pt x="254256" y="8175"/>
                    <a:pt x="274780" y="0"/>
                    <a:pt x="296116" y="0"/>
                  </a:cubicBezTo>
                  <a:lnTo>
                    <a:pt x="563674" y="0"/>
                  </a:lnTo>
                  <a:cubicBezTo>
                    <a:pt x="582024" y="0"/>
                    <a:pt x="596900" y="14876"/>
                    <a:pt x="596900" y="33226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5400000">
            <a:off x="9551409" y="7241939"/>
            <a:ext cx="2594035" cy="2428459"/>
            <a:chOff x="0" y="0"/>
            <a:chExt cx="596900" cy="558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35068"/>
                  </a:moveTo>
                  <a:lnTo>
                    <a:pt x="596900" y="269732"/>
                  </a:lnTo>
                  <a:cubicBezTo>
                    <a:pt x="596900" y="292126"/>
                    <a:pt x="587722" y="313541"/>
                    <a:pt x="571506" y="328985"/>
                  </a:cubicBezTo>
                  <a:lnTo>
                    <a:pt x="355594" y="534615"/>
                  </a:lnTo>
                  <a:cubicBezTo>
                    <a:pt x="339293" y="550140"/>
                    <a:pt x="317644" y="558800"/>
                    <a:pt x="295132" y="558800"/>
                  </a:cubicBezTo>
                  <a:lnTo>
                    <a:pt x="35068" y="558800"/>
                  </a:lnTo>
                  <a:cubicBezTo>
                    <a:pt x="25767" y="558800"/>
                    <a:pt x="16848" y="555105"/>
                    <a:pt x="10271" y="548529"/>
                  </a:cubicBezTo>
                  <a:cubicBezTo>
                    <a:pt x="3695" y="541952"/>
                    <a:pt x="0" y="533033"/>
                    <a:pt x="0" y="523732"/>
                  </a:cubicBezTo>
                  <a:lnTo>
                    <a:pt x="0" y="283988"/>
                  </a:lnTo>
                  <a:cubicBezTo>
                    <a:pt x="0" y="261602"/>
                    <a:pt x="9209" y="240201"/>
                    <a:pt x="25464" y="224809"/>
                  </a:cubicBezTo>
                  <a:lnTo>
                    <a:pt x="237426" y="24111"/>
                  </a:lnTo>
                  <a:cubicBezTo>
                    <a:pt x="253777" y="8628"/>
                    <a:pt x="275440" y="0"/>
                    <a:pt x="297958" y="0"/>
                  </a:cubicBezTo>
                  <a:lnTo>
                    <a:pt x="561832" y="0"/>
                  </a:lnTo>
                  <a:cubicBezTo>
                    <a:pt x="571133" y="0"/>
                    <a:pt x="580052" y="3695"/>
                    <a:pt x="586629" y="10271"/>
                  </a:cubicBezTo>
                  <a:cubicBezTo>
                    <a:pt x="593205" y="16848"/>
                    <a:pt x="596900" y="25767"/>
                    <a:pt x="596900" y="35068"/>
                  </a:cubicBezTo>
                  <a:close/>
                </a:path>
              </a:pathLst>
            </a:custGeom>
            <a:solidFill>
              <a:srgbClr val="FE9710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523711" y="1294169"/>
            <a:ext cx="6935129" cy="5905596"/>
            <a:chOff x="0" y="0"/>
            <a:chExt cx="1460623" cy="124379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60627" cy="1243791"/>
            </a:xfrm>
            <a:custGeom>
              <a:avLst/>
              <a:gdLst/>
              <a:ahLst/>
              <a:cxnLst/>
              <a:rect l="l" t="t" r="r" b="b"/>
              <a:pathLst>
                <a:path w="1460627" h="1243791">
                  <a:moveTo>
                    <a:pt x="1046362" y="38122"/>
                  </a:moveTo>
                  <a:cubicBezTo>
                    <a:pt x="1024662" y="13865"/>
                    <a:pt x="993657" y="0"/>
                    <a:pt x="961111" y="0"/>
                  </a:cubicBezTo>
                  <a:lnTo>
                    <a:pt x="114385" y="0"/>
                  </a:lnTo>
                  <a:cubicBezTo>
                    <a:pt x="51213" y="1"/>
                    <a:pt x="1" y="51211"/>
                    <a:pt x="0" y="114384"/>
                  </a:cubicBezTo>
                  <a:lnTo>
                    <a:pt x="0" y="501214"/>
                  </a:lnTo>
                  <a:lnTo>
                    <a:pt x="0" y="795306"/>
                  </a:lnTo>
                  <a:cubicBezTo>
                    <a:pt x="0" y="858478"/>
                    <a:pt x="51211" y="909690"/>
                    <a:pt x="114384" y="909690"/>
                  </a:cubicBezTo>
                  <a:lnTo>
                    <a:pt x="587586" y="909690"/>
                  </a:lnTo>
                  <a:cubicBezTo>
                    <a:pt x="620132" y="909690"/>
                    <a:pt x="651138" y="923554"/>
                    <a:pt x="672837" y="947811"/>
                  </a:cubicBezTo>
                  <a:lnTo>
                    <a:pt x="903501" y="1205669"/>
                  </a:lnTo>
                  <a:cubicBezTo>
                    <a:pt x="925201" y="1229927"/>
                    <a:pt x="956207" y="1243791"/>
                    <a:pt x="988753" y="1243791"/>
                  </a:cubicBezTo>
                  <a:lnTo>
                    <a:pt x="1346239" y="1243791"/>
                  </a:lnTo>
                  <a:cubicBezTo>
                    <a:pt x="1376576" y="1243792"/>
                    <a:pt x="1405670" y="1231742"/>
                    <a:pt x="1427122" y="1210291"/>
                  </a:cubicBezTo>
                  <a:cubicBezTo>
                    <a:pt x="1448574" y="1188841"/>
                    <a:pt x="1460626" y="1159748"/>
                    <a:pt x="1460627" y="1129411"/>
                  </a:cubicBezTo>
                  <a:lnTo>
                    <a:pt x="1460627" y="562247"/>
                  </a:lnTo>
                  <a:cubicBezTo>
                    <a:pt x="1460627" y="522943"/>
                    <a:pt x="1446140" y="485019"/>
                    <a:pt x="1419935" y="455726"/>
                  </a:cubicBezTo>
                  <a:close/>
                </a:path>
              </a:pathLst>
            </a:custGeom>
            <a:blipFill>
              <a:blip r:embed="rId2"/>
              <a:stretch>
                <a:fillRect t="-276" b="-276"/>
              </a:stretch>
            </a:blipFill>
            <a:ln w="1428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9034205" y="5971469"/>
            <a:ext cx="5257565" cy="2731701"/>
            <a:chOff x="0" y="0"/>
            <a:chExt cx="1657619" cy="86125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657622" cy="861258"/>
            </a:xfrm>
            <a:custGeom>
              <a:avLst/>
              <a:gdLst/>
              <a:ahLst/>
              <a:cxnLst/>
              <a:rect l="l" t="t" r="r" b="b"/>
              <a:pathLst>
                <a:path w="1657622" h="861258">
                  <a:moveTo>
                    <a:pt x="1310663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81866"/>
                  </a:lnTo>
                  <a:cubicBezTo>
                    <a:pt x="0" y="618376"/>
                    <a:pt x="13458" y="653606"/>
                    <a:pt x="37800" y="680818"/>
                  </a:cubicBezTo>
                  <a:lnTo>
                    <a:pt x="154967" y="811794"/>
                  </a:lnTo>
                  <a:cubicBezTo>
                    <a:pt x="183122" y="843269"/>
                    <a:pt x="223353" y="861259"/>
                    <a:pt x="265584" y="861258"/>
                  </a:cubicBezTo>
                  <a:lnTo>
                    <a:pt x="1509206" y="861258"/>
                  </a:lnTo>
                  <a:cubicBezTo>
                    <a:pt x="1548568" y="861258"/>
                    <a:pt x="1586318" y="845622"/>
                    <a:pt x="1614152" y="817789"/>
                  </a:cubicBezTo>
                  <a:cubicBezTo>
                    <a:pt x="1641985" y="789956"/>
                    <a:pt x="1657622" y="752206"/>
                    <a:pt x="1657622" y="712843"/>
                  </a:cubicBezTo>
                  <a:lnTo>
                    <a:pt x="1657622" y="366141"/>
                  </a:lnTo>
                  <a:cubicBezTo>
                    <a:pt x="1657622" y="329143"/>
                    <a:pt x="1643803" y="293478"/>
                    <a:pt x="1618873" y="266140"/>
                  </a:cubicBezTo>
                  <a:lnTo>
                    <a:pt x="1420330" y="48414"/>
                  </a:lnTo>
                  <a:cubicBezTo>
                    <a:pt x="1392207" y="17574"/>
                    <a:pt x="1352400" y="0"/>
                    <a:pt x="1310663" y="0"/>
                  </a:cubicBezTo>
                  <a:close/>
                </a:path>
              </a:pathLst>
            </a:custGeom>
            <a:blipFill>
              <a:blip r:embed="rId3"/>
              <a:stretch>
                <a:fillRect t="-762" b="-762"/>
              </a:stretch>
            </a:blipFill>
            <a:ln w="142875" cap="sq">
              <a:solidFill>
                <a:srgbClr val="FE9710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 rot="-10800000">
            <a:off x="829141" y="4347828"/>
            <a:ext cx="7672130" cy="991811"/>
            <a:chOff x="0" y="0"/>
            <a:chExt cx="1926564" cy="24905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26564" cy="249055"/>
            </a:xfrm>
            <a:custGeom>
              <a:avLst/>
              <a:gdLst/>
              <a:ahLst/>
              <a:cxnLst/>
              <a:rect l="l" t="t" r="r" b="b"/>
              <a:pathLst>
                <a:path w="1926564" h="249055">
                  <a:moveTo>
                    <a:pt x="100910" y="0"/>
                  </a:moveTo>
                  <a:lnTo>
                    <a:pt x="1825654" y="0"/>
                  </a:lnTo>
                  <a:cubicBezTo>
                    <a:pt x="1881385" y="0"/>
                    <a:pt x="1926564" y="45179"/>
                    <a:pt x="1926564" y="100910"/>
                  </a:cubicBezTo>
                  <a:lnTo>
                    <a:pt x="1926564" y="148146"/>
                  </a:lnTo>
                  <a:cubicBezTo>
                    <a:pt x="1926564" y="174909"/>
                    <a:pt x="1915932" y="200575"/>
                    <a:pt x="1897008" y="219500"/>
                  </a:cubicBezTo>
                  <a:cubicBezTo>
                    <a:pt x="1878084" y="238424"/>
                    <a:pt x="1852417" y="249055"/>
                    <a:pt x="1825654" y="249055"/>
                  </a:cubicBezTo>
                  <a:lnTo>
                    <a:pt x="100910" y="249055"/>
                  </a:lnTo>
                  <a:cubicBezTo>
                    <a:pt x="74147" y="249055"/>
                    <a:pt x="48480" y="238424"/>
                    <a:pt x="29556" y="219500"/>
                  </a:cubicBezTo>
                  <a:cubicBezTo>
                    <a:pt x="10632" y="200575"/>
                    <a:pt x="0" y="174909"/>
                    <a:pt x="0" y="148146"/>
                  </a:cubicBezTo>
                  <a:lnTo>
                    <a:pt x="0" y="100910"/>
                  </a:lnTo>
                  <a:cubicBezTo>
                    <a:pt x="0" y="45179"/>
                    <a:pt x="45179" y="0"/>
                    <a:pt x="100910" y="0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1926564" cy="296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 flipV="1">
            <a:off x="16114192" y="8000901"/>
            <a:ext cx="1771612" cy="1752285"/>
          </a:xfrm>
          <a:custGeom>
            <a:avLst/>
            <a:gdLst/>
            <a:ahLst/>
            <a:cxnLst/>
            <a:rect l="l" t="t" r="r" b="b"/>
            <a:pathLst>
              <a:path w="1771612" h="1752285">
                <a:moveTo>
                  <a:pt x="0" y="1752285"/>
                </a:moveTo>
                <a:lnTo>
                  <a:pt x="1771611" y="1752285"/>
                </a:lnTo>
                <a:lnTo>
                  <a:pt x="1771611" y="0"/>
                </a:lnTo>
                <a:lnTo>
                  <a:pt x="0" y="0"/>
                </a:lnTo>
                <a:lnTo>
                  <a:pt x="0" y="175228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flipH="1">
            <a:off x="9634197" y="543858"/>
            <a:ext cx="1113115" cy="1100972"/>
          </a:xfrm>
          <a:custGeom>
            <a:avLst/>
            <a:gdLst/>
            <a:ahLst/>
            <a:cxnLst/>
            <a:rect l="l" t="t" r="r" b="b"/>
            <a:pathLst>
              <a:path w="1113115" h="1100972">
                <a:moveTo>
                  <a:pt x="1113115" y="0"/>
                </a:moveTo>
                <a:lnTo>
                  <a:pt x="0" y="0"/>
                </a:lnTo>
                <a:lnTo>
                  <a:pt x="0" y="1100972"/>
                </a:lnTo>
                <a:lnTo>
                  <a:pt x="1113115" y="1100972"/>
                </a:lnTo>
                <a:lnTo>
                  <a:pt x="11131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679654" y="9654723"/>
            <a:ext cx="1190212" cy="196926"/>
          </a:xfrm>
          <a:custGeom>
            <a:avLst/>
            <a:gdLst/>
            <a:ahLst/>
            <a:cxnLst/>
            <a:rect l="l" t="t" r="r" b="b"/>
            <a:pathLst>
              <a:path w="1190212" h="196926">
                <a:moveTo>
                  <a:pt x="0" y="0"/>
                </a:moveTo>
                <a:lnTo>
                  <a:pt x="1190211" y="0"/>
                </a:lnTo>
                <a:lnTo>
                  <a:pt x="1190211" y="196926"/>
                </a:lnTo>
                <a:lnTo>
                  <a:pt x="0" y="1969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4626760" y="693817"/>
            <a:ext cx="1190212" cy="196926"/>
          </a:xfrm>
          <a:custGeom>
            <a:avLst/>
            <a:gdLst/>
            <a:ahLst/>
            <a:cxnLst/>
            <a:rect l="l" t="t" r="r" b="b"/>
            <a:pathLst>
              <a:path w="1190212" h="196926">
                <a:moveTo>
                  <a:pt x="0" y="0"/>
                </a:moveTo>
                <a:lnTo>
                  <a:pt x="1190212" y="0"/>
                </a:lnTo>
                <a:lnTo>
                  <a:pt x="1190212" y="196926"/>
                </a:lnTo>
                <a:lnTo>
                  <a:pt x="0" y="1969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3696665" y="9159837"/>
            <a:ext cx="1190212" cy="196926"/>
          </a:xfrm>
          <a:custGeom>
            <a:avLst/>
            <a:gdLst/>
            <a:ahLst/>
            <a:cxnLst/>
            <a:rect l="l" t="t" r="r" b="b"/>
            <a:pathLst>
              <a:path w="1190212" h="196926">
                <a:moveTo>
                  <a:pt x="0" y="0"/>
                </a:moveTo>
                <a:lnTo>
                  <a:pt x="1190211" y="0"/>
                </a:lnTo>
                <a:lnTo>
                  <a:pt x="1190211" y="196926"/>
                </a:lnTo>
                <a:lnTo>
                  <a:pt x="0" y="1969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1123568" y="2573685"/>
            <a:ext cx="8170746" cy="17430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855"/>
              </a:lnSpc>
            </a:pPr>
            <a:r>
              <a:rPr lang="en-US" sz="4800" b="1" spc="85" dirty="0">
                <a:solidFill>
                  <a:srgbClr val="011A3C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</a:p>
          <a:p>
            <a:pPr marL="0" lvl="0" indent="0" algn="l">
              <a:lnSpc>
                <a:spcPts val="6855"/>
              </a:lnSpc>
            </a:pPr>
            <a:r>
              <a:rPr lang="en-US" sz="4800" b="1" spc="85" dirty="0">
                <a:solidFill>
                  <a:srgbClr val="011A3C"/>
                </a:solidFill>
                <a:latin typeface="Gotham Bold"/>
                <a:ea typeface="Gotham Bold"/>
                <a:cs typeface="Gotham Bold"/>
                <a:sym typeface="Gotham Bold"/>
              </a:rPr>
              <a:t>VEHICLES FOR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23568" y="928328"/>
            <a:ext cx="8419750" cy="2581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855"/>
              </a:lnSpc>
            </a:pPr>
            <a:r>
              <a:rPr lang="en-US" sz="4800" b="1" spc="85" dirty="0">
                <a:solidFill>
                  <a:srgbClr val="011A3C"/>
                </a:solidFill>
                <a:latin typeface="Gotham Bold"/>
                <a:ea typeface="Gotham Bold"/>
                <a:cs typeface="Gotham Bold"/>
                <a:sym typeface="Gotham Bold"/>
              </a:rPr>
              <a:t>PATH PLANNING &amp;</a:t>
            </a:r>
          </a:p>
          <a:p>
            <a:pPr marL="0" lvl="0" indent="0" algn="l">
              <a:lnSpc>
                <a:spcPts val="6855"/>
              </a:lnSpc>
            </a:pPr>
            <a:r>
              <a:rPr lang="en-US" sz="4800" b="1" spc="85" dirty="0">
                <a:solidFill>
                  <a:srgbClr val="011A3C"/>
                </a:solidFill>
                <a:latin typeface="Gotham Bold"/>
                <a:ea typeface="Gotham Bold"/>
                <a:cs typeface="Gotham Bold"/>
                <a:sym typeface="Gotham Bold"/>
              </a:rPr>
              <a:t>PREDICTION AUTONOMOUS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75200" y="4607101"/>
            <a:ext cx="7267155" cy="425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30"/>
              </a:lnSpc>
            </a:pPr>
            <a:r>
              <a:rPr lang="en-US" sz="2485" spc="4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Unstructured &amp; Dynamic Road Environments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20083" y="6693257"/>
            <a:ext cx="3016871" cy="379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</a:pPr>
            <a:r>
              <a:rPr lang="en-US" sz="2298" dirty="0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Presented By :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79349" y="5466222"/>
            <a:ext cx="3016871" cy="379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</a:pPr>
            <a:r>
              <a:rPr lang="en-US" sz="2298" dirty="0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Guide :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20082" y="7006279"/>
            <a:ext cx="5955077" cy="17724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79"/>
              </a:lnSpc>
            </a:pPr>
            <a:r>
              <a:rPr lang="en-US" sz="2485" b="1" dirty="0">
                <a:solidFill>
                  <a:srgbClr val="011A3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Hari </a:t>
            </a:r>
            <a:r>
              <a:rPr lang="en-US" sz="2485" b="1" dirty="0" err="1">
                <a:solidFill>
                  <a:srgbClr val="011A3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Paangi</a:t>
            </a:r>
            <a:endParaRPr lang="en-US" sz="2485" b="1" dirty="0">
              <a:solidFill>
                <a:srgbClr val="011A3C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>
              <a:lnSpc>
                <a:spcPts val="3479"/>
              </a:lnSpc>
            </a:pPr>
            <a:r>
              <a:rPr lang="en-US" sz="2485" b="1" dirty="0">
                <a:solidFill>
                  <a:srgbClr val="011A3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Mohit </a:t>
            </a:r>
            <a:r>
              <a:rPr lang="en-US" sz="2485" b="1" dirty="0" err="1">
                <a:solidFill>
                  <a:srgbClr val="011A3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Kabi</a:t>
            </a:r>
            <a:endParaRPr lang="en-US" sz="2485" b="1" dirty="0">
              <a:solidFill>
                <a:srgbClr val="011A3C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>
              <a:lnSpc>
                <a:spcPts val="3479"/>
              </a:lnSpc>
            </a:pPr>
            <a:r>
              <a:rPr lang="en-US" sz="2485" b="1" dirty="0">
                <a:solidFill>
                  <a:srgbClr val="011A3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Priyanka </a:t>
            </a:r>
            <a:r>
              <a:rPr lang="en-US" sz="2485" b="1" dirty="0" err="1">
                <a:solidFill>
                  <a:srgbClr val="011A3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Priyadarshani</a:t>
            </a:r>
            <a:r>
              <a:rPr lang="en-US" sz="2485" b="1" dirty="0">
                <a:solidFill>
                  <a:srgbClr val="011A3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2485" b="1" dirty="0" err="1">
                <a:solidFill>
                  <a:srgbClr val="011A3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Satapathy</a:t>
            </a:r>
            <a:endParaRPr lang="en-US" sz="2485" b="1" dirty="0">
              <a:solidFill>
                <a:srgbClr val="011A3C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>
              <a:lnSpc>
                <a:spcPts val="3479"/>
              </a:lnSpc>
            </a:pPr>
            <a:r>
              <a:rPr lang="en-US" sz="2485" b="1" dirty="0">
                <a:solidFill>
                  <a:srgbClr val="011A3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Debabrata Pradhan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79349" y="5779244"/>
            <a:ext cx="5116651" cy="425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79"/>
              </a:lnSpc>
            </a:pPr>
            <a:r>
              <a:rPr lang="en-US" sz="2485" b="1" dirty="0" err="1">
                <a:solidFill>
                  <a:srgbClr val="011A3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Prof.Kamashya</a:t>
            </a:r>
            <a:r>
              <a:rPr lang="en-US" sz="2485" b="1" dirty="0">
                <a:solidFill>
                  <a:srgbClr val="011A3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Prasad Nayak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516820" y="2789656"/>
            <a:ext cx="7123315" cy="6668635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2770"/>
                  </a:moveTo>
                  <a:lnTo>
                    <a:pt x="596900" y="292030"/>
                  </a:lnTo>
                  <a:cubicBezTo>
                    <a:pt x="596900" y="300185"/>
                    <a:pt x="593558" y="307983"/>
                    <a:pt x="587652" y="313607"/>
                  </a:cubicBezTo>
                  <a:lnTo>
                    <a:pt x="339448" y="549993"/>
                  </a:lnTo>
                  <a:cubicBezTo>
                    <a:pt x="333511" y="555647"/>
                    <a:pt x="325627" y="558800"/>
                    <a:pt x="317430" y="558800"/>
                  </a:cubicBezTo>
                  <a:lnTo>
                    <a:pt x="12770" y="558800"/>
                  </a:lnTo>
                  <a:cubicBezTo>
                    <a:pt x="5718" y="558800"/>
                    <a:pt x="0" y="553083"/>
                    <a:pt x="0" y="546030"/>
                  </a:cubicBezTo>
                  <a:lnTo>
                    <a:pt x="0" y="261690"/>
                  </a:lnTo>
                  <a:cubicBezTo>
                    <a:pt x="0" y="253538"/>
                    <a:pt x="3353" y="245745"/>
                    <a:pt x="9273" y="240140"/>
                  </a:cubicBezTo>
                  <a:lnTo>
                    <a:pt x="253617" y="8780"/>
                  </a:lnTo>
                  <a:cubicBezTo>
                    <a:pt x="259572" y="3142"/>
                    <a:pt x="267460" y="0"/>
                    <a:pt x="275660" y="0"/>
                  </a:cubicBezTo>
                  <a:lnTo>
                    <a:pt x="584130" y="0"/>
                  </a:lnTo>
                  <a:cubicBezTo>
                    <a:pt x="591183" y="0"/>
                    <a:pt x="596900" y="5718"/>
                    <a:pt x="596900" y="12770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1672748" y="-2698351"/>
            <a:ext cx="4732342" cy="443027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9223"/>
                  </a:moveTo>
                  <a:lnTo>
                    <a:pt x="596900" y="285577"/>
                  </a:lnTo>
                  <a:cubicBezTo>
                    <a:pt x="596900" y="297853"/>
                    <a:pt x="591869" y="309591"/>
                    <a:pt x="582980" y="318057"/>
                  </a:cubicBezTo>
                  <a:lnTo>
                    <a:pt x="344120" y="545543"/>
                  </a:lnTo>
                  <a:cubicBezTo>
                    <a:pt x="335184" y="554053"/>
                    <a:pt x="323317" y="558800"/>
                    <a:pt x="310977" y="558800"/>
                  </a:cubicBezTo>
                  <a:lnTo>
                    <a:pt x="19223" y="558800"/>
                  </a:lnTo>
                  <a:cubicBezTo>
                    <a:pt x="14124" y="558800"/>
                    <a:pt x="9235" y="556775"/>
                    <a:pt x="5630" y="553170"/>
                  </a:cubicBezTo>
                  <a:cubicBezTo>
                    <a:pt x="2025" y="549565"/>
                    <a:pt x="0" y="544676"/>
                    <a:pt x="0" y="539577"/>
                  </a:cubicBezTo>
                  <a:lnTo>
                    <a:pt x="0" y="268143"/>
                  </a:lnTo>
                  <a:cubicBezTo>
                    <a:pt x="0" y="255871"/>
                    <a:pt x="5048" y="244141"/>
                    <a:pt x="13958" y="235704"/>
                  </a:cubicBezTo>
                  <a:lnTo>
                    <a:pt x="248932" y="13216"/>
                  </a:lnTo>
                  <a:cubicBezTo>
                    <a:pt x="257895" y="4730"/>
                    <a:pt x="269769" y="0"/>
                    <a:pt x="282113" y="0"/>
                  </a:cubicBezTo>
                  <a:lnTo>
                    <a:pt x="577677" y="0"/>
                  </a:lnTo>
                  <a:cubicBezTo>
                    <a:pt x="582776" y="0"/>
                    <a:pt x="587665" y="2025"/>
                    <a:pt x="591270" y="5630"/>
                  </a:cubicBezTo>
                  <a:cubicBezTo>
                    <a:pt x="594875" y="9235"/>
                    <a:pt x="596900" y="14124"/>
                    <a:pt x="596900" y="19223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347851" y="1413787"/>
            <a:ext cx="10543732" cy="1942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494"/>
              </a:lnSpc>
            </a:pPr>
            <a:r>
              <a:rPr lang="en-IN" sz="7494" b="1" spc="149" dirty="0">
                <a:solidFill>
                  <a:srgbClr val="011A3C"/>
                </a:solidFill>
                <a:latin typeface="Gotham Bold"/>
                <a:cs typeface="Gotham Bold"/>
              </a:rPr>
              <a:t>Topic &amp; Current Issue</a:t>
            </a:r>
            <a:endParaRPr lang="en-US" sz="7494" b="1" spc="149" dirty="0">
              <a:solidFill>
                <a:srgbClr val="011A3C"/>
              </a:solidFill>
              <a:latin typeface="Gotham Bold"/>
              <a:cs typeface="Gotham Bold"/>
              <a:sym typeface="Gotham Bo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-8289632" y="-946951"/>
            <a:ext cx="14820677" cy="13874676"/>
            <a:chOff x="0" y="0"/>
            <a:chExt cx="596900" cy="558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6138"/>
                  </a:moveTo>
                  <a:lnTo>
                    <a:pt x="596900" y="298662"/>
                  </a:lnTo>
                  <a:cubicBezTo>
                    <a:pt x="596900" y="302582"/>
                    <a:pt x="595294" y="306330"/>
                    <a:pt x="592455" y="309033"/>
                  </a:cubicBezTo>
                  <a:lnTo>
                    <a:pt x="334645" y="554567"/>
                  </a:lnTo>
                  <a:cubicBezTo>
                    <a:pt x="331791" y="557284"/>
                    <a:pt x="328002" y="558800"/>
                    <a:pt x="324062" y="558800"/>
                  </a:cubicBezTo>
                  <a:lnTo>
                    <a:pt x="6138" y="558800"/>
                  </a:lnTo>
                  <a:cubicBezTo>
                    <a:pt x="4510" y="558800"/>
                    <a:pt x="2949" y="558153"/>
                    <a:pt x="1798" y="557002"/>
                  </a:cubicBezTo>
                  <a:cubicBezTo>
                    <a:pt x="647" y="555851"/>
                    <a:pt x="0" y="554290"/>
                    <a:pt x="0" y="552662"/>
                  </a:cubicBezTo>
                  <a:lnTo>
                    <a:pt x="0" y="255058"/>
                  </a:lnTo>
                  <a:cubicBezTo>
                    <a:pt x="0" y="251140"/>
                    <a:pt x="1612" y="247394"/>
                    <a:pt x="4457" y="244700"/>
                  </a:cubicBezTo>
                  <a:lnTo>
                    <a:pt x="258433" y="4220"/>
                  </a:lnTo>
                  <a:cubicBezTo>
                    <a:pt x="261295" y="1510"/>
                    <a:pt x="265087" y="0"/>
                    <a:pt x="269028" y="0"/>
                  </a:cubicBezTo>
                  <a:lnTo>
                    <a:pt x="590762" y="0"/>
                  </a:lnTo>
                  <a:cubicBezTo>
                    <a:pt x="592390" y="0"/>
                    <a:pt x="593951" y="647"/>
                    <a:pt x="595102" y="1798"/>
                  </a:cubicBezTo>
                  <a:cubicBezTo>
                    <a:pt x="596253" y="2949"/>
                    <a:pt x="596900" y="4510"/>
                    <a:pt x="596900" y="6138"/>
                  </a:cubicBezTo>
                  <a:close/>
                </a:path>
              </a:pathLst>
            </a:custGeom>
            <a:ln w="190500" cap="sq">
              <a:solidFill>
                <a:srgbClr val="FE971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7592208" y="-294043"/>
            <a:ext cx="13425829" cy="12568861"/>
            <a:chOff x="0" y="0"/>
            <a:chExt cx="596900" cy="558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6776"/>
                  </a:moveTo>
                  <a:lnTo>
                    <a:pt x="596900" y="298024"/>
                  </a:lnTo>
                  <a:cubicBezTo>
                    <a:pt x="596900" y="302351"/>
                    <a:pt x="595127" y="306489"/>
                    <a:pt x="591994" y="309473"/>
                  </a:cubicBezTo>
                  <a:lnTo>
                    <a:pt x="335106" y="554127"/>
                  </a:lnTo>
                  <a:cubicBezTo>
                    <a:pt x="331957" y="557127"/>
                    <a:pt x="327774" y="558800"/>
                    <a:pt x="323424" y="558800"/>
                  </a:cubicBezTo>
                  <a:lnTo>
                    <a:pt x="6776" y="558800"/>
                  </a:lnTo>
                  <a:cubicBezTo>
                    <a:pt x="3034" y="558800"/>
                    <a:pt x="0" y="555766"/>
                    <a:pt x="0" y="552024"/>
                  </a:cubicBezTo>
                  <a:lnTo>
                    <a:pt x="0" y="255696"/>
                  </a:lnTo>
                  <a:cubicBezTo>
                    <a:pt x="0" y="251370"/>
                    <a:pt x="1779" y="247235"/>
                    <a:pt x="4920" y="244261"/>
                  </a:cubicBezTo>
                  <a:lnTo>
                    <a:pt x="257970" y="4659"/>
                  </a:lnTo>
                  <a:cubicBezTo>
                    <a:pt x="261129" y="1667"/>
                    <a:pt x="265315" y="0"/>
                    <a:pt x="269666" y="0"/>
                  </a:cubicBezTo>
                  <a:lnTo>
                    <a:pt x="590124" y="0"/>
                  </a:lnTo>
                  <a:cubicBezTo>
                    <a:pt x="593866" y="0"/>
                    <a:pt x="596900" y="3034"/>
                    <a:pt x="596900" y="6776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12552" y="5886315"/>
            <a:ext cx="2062328" cy="1930690"/>
            <a:chOff x="0" y="0"/>
            <a:chExt cx="596900" cy="558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44109"/>
                  </a:moveTo>
                  <a:lnTo>
                    <a:pt x="596900" y="260691"/>
                  </a:lnTo>
                  <a:cubicBezTo>
                    <a:pt x="596900" y="288858"/>
                    <a:pt x="585356" y="315794"/>
                    <a:pt x="564959" y="335220"/>
                  </a:cubicBezTo>
                  <a:lnTo>
                    <a:pt x="362141" y="528380"/>
                  </a:lnTo>
                  <a:cubicBezTo>
                    <a:pt x="341637" y="547908"/>
                    <a:pt x="314406" y="558800"/>
                    <a:pt x="286091" y="558800"/>
                  </a:cubicBezTo>
                  <a:lnTo>
                    <a:pt x="44109" y="558800"/>
                  </a:lnTo>
                  <a:cubicBezTo>
                    <a:pt x="19748" y="558800"/>
                    <a:pt x="0" y="539052"/>
                    <a:pt x="0" y="514691"/>
                  </a:cubicBezTo>
                  <a:lnTo>
                    <a:pt x="0" y="293029"/>
                  </a:lnTo>
                  <a:cubicBezTo>
                    <a:pt x="0" y="264871"/>
                    <a:pt x="11583" y="237953"/>
                    <a:pt x="32029" y="218593"/>
                  </a:cubicBezTo>
                  <a:lnTo>
                    <a:pt x="230861" y="30327"/>
                  </a:lnTo>
                  <a:cubicBezTo>
                    <a:pt x="251428" y="10853"/>
                    <a:pt x="278675" y="0"/>
                    <a:pt x="306999" y="0"/>
                  </a:cubicBezTo>
                  <a:lnTo>
                    <a:pt x="552791" y="0"/>
                  </a:lnTo>
                  <a:cubicBezTo>
                    <a:pt x="577152" y="0"/>
                    <a:pt x="596900" y="19748"/>
                    <a:pt x="596900" y="44109"/>
                  </a:cubicBezTo>
                  <a:close/>
                </a:path>
              </a:pathLst>
            </a:custGeom>
            <a:solidFill>
              <a:srgbClr val="FE971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5400000">
            <a:off x="13308055" y="9334651"/>
            <a:ext cx="2392343" cy="2239640"/>
            <a:chOff x="0" y="0"/>
            <a:chExt cx="596900" cy="558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38024"/>
                  </a:moveTo>
                  <a:lnTo>
                    <a:pt x="596900" y="266776"/>
                  </a:lnTo>
                  <a:cubicBezTo>
                    <a:pt x="596900" y="291057"/>
                    <a:pt x="586948" y="314278"/>
                    <a:pt x="569365" y="331024"/>
                  </a:cubicBezTo>
                  <a:lnTo>
                    <a:pt x="357735" y="532576"/>
                  </a:lnTo>
                  <a:cubicBezTo>
                    <a:pt x="340059" y="549410"/>
                    <a:pt x="316585" y="558800"/>
                    <a:pt x="292176" y="558800"/>
                  </a:cubicBezTo>
                  <a:lnTo>
                    <a:pt x="38024" y="558800"/>
                  </a:lnTo>
                  <a:cubicBezTo>
                    <a:pt x="17024" y="558800"/>
                    <a:pt x="0" y="541776"/>
                    <a:pt x="0" y="520776"/>
                  </a:cubicBezTo>
                  <a:lnTo>
                    <a:pt x="0" y="286944"/>
                  </a:lnTo>
                  <a:cubicBezTo>
                    <a:pt x="0" y="262671"/>
                    <a:pt x="9985" y="239466"/>
                    <a:pt x="27611" y="222776"/>
                  </a:cubicBezTo>
                  <a:lnTo>
                    <a:pt x="235279" y="26144"/>
                  </a:lnTo>
                  <a:cubicBezTo>
                    <a:pt x="253009" y="9356"/>
                    <a:pt x="276498" y="0"/>
                    <a:pt x="300914" y="0"/>
                  </a:cubicBezTo>
                  <a:lnTo>
                    <a:pt x="558876" y="0"/>
                  </a:lnTo>
                  <a:cubicBezTo>
                    <a:pt x="579876" y="0"/>
                    <a:pt x="596900" y="17024"/>
                    <a:pt x="596900" y="38024"/>
                  </a:cubicBezTo>
                  <a:close/>
                </a:path>
              </a:pathLst>
            </a:custGeom>
            <a:solidFill>
              <a:srgbClr val="FE971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-5400000">
            <a:off x="6650567" y="2110012"/>
            <a:ext cx="2297642" cy="2150984"/>
            <a:chOff x="0" y="0"/>
            <a:chExt cx="596900" cy="558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39592"/>
                  </a:moveTo>
                  <a:lnTo>
                    <a:pt x="596900" y="265208"/>
                  </a:lnTo>
                  <a:cubicBezTo>
                    <a:pt x="596900" y="290491"/>
                    <a:pt x="586538" y="314668"/>
                    <a:pt x="568230" y="332105"/>
                  </a:cubicBezTo>
                  <a:lnTo>
                    <a:pt x="358870" y="531495"/>
                  </a:lnTo>
                  <a:cubicBezTo>
                    <a:pt x="340465" y="549023"/>
                    <a:pt x="316024" y="558800"/>
                    <a:pt x="290608" y="558800"/>
                  </a:cubicBezTo>
                  <a:lnTo>
                    <a:pt x="39592" y="558800"/>
                  </a:lnTo>
                  <a:cubicBezTo>
                    <a:pt x="29091" y="558800"/>
                    <a:pt x="19021" y="554629"/>
                    <a:pt x="11596" y="547204"/>
                  </a:cubicBezTo>
                  <a:cubicBezTo>
                    <a:pt x="4171" y="539779"/>
                    <a:pt x="0" y="529709"/>
                    <a:pt x="0" y="519208"/>
                  </a:cubicBezTo>
                  <a:lnTo>
                    <a:pt x="0" y="288512"/>
                  </a:lnTo>
                  <a:cubicBezTo>
                    <a:pt x="0" y="263237"/>
                    <a:pt x="10396" y="239076"/>
                    <a:pt x="28749" y="221699"/>
                  </a:cubicBezTo>
                  <a:lnTo>
                    <a:pt x="234141" y="27221"/>
                  </a:lnTo>
                  <a:cubicBezTo>
                    <a:pt x="252602" y="9742"/>
                    <a:pt x="277059" y="0"/>
                    <a:pt x="302482" y="0"/>
                  </a:cubicBezTo>
                  <a:lnTo>
                    <a:pt x="557308" y="0"/>
                  </a:lnTo>
                  <a:cubicBezTo>
                    <a:pt x="567809" y="0"/>
                    <a:pt x="577879" y="4171"/>
                    <a:pt x="585304" y="11596"/>
                  </a:cubicBezTo>
                  <a:cubicBezTo>
                    <a:pt x="592729" y="19021"/>
                    <a:pt x="596900" y="29091"/>
                    <a:pt x="596900" y="39592"/>
                  </a:cubicBezTo>
                  <a:close/>
                </a:path>
              </a:pathLst>
            </a:custGeom>
            <a:solidFill>
              <a:srgbClr val="FE9710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33977" y="1028700"/>
            <a:ext cx="6659390" cy="8229600"/>
            <a:chOff x="0" y="0"/>
            <a:chExt cx="1460623" cy="180502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60627" cy="1805022"/>
            </a:xfrm>
            <a:custGeom>
              <a:avLst/>
              <a:gdLst/>
              <a:ahLst/>
              <a:cxnLst/>
              <a:rect l="l" t="t" r="r" b="b"/>
              <a:pathLst>
                <a:path w="1460627" h="1805022">
                  <a:moveTo>
                    <a:pt x="1460627" y="1189424"/>
                  </a:moveTo>
                  <a:lnTo>
                    <a:pt x="1460627" y="561989"/>
                  </a:lnTo>
                  <a:cubicBezTo>
                    <a:pt x="1460629" y="522853"/>
                    <a:pt x="1446205" y="485089"/>
                    <a:pt x="1420114" y="455919"/>
                  </a:cubicBezTo>
                  <a:lnTo>
                    <a:pt x="1046362" y="38122"/>
                  </a:lnTo>
                  <a:cubicBezTo>
                    <a:pt x="1024662" y="13865"/>
                    <a:pt x="993657" y="0"/>
                    <a:pt x="961111" y="0"/>
                  </a:cubicBezTo>
                  <a:lnTo>
                    <a:pt x="114384" y="0"/>
                  </a:lnTo>
                  <a:cubicBezTo>
                    <a:pt x="51211" y="0"/>
                    <a:pt x="0" y="51211"/>
                    <a:pt x="0" y="114384"/>
                  </a:cubicBezTo>
                  <a:lnTo>
                    <a:pt x="0" y="501214"/>
                  </a:lnTo>
                  <a:lnTo>
                    <a:pt x="0" y="1234766"/>
                  </a:lnTo>
                  <a:cubicBezTo>
                    <a:pt x="0" y="1279232"/>
                    <a:pt x="16390" y="1322137"/>
                    <a:pt x="46036" y="1355277"/>
                  </a:cubicBezTo>
                  <a:lnTo>
                    <a:pt x="414263" y="1766900"/>
                  </a:lnTo>
                  <a:cubicBezTo>
                    <a:pt x="435962" y="1791157"/>
                    <a:pt x="466967" y="1805022"/>
                    <a:pt x="499514" y="1805022"/>
                  </a:cubicBezTo>
                  <a:lnTo>
                    <a:pt x="944739" y="1805022"/>
                  </a:lnTo>
                  <a:cubicBezTo>
                    <a:pt x="975076" y="1805022"/>
                    <a:pt x="1004170" y="1792971"/>
                    <a:pt x="1025621" y="1771520"/>
                  </a:cubicBezTo>
                  <a:cubicBezTo>
                    <a:pt x="1047073" y="1750069"/>
                    <a:pt x="1059124" y="1720975"/>
                    <a:pt x="1059124" y="1690638"/>
                  </a:cubicBezTo>
                  <a:lnTo>
                    <a:pt x="1059124" y="1418193"/>
                  </a:lnTo>
                  <a:cubicBezTo>
                    <a:pt x="1059124" y="1355019"/>
                    <a:pt x="1110336" y="1303808"/>
                    <a:pt x="1173509" y="1303808"/>
                  </a:cubicBezTo>
                  <a:lnTo>
                    <a:pt x="1346241" y="1303808"/>
                  </a:lnTo>
                  <a:cubicBezTo>
                    <a:pt x="1376578" y="1303808"/>
                    <a:pt x="1405672" y="1291757"/>
                    <a:pt x="1427124" y="1270306"/>
                  </a:cubicBezTo>
                  <a:cubicBezTo>
                    <a:pt x="1448576" y="1248855"/>
                    <a:pt x="1460627" y="1219761"/>
                    <a:pt x="1460627" y="1189424"/>
                  </a:cubicBezTo>
                  <a:close/>
                </a:path>
              </a:pathLst>
            </a:custGeom>
            <a:blipFill>
              <a:blip r:embed="rId2"/>
              <a:stretch>
                <a:fillRect t="-260" b="-260"/>
              </a:stretch>
            </a:blipFill>
            <a:ln w="1524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26" name="Freeform 26"/>
          <p:cNvSpPr/>
          <p:nvPr/>
        </p:nvSpPr>
        <p:spPr>
          <a:xfrm flipH="1" flipV="1">
            <a:off x="839656" y="7316412"/>
            <a:ext cx="1588642" cy="1571311"/>
          </a:xfrm>
          <a:custGeom>
            <a:avLst/>
            <a:gdLst/>
            <a:ahLst/>
            <a:cxnLst/>
            <a:rect l="l" t="t" r="r" b="b"/>
            <a:pathLst>
              <a:path w="1588642" h="1571311">
                <a:moveTo>
                  <a:pt x="1588642" y="1571311"/>
                </a:moveTo>
                <a:lnTo>
                  <a:pt x="0" y="1571311"/>
                </a:lnTo>
                <a:lnTo>
                  <a:pt x="0" y="0"/>
                </a:lnTo>
                <a:lnTo>
                  <a:pt x="1588642" y="0"/>
                </a:lnTo>
                <a:lnTo>
                  <a:pt x="1588642" y="157131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931024" y="532300"/>
            <a:ext cx="1401730" cy="231923"/>
          </a:xfrm>
          <a:custGeom>
            <a:avLst/>
            <a:gdLst/>
            <a:ahLst/>
            <a:cxnLst/>
            <a:rect l="l" t="t" r="r" b="b"/>
            <a:pathLst>
              <a:path w="1401730" h="231923">
                <a:moveTo>
                  <a:pt x="0" y="0"/>
                </a:moveTo>
                <a:lnTo>
                  <a:pt x="1401731" y="0"/>
                </a:lnTo>
                <a:lnTo>
                  <a:pt x="1401731" y="231922"/>
                </a:lnTo>
                <a:lnTo>
                  <a:pt x="0" y="2319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4504226" y="9685631"/>
            <a:ext cx="1211471" cy="200443"/>
          </a:xfrm>
          <a:custGeom>
            <a:avLst/>
            <a:gdLst/>
            <a:ahLst/>
            <a:cxnLst/>
            <a:rect l="l" t="t" r="r" b="b"/>
            <a:pathLst>
              <a:path w="1211471" h="200443">
                <a:moveTo>
                  <a:pt x="0" y="0"/>
                </a:moveTo>
                <a:lnTo>
                  <a:pt x="1211472" y="0"/>
                </a:lnTo>
                <a:lnTo>
                  <a:pt x="1211472" y="200444"/>
                </a:lnTo>
                <a:lnTo>
                  <a:pt x="0" y="2004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1292003" y="609463"/>
            <a:ext cx="935360" cy="154760"/>
          </a:xfrm>
          <a:custGeom>
            <a:avLst/>
            <a:gdLst/>
            <a:ahLst/>
            <a:cxnLst/>
            <a:rect l="l" t="t" r="r" b="b"/>
            <a:pathLst>
              <a:path w="935360" h="154760">
                <a:moveTo>
                  <a:pt x="0" y="0"/>
                </a:moveTo>
                <a:lnTo>
                  <a:pt x="935360" y="0"/>
                </a:lnTo>
                <a:lnTo>
                  <a:pt x="935360" y="154759"/>
                </a:lnTo>
                <a:lnTo>
                  <a:pt x="0" y="1547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9510571" y="4435669"/>
            <a:ext cx="7328203" cy="172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745"/>
              </a:lnSpc>
            </a:pPr>
            <a:r>
              <a:rPr lang="en-IN" sz="1961" dirty="0">
                <a:solidFill>
                  <a:srgbClr val="011A3C"/>
                </a:solidFill>
                <a:latin typeface="Nunito"/>
              </a:rPr>
              <a:t>Autonomous vehicles face unstructured roads, mixed traffic, unpredictable obstacles, and sudden movements in real-world environments. These conditions make rule-based navigation insufficient, requiring adaptive perception, prediction, and safe path planning for reliable autonomous driving</a:t>
            </a:r>
            <a:endParaRPr lang="en-US" sz="1961" dirty="0">
              <a:solidFill>
                <a:srgbClr val="011A3C"/>
              </a:solidFill>
              <a:latin typeface="Nunito"/>
              <a:sym typeface="Nunito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510571" y="6458014"/>
            <a:ext cx="7783732" cy="21122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1961" b="1" dirty="0">
                <a:solidFill>
                  <a:srgbClr val="011A3C"/>
                </a:solidFill>
                <a:latin typeface="Nunito"/>
              </a:rPr>
              <a:t>Key 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61" dirty="0">
                <a:solidFill>
                  <a:srgbClr val="011A3C"/>
                </a:solidFill>
                <a:latin typeface="Nunito"/>
              </a:rPr>
              <a:t>🚧 Unstructured roads — unclear lanes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61" dirty="0">
                <a:solidFill>
                  <a:srgbClr val="011A3C"/>
                </a:solidFill>
                <a:latin typeface="Nunito"/>
              </a:rPr>
              <a:t>🐄 Unexpected obstacles — animals &amp; pedestrians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61" dirty="0">
                <a:solidFill>
                  <a:srgbClr val="011A3C"/>
                </a:solidFill>
                <a:latin typeface="Nunito"/>
              </a:rPr>
              <a:t>🚗 Mixed traffic — cars, bikes &amp; auto-rickshaws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61" dirty="0">
                <a:solidFill>
                  <a:srgbClr val="011A3C"/>
                </a:solidFill>
                <a:latin typeface="Nunito"/>
              </a:rPr>
              <a:t>🔄 Dynamic </a:t>
            </a:r>
            <a:r>
              <a:rPr lang="en-IN" sz="1961" dirty="0" err="1">
                <a:solidFill>
                  <a:srgbClr val="011A3C"/>
                </a:solidFill>
                <a:latin typeface="Nunito"/>
              </a:rPr>
              <a:t>behavior</a:t>
            </a:r>
            <a:r>
              <a:rPr lang="en-IN" sz="1961" dirty="0">
                <a:solidFill>
                  <a:srgbClr val="011A3C"/>
                </a:solidFill>
                <a:latin typeface="Nunito"/>
              </a:rPr>
              <a:t> — sudden movement changes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61" dirty="0">
                <a:solidFill>
                  <a:srgbClr val="011A3C"/>
                </a:solidFill>
                <a:latin typeface="Nunito"/>
              </a:rPr>
              <a:t>🕳️ Road hazards — potholes &amp; uneven surfaces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61" dirty="0">
                <a:solidFill>
                  <a:srgbClr val="011A3C"/>
                </a:solidFill>
                <a:latin typeface="Nunito"/>
              </a:rPr>
              <a:t>⚡ Real-time decisions — fast and safe response</a:t>
            </a:r>
          </a:p>
        </p:txBody>
      </p:sp>
      <p:sp>
        <p:nvSpPr>
          <p:cNvPr id="32" name="AutoShape 32"/>
          <p:cNvSpPr/>
          <p:nvPr/>
        </p:nvSpPr>
        <p:spPr>
          <a:xfrm>
            <a:off x="11498540" y="4144722"/>
            <a:ext cx="8461486" cy="0"/>
          </a:xfrm>
          <a:prstGeom prst="line">
            <a:avLst/>
          </a:prstGeom>
          <a:ln w="38100" cap="rnd">
            <a:solidFill>
              <a:srgbClr val="FE971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4372557" y="-522625"/>
            <a:ext cx="5586552" cy="5229964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6283"/>
                  </a:moveTo>
                  <a:lnTo>
                    <a:pt x="596900" y="288517"/>
                  </a:lnTo>
                  <a:cubicBezTo>
                    <a:pt x="596900" y="298915"/>
                    <a:pt x="592638" y="308859"/>
                    <a:pt x="585109" y="316030"/>
                  </a:cubicBezTo>
                  <a:lnTo>
                    <a:pt x="341991" y="547570"/>
                  </a:lnTo>
                  <a:cubicBezTo>
                    <a:pt x="334422" y="554779"/>
                    <a:pt x="324370" y="558800"/>
                    <a:pt x="313917" y="558800"/>
                  </a:cubicBezTo>
                  <a:lnTo>
                    <a:pt x="16283" y="558800"/>
                  </a:lnTo>
                  <a:cubicBezTo>
                    <a:pt x="7290" y="558800"/>
                    <a:pt x="0" y="551510"/>
                    <a:pt x="0" y="542517"/>
                  </a:cubicBezTo>
                  <a:lnTo>
                    <a:pt x="0" y="265203"/>
                  </a:lnTo>
                  <a:cubicBezTo>
                    <a:pt x="0" y="254809"/>
                    <a:pt x="4276" y="244871"/>
                    <a:pt x="11824" y="237724"/>
                  </a:cubicBezTo>
                  <a:lnTo>
                    <a:pt x="251066" y="11196"/>
                  </a:lnTo>
                  <a:cubicBezTo>
                    <a:pt x="258659" y="4007"/>
                    <a:pt x="268717" y="0"/>
                    <a:pt x="279173" y="0"/>
                  </a:cubicBezTo>
                  <a:lnTo>
                    <a:pt x="580617" y="0"/>
                  </a:lnTo>
                  <a:cubicBezTo>
                    <a:pt x="589610" y="0"/>
                    <a:pt x="596900" y="7290"/>
                    <a:pt x="596900" y="16283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6832257" y="4400004"/>
            <a:ext cx="3358368" cy="3144004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27087"/>
                  </a:moveTo>
                  <a:lnTo>
                    <a:pt x="596900" y="277713"/>
                  </a:lnTo>
                  <a:cubicBezTo>
                    <a:pt x="596900" y="295010"/>
                    <a:pt x="589811" y="311552"/>
                    <a:pt x="577285" y="323481"/>
                  </a:cubicBezTo>
                  <a:lnTo>
                    <a:pt x="349815" y="540119"/>
                  </a:lnTo>
                  <a:cubicBezTo>
                    <a:pt x="337223" y="552111"/>
                    <a:pt x="320501" y="558800"/>
                    <a:pt x="303113" y="558800"/>
                  </a:cubicBezTo>
                  <a:lnTo>
                    <a:pt x="27087" y="558800"/>
                  </a:lnTo>
                  <a:cubicBezTo>
                    <a:pt x="12127" y="558800"/>
                    <a:pt x="0" y="546673"/>
                    <a:pt x="0" y="531713"/>
                  </a:cubicBezTo>
                  <a:lnTo>
                    <a:pt x="0" y="276007"/>
                  </a:lnTo>
                  <a:cubicBezTo>
                    <a:pt x="0" y="258715"/>
                    <a:pt x="7113" y="242185"/>
                    <a:pt x="19669" y="230296"/>
                  </a:cubicBezTo>
                  <a:lnTo>
                    <a:pt x="243221" y="18624"/>
                  </a:lnTo>
                  <a:cubicBezTo>
                    <a:pt x="255851" y="6665"/>
                    <a:pt x="272583" y="0"/>
                    <a:pt x="289977" y="0"/>
                  </a:cubicBezTo>
                  <a:lnTo>
                    <a:pt x="569813" y="0"/>
                  </a:lnTo>
                  <a:cubicBezTo>
                    <a:pt x="584773" y="0"/>
                    <a:pt x="596900" y="12127"/>
                    <a:pt x="596900" y="27087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-2264889" y="963796"/>
            <a:ext cx="4019894" cy="3763305"/>
            <a:chOff x="0" y="0"/>
            <a:chExt cx="596900" cy="558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22629"/>
                  </a:moveTo>
                  <a:lnTo>
                    <a:pt x="596900" y="282171"/>
                  </a:lnTo>
                  <a:cubicBezTo>
                    <a:pt x="596900" y="296621"/>
                    <a:pt x="590977" y="310440"/>
                    <a:pt x="580513" y="320406"/>
                  </a:cubicBezTo>
                  <a:lnTo>
                    <a:pt x="346587" y="543194"/>
                  </a:lnTo>
                  <a:cubicBezTo>
                    <a:pt x="336067" y="553212"/>
                    <a:pt x="322097" y="558800"/>
                    <a:pt x="307571" y="558800"/>
                  </a:cubicBezTo>
                  <a:lnTo>
                    <a:pt x="22629" y="558800"/>
                  </a:lnTo>
                  <a:cubicBezTo>
                    <a:pt x="10132" y="558800"/>
                    <a:pt x="0" y="548668"/>
                    <a:pt x="0" y="536171"/>
                  </a:cubicBezTo>
                  <a:lnTo>
                    <a:pt x="0" y="271549"/>
                  </a:lnTo>
                  <a:cubicBezTo>
                    <a:pt x="0" y="257103"/>
                    <a:pt x="5942" y="243294"/>
                    <a:pt x="16432" y="233361"/>
                  </a:cubicBezTo>
                  <a:lnTo>
                    <a:pt x="246458" y="15559"/>
                  </a:lnTo>
                  <a:cubicBezTo>
                    <a:pt x="257010" y="5568"/>
                    <a:pt x="270988" y="0"/>
                    <a:pt x="285519" y="0"/>
                  </a:cubicBezTo>
                  <a:lnTo>
                    <a:pt x="574271" y="0"/>
                  </a:lnTo>
                  <a:cubicBezTo>
                    <a:pt x="586768" y="0"/>
                    <a:pt x="596900" y="10132"/>
                    <a:pt x="596900" y="22629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5400000">
            <a:off x="256283" y="5746652"/>
            <a:ext cx="11455664" cy="10724451"/>
            <a:chOff x="0" y="0"/>
            <a:chExt cx="596900" cy="558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35734"/>
                  </a:moveTo>
                  <a:lnTo>
                    <a:pt x="596900" y="269066"/>
                  </a:lnTo>
                  <a:cubicBezTo>
                    <a:pt x="596900" y="291885"/>
                    <a:pt x="587548" y="313707"/>
                    <a:pt x="571024" y="329444"/>
                  </a:cubicBezTo>
                  <a:lnTo>
                    <a:pt x="356076" y="534156"/>
                  </a:lnTo>
                  <a:cubicBezTo>
                    <a:pt x="339465" y="549976"/>
                    <a:pt x="317405" y="558800"/>
                    <a:pt x="294466" y="558800"/>
                  </a:cubicBezTo>
                  <a:lnTo>
                    <a:pt x="35734" y="558800"/>
                  </a:lnTo>
                  <a:cubicBezTo>
                    <a:pt x="26257" y="558800"/>
                    <a:pt x="17168" y="555035"/>
                    <a:pt x="10466" y="548334"/>
                  </a:cubicBezTo>
                  <a:cubicBezTo>
                    <a:pt x="3765" y="541632"/>
                    <a:pt x="0" y="532543"/>
                    <a:pt x="0" y="523066"/>
                  </a:cubicBezTo>
                  <a:lnTo>
                    <a:pt x="0" y="284654"/>
                  </a:lnTo>
                  <a:cubicBezTo>
                    <a:pt x="0" y="261842"/>
                    <a:pt x="9383" y="240035"/>
                    <a:pt x="25948" y="224351"/>
                  </a:cubicBezTo>
                  <a:lnTo>
                    <a:pt x="236942" y="24569"/>
                  </a:lnTo>
                  <a:cubicBezTo>
                    <a:pt x="253604" y="8792"/>
                    <a:pt x="275678" y="0"/>
                    <a:pt x="298624" y="0"/>
                  </a:cubicBezTo>
                  <a:lnTo>
                    <a:pt x="561166" y="0"/>
                  </a:lnTo>
                  <a:cubicBezTo>
                    <a:pt x="570643" y="0"/>
                    <a:pt x="579732" y="3765"/>
                    <a:pt x="586434" y="10466"/>
                  </a:cubicBezTo>
                  <a:cubicBezTo>
                    <a:pt x="593135" y="17168"/>
                    <a:pt x="596900" y="26257"/>
                    <a:pt x="596900" y="35734"/>
                  </a:cubicBezTo>
                  <a:close/>
                </a:path>
              </a:pathLst>
            </a:custGeom>
            <a:solidFill>
              <a:srgbClr val="FE971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169636" y="4707338"/>
            <a:ext cx="12880056" cy="4550962"/>
            <a:chOff x="0" y="0"/>
            <a:chExt cx="3392278" cy="119860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392278" cy="1198607"/>
            </a:xfrm>
            <a:custGeom>
              <a:avLst/>
              <a:gdLst/>
              <a:ahLst/>
              <a:cxnLst/>
              <a:rect l="l" t="t" r="r" b="b"/>
              <a:pathLst>
                <a:path w="3392278" h="1198607">
                  <a:moveTo>
                    <a:pt x="31857" y="0"/>
                  </a:moveTo>
                  <a:lnTo>
                    <a:pt x="3360421" y="0"/>
                  </a:lnTo>
                  <a:cubicBezTo>
                    <a:pt x="3368870" y="0"/>
                    <a:pt x="3376973" y="3356"/>
                    <a:pt x="3382947" y="9331"/>
                  </a:cubicBezTo>
                  <a:cubicBezTo>
                    <a:pt x="3388922" y="15305"/>
                    <a:pt x="3392278" y="23408"/>
                    <a:pt x="3392278" y="31857"/>
                  </a:cubicBezTo>
                  <a:lnTo>
                    <a:pt x="3392278" y="1166750"/>
                  </a:lnTo>
                  <a:cubicBezTo>
                    <a:pt x="3392278" y="1184344"/>
                    <a:pt x="3378015" y="1198607"/>
                    <a:pt x="3360421" y="1198607"/>
                  </a:cubicBezTo>
                  <a:lnTo>
                    <a:pt x="31857" y="1198607"/>
                  </a:lnTo>
                  <a:cubicBezTo>
                    <a:pt x="14263" y="1198607"/>
                    <a:pt x="0" y="1184344"/>
                    <a:pt x="0" y="1166750"/>
                  </a:cubicBezTo>
                  <a:lnTo>
                    <a:pt x="0" y="31857"/>
                  </a:lnTo>
                  <a:cubicBezTo>
                    <a:pt x="0" y="14263"/>
                    <a:pt x="14263" y="0"/>
                    <a:pt x="318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3392278" cy="12557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3741893" y="1845373"/>
            <a:ext cx="10804215" cy="999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94"/>
              </a:lnSpc>
            </a:pPr>
            <a:r>
              <a:rPr lang="en-US" sz="7494" b="1" spc="149" dirty="0">
                <a:solidFill>
                  <a:srgbClr val="011A3C"/>
                </a:solidFill>
                <a:latin typeface="Gotham Bold"/>
                <a:ea typeface="Gotham Bold"/>
                <a:cs typeface="Gotham Bold"/>
                <a:sym typeface="Gotham Bold"/>
              </a:rPr>
              <a:t>Research Objectives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680526" y="3127838"/>
            <a:ext cx="12391385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2800" b="1" dirty="0"/>
              <a:t>From Perception to Adaptive Path Planning</a:t>
            </a:r>
          </a:p>
          <a:p>
            <a:r>
              <a:rPr lang="en-IN" sz="2800" dirty="0"/>
              <a:t>Our objective is to develop a lightweight predictive navigation pipeline for dynamic and unstructured road environments.</a:t>
            </a:r>
          </a:p>
        </p:txBody>
      </p:sp>
      <p:sp>
        <p:nvSpPr>
          <p:cNvPr id="34" name="AutoShape 34"/>
          <p:cNvSpPr/>
          <p:nvPr/>
        </p:nvSpPr>
        <p:spPr>
          <a:xfrm flipV="1">
            <a:off x="7951248" y="3078134"/>
            <a:ext cx="12134633" cy="0"/>
          </a:xfrm>
          <a:prstGeom prst="line">
            <a:avLst/>
          </a:prstGeom>
          <a:ln w="38100" cap="rnd">
            <a:solidFill>
              <a:srgbClr val="014A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TextBox 36"/>
          <p:cNvSpPr txBox="1"/>
          <p:nvPr/>
        </p:nvSpPr>
        <p:spPr>
          <a:xfrm>
            <a:off x="2487697" y="4676280"/>
            <a:ext cx="7140213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Perceive</a:t>
            </a:r>
            <a:br>
              <a:rPr lang="en-IN" sz="2000" dirty="0"/>
            </a:br>
            <a:r>
              <a:rPr lang="en-IN" sz="2000" dirty="0"/>
              <a:t>Camera + LiDAR based environmental understanding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Detect &amp; Track</a:t>
            </a:r>
            <a:br>
              <a:rPr lang="en-IN" sz="2000" dirty="0"/>
            </a:br>
            <a:r>
              <a:rPr lang="en-IN" sz="2000" dirty="0"/>
              <a:t>Identify and track dynamic road users and obstacles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Predict</a:t>
            </a:r>
            <a:br>
              <a:rPr lang="en-IN" sz="2000" dirty="0"/>
            </a:br>
            <a:r>
              <a:rPr lang="en-IN" sz="2000" dirty="0"/>
              <a:t>Estimate future movement and trajectories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Assess Risk</a:t>
            </a:r>
            <a:br>
              <a:rPr lang="en-IN" sz="2000" dirty="0"/>
            </a:br>
            <a:r>
              <a:rPr lang="en-IN" sz="2000" dirty="0"/>
              <a:t>Identify potential collision risks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Plan Adaptively</a:t>
            </a:r>
            <a:br>
              <a:rPr lang="en-IN" sz="2000" dirty="0"/>
            </a:br>
            <a:r>
              <a:rPr lang="en-IN" sz="2000" dirty="0"/>
              <a:t>Generate and evaluate feasible paths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Re-plan</a:t>
            </a:r>
            <a:br>
              <a:rPr lang="en-IN" sz="2000" dirty="0"/>
            </a:br>
            <a:r>
              <a:rPr lang="en-IN" sz="2000" dirty="0"/>
              <a:t>Continuously adapt the path as the environment changes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4546107" y="9008976"/>
            <a:ext cx="2954069" cy="2765512"/>
            <a:chOff x="0" y="0"/>
            <a:chExt cx="596900" cy="558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30794"/>
                  </a:moveTo>
                  <a:lnTo>
                    <a:pt x="596900" y="274006"/>
                  </a:lnTo>
                  <a:cubicBezTo>
                    <a:pt x="596900" y="293670"/>
                    <a:pt x="588841" y="312476"/>
                    <a:pt x="574601" y="326037"/>
                  </a:cubicBezTo>
                  <a:lnTo>
                    <a:pt x="352499" y="537563"/>
                  </a:lnTo>
                  <a:cubicBezTo>
                    <a:pt x="338184" y="551196"/>
                    <a:pt x="319174" y="558800"/>
                    <a:pt x="299406" y="558800"/>
                  </a:cubicBezTo>
                  <a:lnTo>
                    <a:pt x="30794" y="558800"/>
                  </a:lnTo>
                  <a:cubicBezTo>
                    <a:pt x="13787" y="558800"/>
                    <a:pt x="0" y="545013"/>
                    <a:pt x="0" y="528006"/>
                  </a:cubicBezTo>
                  <a:lnTo>
                    <a:pt x="0" y="279714"/>
                  </a:lnTo>
                  <a:cubicBezTo>
                    <a:pt x="0" y="260056"/>
                    <a:pt x="8086" y="241263"/>
                    <a:pt x="22361" y="227748"/>
                  </a:cubicBezTo>
                  <a:lnTo>
                    <a:pt x="240529" y="21172"/>
                  </a:lnTo>
                  <a:cubicBezTo>
                    <a:pt x="254888" y="7577"/>
                    <a:pt x="273910" y="0"/>
                    <a:pt x="293684" y="0"/>
                  </a:cubicBezTo>
                  <a:lnTo>
                    <a:pt x="566106" y="0"/>
                  </a:lnTo>
                  <a:cubicBezTo>
                    <a:pt x="583113" y="0"/>
                    <a:pt x="596900" y="13787"/>
                    <a:pt x="596900" y="30794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47" name="Freeform 47"/>
          <p:cNvSpPr/>
          <p:nvPr/>
        </p:nvSpPr>
        <p:spPr>
          <a:xfrm>
            <a:off x="14372557" y="9685631"/>
            <a:ext cx="1211471" cy="200443"/>
          </a:xfrm>
          <a:custGeom>
            <a:avLst/>
            <a:gdLst/>
            <a:ahLst/>
            <a:cxnLst/>
            <a:rect l="l" t="t" r="r" b="b"/>
            <a:pathLst>
              <a:path w="1211471" h="200443">
                <a:moveTo>
                  <a:pt x="0" y="0"/>
                </a:moveTo>
                <a:lnTo>
                  <a:pt x="1211471" y="0"/>
                </a:lnTo>
                <a:lnTo>
                  <a:pt x="1211471" y="200444"/>
                </a:lnTo>
                <a:lnTo>
                  <a:pt x="0" y="2004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8" name="Group 48"/>
          <p:cNvGrpSpPr/>
          <p:nvPr/>
        </p:nvGrpSpPr>
        <p:grpSpPr>
          <a:xfrm rot="-10800000">
            <a:off x="779460" y="-3002706"/>
            <a:ext cx="4863131" cy="4552719"/>
            <a:chOff x="0" y="0"/>
            <a:chExt cx="596900" cy="558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8706"/>
                  </a:moveTo>
                  <a:lnTo>
                    <a:pt x="596900" y="286094"/>
                  </a:lnTo>
                  <a:cubicBezTo>
                    <a:pt x="596900" y="298039"/>
                    <a:pt x="592004" y="309462"/>
                    <a:pt x="583355" y="317700"/>
                  </a:cubicBezTo>
                  <a:lnTo>
                    <a:pt x="343745" y="545900"/>
                  </a:lnTo>
                  <a:cubicBezTo>
                    <a:pt x="335050" y="554181"/>
                    <a:pt x="323502" y="558800"/>
                    <a:pt x="311494" y="558800"/>
                  </a:cubicBezTo>
                  <a:lnTo>
                    <a:pt x="18706" y="558800"/>
                  </a:lnTo>
                  <a:cubicBezTo>
                    <a:pt x="13745" y="558800"/>
                    <a:pt x="8987" y="556829"/>
                    <a:pt x="5479" y="553321"/>
                  </a:cubicBezTo>
                  <a:cubicBezTo>
                    <a:pt x="1971" y="549813"/>
                    <a:pt x="0" y="545055"/>
                    <a:pt x="0" y="540094"/>
                  </a:cubicBezTo>
                  <a:lnTo>
                    <a:pt x="0" y="267626"/>
                  </a:lnTo>
                  <a:cubicBezTo>
                    <a:pt x="0" y="255684"/>
                    <a:pt x="4912" y="244269"/>
                    <a:pt x="13583" y="236059"/>
                  </a:cubicBezTo>
                  <a:lnTo>
                    <a:pt x="249307" y="12861"/>
                  </a:lnTo>
                  <a:cubicBezTo>
                    <a:pt x="258029" y="4603"/>
                    <a:pt x="269584" y="0"/>
                    <a:pt x="281596" y="0"/>
                  </a:cubicBezTo>
                  <a:lnTo>
                    <a:pt x="578194" y="0"/>
                  </a:lnTo>
                  <a:cubicBezTo>
                    <a:pt x="583155" y="0"/>
                    <a:pt x="587913" y="1971"/>
                    <a:pt x="591421" y="5479"/>
                  </a:cubicBezTo>
                  <a:cubicBezTo>
                    <a:pt x="594929" y="8987"/>
                    <a:pt x="596900" y="13745"/>
                    <a:pt x="596900" y="18706"/>
                  </a:cubicBezTo>
                  <a:close/>
                </a:path>
              </a:pathLst>
            </a:custGeom>
            <a:ln w="85725" cap="sq">
              <a:solidFill>
                <a:srgbClr val="FE9710"/>
              </a:solidFill>
              <a:prstDash val="solid"/>
              <a:miter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 rot="-10800000">
            <a:off x="1174301" y="-2633068"/>
            <a:ext cx="4073450" cy="3813443"/>
            <a:chOff x="0" y="0"/>
            <a:chExt cx="596900" cy="558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22332"/>
                  </a:moveTo>
                  <a:lnTo>
                    <a:pt x="596900" y="282468"/>
                  </a:lnTo>
                  <a:cubicBezTo>
                    <a:pt x="596900" y="296729"/>
                    <a:pt x="591055" y="310366"/>
                    <a:pt x="580729" y="320201"/>
                  </a:cubicBezTo>
                  <a:lnTo>
                    <a:pt x="346371" y="543399"/>
                  </a:lnTo>
                  <a:cubicBezTo>
                    <a:pt x="335990" y="553285"/>
                    <a:pt x="322204" y="558800"/>
                    <a:pt x="307868" y="558800"/>
                  </a:cubicBezTo>
                  <a:lnTo>
                    <a:pt x="22332" y="558800"/>
                  </a:lnTo>
                  <a:cubicBezTo>
                    <a:pt x="16409" y="558800"/>
                    <a:pt x="10729" y="556447"/>
                    <a:pt x="6541" y="552259"/>
                  </a:cubicBezTo>
                  <a:cubicBezTo>
                    <a:pt x="2353" y="548071"/>
                    <a:pt x="0" y="542391"/>
                    <a:pt x="0" y="536468"/>
                  </a:cubicBezTo>
                  <a:lnTo>
                    <a:pt x="0" y="271252"/>
                  </a:lnTo>
                  <a:cubicBezTo>
                    <a:pt x="0" y="256996"/>
                    <a:pt x="5864" y="243367"/>
                    <a:pt x="16216" y="233566"/>
                  </a:cubicBezTo>
                  <a:lnTo>
                    <a:pt x="246674" y="15354"/>
                  </a:lnTo>
                  <a:cubicBezTo>
                    <a:pt x="257087" y="5495"/>
                    <a:pt x="270882" y="0"/>
                    <a:pt x="285222" y="0"/>
                  </a:cubicBezTo>
                  <a:lnTo>
                    <a:pt x="574568" y="0"/>
                  </a:lnTo>
                  <a:cubicBezTo>
                    <a:pt x="580491" y="0"/>
                    <a:pt x="586171" y="2353"/>
                    <a:pt x="590359" y="6541"/>
                  </a:cubicBezTo>
                  <a:cubicBezTo>
                    <a:pt x="594547" y="10729"/>
                    <a:pt x="596900" y="16409"/>
                    <a:pt x="596900" y="22332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-1338322" y="845118"/>
            <a:ext cx="4235564" cy="935169"/>
            <a:chOff x="0" y="0"/>
            <a:chExt cx="1115539" cy="2463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115539" cy="246300"/>
            </a:xfrm>
            <a:custGeom>
              <a:avLst/>
              <a:gdLst/>
              <a:ahLst/>
              <a:cxnLst/>
              <a:rect l="l" t="t" r="r" b="b"/>
              <a:pathLst>
                <a:path w="1115539" h="246300">
                  <a:moveTo>
                    <a:pt x="63974" y="0"/>
                  </a:moveTo>
                  <a:lnTo>
                    <a:pt x="1051565" y="0"/>
                  </a:lnTo>
                  <a:cubicBezTo>
                    <a:pt x="1086897" y="0"/>
                    <a:pt x="1115539" y="28642"/>
                    <a:pt x="1115539" y="63974"/>
                  </a:cubicBezTo>
                  <a:lnTo>
                    <a:pt x="1115539" y="182325"/>
                  </a:lnTo>
                  <a:cubicBezTo>
                    <a:pt x="1115539" y="217657"/>
                    <a:pt x="1086897" y="246300"/>
                    <a:pt x="1051565" y="246300"/>
                  </a:cubicBezTo>
                  <a:lnTo>
                    <a:pt x="63974" y="246300"/>
                  </a:lnTo>
                  <a:cubicBezTo>
                    <a:pt x="28642" y="246300"/>
                    <a:pt x="0" y="217657"/>
                    <a:pt x="0" y="182325"/>
                  </a:cubicBezTo>
                  <a:lnTo>
                    <a:pt x="0" y="63974"/>
                  </a:lnTo>
                  <a:cubicBezTo>
                    <a:pt x="0" y="28642"/>
                    <a:pt x="28642" y="0"/>
                    <a:pt x="639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57150"/>
              <a:ext cx="1115539" cy="303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57" name="Freeform 57"/>
          <p:cNvSpPr/>
          <p:nvPr/>
        </p:nvSpPr>
        <p:spPr>
          <a:xfrm>
            <a:off x="568565" y="1680065"/>
            <a:ext cx="1211471" cy="200443"/>
          </a:xfrm>
          <a:custGeom>
            <a:avLst/>
            <a:gdLst/>
            <a:ahLst/>
            <a:cxnLst/>
            <a:rect l="l" t="t" r="r" b="b"/>
            <a:pathLst>
              <a:path w="1211471" h="200443">
                <a:moveTo>
                  <a:pt x="0" y="0"/>
                </a:moveTo>
                <a:lnTo>
                  <a:pt x="1211471" y="0"/>
                </a:lnTo>
                <a:lnTo>
                  <a:pt x="1211471" y="200444"/>
                </a:lnTo>
                <a:lnTo>
                  <a:pt x="0" y="200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 flipH="1" flipV="1">
            <a:off x="402289" y="8450265"/>
            <a:ext cx="1248992" cy="1235367"/>
          </a:xfrm>
          <a:custGeom>
            <a:avLst/>
            <a:gdLst/>
            <a:ahLst/>
            <a:cxnLst/>
            <a:rect l="l" t="t" r="r" b="b"/>
            <a:pathLst>
              <a:path w="1248992" h="1235367">
                <a:moveTo>
                  <a:pt x="1248992" y="1235366"/>
                </a:moveTo>
                <a:lnTo>
                  <a:pt x="0" y="1235366"/>
                </a:lnTo>
                <a:lnTo>
                  <a:pt x="0" y="0"/>
                </a:lnTo>
                <a:lnTo>
                  <a:pt x="1248992" y="0"/>
                </a:lnTo>
                <a:lnTo>
                  <a:pt x="1248992" y="123536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9" name="Freeform 59"/>
          <p:cNvSpPr/>
          <p:nvPr/>
        </p:nvSpPr>
        <p:spPr>
          <a:xfrm>
            <a:off x="16130060" y="845118"/>
            <a:ext cx="1370117" cy="1355170"/>
          </a:xfrm>
          <a:custGeom>
            <a:avLst/>
            <a:gdLst/>
            <a:ahLst/>
            <a:cxnLst/>
            <a:rect l="l" t="t" r="r" b="b"/>
            <a:pathLst>
              <a:path w="1370117" h="1355170">
                <a:moveTo>
                  <a:pt x="0" y="0"/>
                </a:moveTo>
                <a:lnTo>
                  <a:pt x="1370117" y="0"/>
                </a:lnTo>
                <a:lnTo>
                  <a:pt x="1370117" y="1355171"/>
                </a:lnTo>
                <a:lnTo>
                  <a:pt x="0" y="13551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4372557" y="-522625"/>
            <a:ext cx="5586552" cy="5229964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6283"/>
                  </a:moveTo>
                  <a:lnTo>
                    <a:pt x="596900" y="288517"/>
                  </a:lnTo>
                  <a:cubicBezTo>
                    <a:pt x="596900" y="298915"/>
                    <a:pt x="592638" y="308859"/>
                    <a:pt x="585109" y="316030"/>
                  </a:cubicBezTo>
                  <a:lnTo>
                    <a:pt x="341991" y="547570"/>
                  </a:lnTo>
                  <a:cubicBezTo>
                    <a:pt x="334422" y="554779"/>
                    <a:pt x="324370" y="558800"/>
                    <a:pt x="313917" y="558800"/>
                  </a:cubicBezTo>
                  <a:lnTo>
                    <a:pt x="16283" y="558800"/>
                  </a:lnTo>
                  <a:cubicBezTo>
                    <a:pt x="7290" y="558800"/>
                    <a:pt x="0" y="551510"/>
                    <a:pt x="0" y="542517"/>
                  </a:cubicBezTo>
                  <a:lnTo>
                    <a:pt x="0" y="265203"/>
                  </a:lnTo>
                  <a:cubicBezTo>
                    <a:pt x="0" y="254809"/>
                    <a:pt x="4276" y="244871"/>
                    <a:pt x="11824" y="237724"/>
                  </a:cubicBezTo>
                  <a:lnTo>
                    <a:pt x="251066" y="11196"/>
                  </a:lnTo>
                  <a:cubicBezTo>
                    <a:pt x="258659" y="4007"/>
                    <a:pt x="268717" y="0"/>
                    <a:pt x="279173" y="0"/>
                  </a:cubicBezTo>
                  <a:lnTo>
                    <a:pt x="580617" y="0"/>
                  </a:lnTo>
                  <a:cubicBezTo>
                    <a:pt x="589610" y="0"/>
                    <a:pt x="596900" y="7290"/>
                    <a:pt x="596900" y="16283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6832257" y="4400004"/>
            <a:ext cx="3358368" cy="3144004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27087"/>
                  </a:moveTo>
                  <a:lnTo>
                    <a:pt x="596900" y="277713"/>
                  </a:lnTo>
                  <a:cubicBezTo>
                    <a:pt x="596900" y="295010"/>
                    <a:pt x="589811" y="311552"/>
                    <a:pt x="577285" y="323481"/>
                  </a:cubicBezTo>
                  <a:lnTo>
                    <a:pt x="349815" y="540119"/>
                  </a:lnTo>
                  <a:cubicBezTo>
                    <a:pt x="337223" y="552111"/>
                    <a:pt x="320501" y="558800"/>
                    <a:pt x="303113" y="558800"/>
                  </a:cubicBezTo>
                  <a:lnTo>
                    <a:pt x="27087" y="558800"/>
                  </a:lnTo>
                  <a:cubicBezTo>
                    <a:pt x="12127" y="558800"/>
                    <a:pt x="0" y="546673"/>
                    <a:pt x="0" y="531713"/>
                  </a:cubicBezTo>
                  <a:lnTo>
                    <a:pt x="0" y="276007"/>
                  </a:lnTo>
                  <a:cubicBezTo>
                    <a:pt x="0" y="258715"/>
                    <a:pt x="7113" y="242185"/>
                    <a:pt x="19669" y="230296"/>
                  </a:cubicBezTo>
                  <a:lnTo>
                    <a:pt x="243221" y="18624"/>
                  </a:lnTo>
                  <a:cubicBezTo>
                    <a:pt x="255851" y="6665"/>
                    <a:pt x="272583" y="0"/>
                    <a:pt x="289977" y="0"/>
                  </a:cubicBezTo>
                  <a:lnTo>
                    <a:pt x="569813" y="0"/>
                  </a:lnTo>
                  <a:cubicBezTo>
                    <a:pt x="584773" y="0"/>
                    <a:pt x="596900" y="12127"/>
                    <a:pt x="596900" y="27087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-2264889" y="963796"/>
            <a:ext cx="4019894" cy="3763305"/>
            <a:chOff x="0" y="0"/>
            <a:chExt cx="596900" cy="558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22629"/>
                  </a:moveTo>
                  <a:lnTo>
                    <a:pt x="596900" y="282171"/>
                  </a:lnTo>
                  <a:cubicBezTo>
                    <a:pt x="596900" y="296621"/>
                    <a:pt x="590977" y="310440"/>
                    <a:pt x="580513" y="320406"/>
                  </a:cubicBezTo>
                  <a:lnTo>
                    <a:pt x="346587" y="543194"/>
                  </a:lnTo>
                  <a:cubicBezTo>
                    <a:pt x="336067" y="553212"/>
                    <a:pt x="322097" y="558800"/>
                    <a:pt x="307571" y="558800"/>
                  </a:cubicBezTo>
                  <a:lnTo>
                    <a:pt x="22629" y="558800"/>
                  </a:lnTo>
                  <a:cubicBezTo>
                    <a:pt x="10132" y="558800"/>
                    <a:pt x="0" y="548668"/>
                    <a:pt x="0" y="536171"/>
                  </a:cubicBezTo>
                  <a:lnTo>
                    <a:pt x="0" y="271549"/>
                  </a:lnTo>
                  <a:cubicBezTo>
                    <a:pt x="0" y="257103"/>
                    <a:pt x="5942" y="243294"/>
                    <a:pt x="16432" y="233361"/>
                  </a:cubicBezTo>
                  <a:lnTo>
                    <a:pt x="246458" y="15559"/>
                  </a:lnTo>
                  <a:cubicBezTo>
                    <a:pt x="257010" y="5568"/>
                    <a:pt x="270988" y="0"/>
                    <a:pt x="285519" y="0"/>
                  </a:cubicBezTo>
                  <a:lnTo>
                    <a:pt x="574271" y="0"/>
                  </a:lnTo>
                  <a:cubicBezTo>
                    <a:pt x="586768" y="0"/>
                    <a:pt x="596900" y="10132"/>
                    <a:pt x="596900" y="22629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5400000">
            <a:off x="256283" y="5746652"/>
            <a:ext cx="11455664" cy="10724451"/>
            <a:chOff x="0" y="0"/>
            <a:chExt cx="596900" cy="558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35734"/>
                  </a:moveTo>
                  <a:lnTo>
                    <a:pt x="596900" y="269066"/>
                  </a:lnTo>
                  <a:cubicBezTo>
                    <a:pt x="596900" y="291885"/>
                    <a:pt x="587548" y="313707"/>
                    <a:pt x="571024" y="329444"/>
                  </a:cubicBezTo>
                  <a:lnTo>
                    <a:pt x="356076" y="534156"/>
                  </a:lnTo>
                  <a:cubicBezTo>
                    <a:pt x="339465" y="549976"/>
                    <a:pt x="317405" y="558800"/>
                    <a:pt x="294466" y="558800"/>
                  </a:cubicBezTo>
                  <a:lnTo>
                    <a:pt x="35734" y="558800"/>
                  </a:lnTo>
                  <a:cubicBezTo>
                    <a:pt x="26257" y="558800"/>
                    <a:pt x="17168" y="555035"/>
                    <a:pt x="10466" y="548334"/>
                  </a:cubicBezTo>
                  <a:cubicBezTo>
                    <a:pt x="3765" y="541632"/>
                    <a:pt x="0" y="532543"/>
                    <a:pt x="0" y="523066"/>
                  </a:cubicBezTo>
                  <a:lnTo>
                    <a:pt x="0" y="284654"/>
                  </a:lnTo>
                  <a:cubicBezTo>
                    <a:pt x="0" y="261842"/>
                    <a:pt x="9383" y="240035"/>
                    <a:pt x="25948" y="224351"/>
                  </a:cubicBezTo>
                  <a:lnTo>
                    <a:pt x="236942" y="24569"/>
                  </a:lnTo>
                  <a:cubicBezTo>
                    <a:pt x="253604" y="8792"/>
                    <a:pt x="275678" y="0"/>
                    <a:pt x="298624" y="0"/>
                  </a:cubicBezTo>
                  <a:lnTo>
                    <a:pt x="561166" y="0"/>
                  </a:lnTo>
                  <a:cubicBezTo>
                    <a:pt x="570643" y="0"/>
                    <a:pt x="579732" y="3765"/>
                    <a:pt x="586434" y="10466"/>
                  </a:cubicBezTo>
                  <a:cubicBezTo>
                    <a:pt x="593135" y="17168"/>
                    <a:pt x="596900" y="26257"/>
                    <a:pt x="596900" y="35734"/>
                  </a:cubicBezTo>
                  <a:close/>
                </a:path>
              </a:pathLst>
            </a:custGeom>
            <a:solidFill>
              <a:srgbClr val="FE971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409795" y="3529260"/>
            <a:ext cx="4541453" cy="1014107"/>
            <a:chOff x="0" y="0"/>
            <a:chExt cx="1196103" cy="2670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96103" cy="267090"/>
            </a:xfrm>
            <a:custGeom>
              <a:avLst/>
              <a:gdLst/>
              <a:ahLst/>
              <a:cxnLst/>
              <a:rect l="l" t="t" r="r" b="b"/>
              <a:pathLst>
                <a:path w="1196103" h="267090">
                  <a:moveTo>
                    <a:pt x="133545" y="0"/>
                  </a:moveTo>
                  <a:lnTo>
                    <a:pt x="1062558" y="0"/>
                  </a:lnTo>
                  <a:cubicBezTo>
                    <a:pt x="1097976" y="0"/>
                    <a:pt x="1131944" y="14070"/>
                    <a:pt x="1156988" y="39114"/>
                  </a:cubicBezTo>
                  <a:cubicBezTo>
                    <a:pt x="1182033" y="64159"/>
                    <a:pt x="1196103" y="98127"/>
                    <a:pt x="1196103" y="133545"/>
                  </a:cubicBezTo>
                  <a:lnTo>
                    <a:pt x="1196103" y="133545"/>
                  </a:lnTo>
                  <a:cubicBezTo>
                    <a:pt x="1196103" y="168963"/>
                    <a:pt x="1182033" y="202931"/>
                    <a:pt x="1156988" y="227976"/>
                  </a:cubicBezTo>
                  <a:cubicBezTo>
                    <a:pt x="1131944" y="253020"/>
                    <a:pt x="1097976" y="267090"/>
                    <a:pt x="1062558" y="267090"/>
                  </a:cubicBezTo>
                  <a:lnTo>
                    <a:pt x="133545" y="267090"/>
                  </a:lnTo>
                  <a:cubicBezTo>
                    <a:pt x="98127" y="267090"/>
                    <a:pt x="64159" y="253020"/>
                    <a:pt x="39114" y="227976"/>
                  </a:cubicBezTo>
                  <a:cubicBezTo>
                    <a:pt x="14070" y="202931"/>
                    <a:pt x="0" y="168963"/>
                    <a:pt x="0" y="133545"/>
                  </a:cubicBezTo>
                  <a:lnTo>
                    <a:pt x="0" y="133545"/>
                  </a:lnTo>
                  <a:cubicBezTo>
                    <a:pt x="0" y="98127"/>
                    <a:pt x="14070" y="64159"/>
                    <a:pt x="39114" y="39114"/>
                  </a:cubicBezTo>
                  <a:cubicBezTo>
                    <a:pt x="64159" y="14070"/>
                    <a:pt x="98127" y="0"/>
                    <a:pt x="13354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14AAB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196103" cy="3242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042575" y="3529260"/>
            <a:ext cx="4541453" cy="1014107"/>
            <a:chOff x="0" y="0"/>
            <a:chExt cx="1196103" cy="2670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96103" cy="267090"/>
            </a:xfrm>
            <a:custGeom>
              <a:avLst/>
              <a:gdLst/>
              <a:ahLst/>
              <a:cxnLst/>
              <a:rect l="l" t="t" r="r" b="b"/>
              <a:pathLst>
                <a:path w="1196103" h="267090">
                  <a:moveTo>
                    <a:pt x="133545" y="0"/>
                  </a:moveTo>
                  <a:lnTo>
                    <a:pt x="1062558" y="0"/>
                  </a:lnTo>
                  <a:cubicBezTo>
                    <a:pt x="1097976" y="0"/>
                    <a:pt x="1131944" y="14070"/>
                    <a:pt x="1156988" y="39114"/>
                  </a:cubicBezTo>
                  <a:cubicBezTo>
                    <a:pt x="1182033" y="64159"/>
                    <a:pt x="1196103" y="98127"/>
                    <a:pt x="1196103" y="133545"/>
                  </a:cubicBezTo>
                  <a:lnTo>
                    <a:pt x="1196103" y="133545"/>
                  </a:lnTo>
                  <a:cubicBezTo>
                    <a:pt x="1196103" y="168963"/>
                    <a:pt x="1182033" y="202931"/>
                    <a:pt x="1156988" y="227976"/>
                  </a:cubicBezTo>
                  <a:cubicBezTo>
                    <a:pt x="1131944" y="253020"/>
                    <a:pt x="1097976" y="267090"/>
                    <a:pt x="1062558" y="267090"/>
                  </a:cubicBezTo>
                  <a:lnTo>
                    <a:pt x="133545" y="267090"/>
                  </a:lnTo>
                  <a:cubicBezTo>
                    <a:pt x="98127" y="267090"/>
                    <a:pt x="64159" y="253020"/>
                    <a:pt x="39114" y="227976"/>
                  </a:cubicBezTo>
                  <a:cubicBezTo>
                    <a:pt x="14070" y="202931"/>
                    <a:pt x="0" y="168963"/>
                    <a:pt x="0" y="133545"/>
                  </a:cubicBezTo>
                  <a:lnTo>
                    <a:pt x="0" y="133545"/>
                  </a:lnTo>
                  <a:cubicBezTo>
                    <a:pt x="0" y="98127"/>
                    <a:pt x="14070" y="64159"/>
                    <a:pt x="39114" y="39114"/>
                  </a:cubicBezTo>
                  <a:cubicBezTo>
                    <a:pt x="64159" y="14070"/>
                    <a:pt x="98127" y="0"/>
                    <a:pt x="13354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E9710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196103" cy="3242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703972" y="3529260"/>
            <a:ext cx="1014107" cy="1014107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336752" y="3529260"/>
            <a:ext cx="1014107" cy="1014107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9710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169636" y="4707338"/>
            <a:ext cx="12880056" cy="4550962"/>
            <a:chOff x="0" y="0"/>
            <a:chExt cx="3392278" cy="119860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392278" cy="1198607"/>
            </a:xfrm>
            <a:custGeom>
              <a:avLst/>
              <a:gdLst/>
              <a:ahLst/>
              <a:cxnLst/>
              <a:rect l="l" t="t" r="r" b="b"/>
              <a:pathLst>
                <a:path w="3392278" h="1198607">
                  <a:moveTo>
                    <a:pt x="31857" y="0"/>
                  </a:moveTo>
                  <a:lnTo>
                    <a:pt x="3360421" y="0"/>
                  </a:lnTo>
                  <a:cubicBezTo>
                    <a:pt x="3368870" y="0"/>
                    <a:pt x="3376973" y="3356"/>
                    <a:pt x="3382947" y="9331"/>
                  </a:cubicBezTo>
                  <a:cubicBezTo>
                    <a:pt x="3388922" y="15305"/>
                    <a:pt x="3392278" y="23408"/>
                    <a:pt x="3392278" y="31857"/>
                  </a:cubicBezTo>
                  <a:lnTo>
                    <a:pt x="3392278" y="1166750"/>
                  </a:lnTo>
                  <a:cubicBezTo>
                    <a:pt x="3392278" y="1184344"/>
                    <a:pt x="3378015" y="1198607"/>
                    <a:pt x="3360421" y="1198607"/>
                  </a:cubicBezTo>
                  <a:lnTo>
                    <a:pt x="31857" y="1198607"/>
                  </a:lnTo>
                  <a:cubicBezTo>
                    <a:pt x="14263" y="1198607"/>
                    <a:pt x="0" y="1184344"/>
                    <a:pt x="0" y="1166750"/>
                  </a:cubicBezTo>
                  <a:lnTo>
                    <a:pt x="0" y="31857"/>
                  </a:lnTo>
                  <a:cubicBezTo>
                    <a:pt x="0" y="14263"/>
                    <a:pt x="14263" y="0"/>
                    <a:pt x="318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3392278" cy="12557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2922576" y="3718664"/>
            <a:ext cx="583526" cy="561644"/>
          </a:xfrm>
          <a:custGeom>
            <a:avLst/>
            <a:gdLst/>
            <a:ahLst/>
            <a:cxnLst/>
            <a:rect l="l" t="t" r="r" b="b"/>
            <a:pathLst>
              <a:path w="583526" h="561644">
                <a:moveTo>
                  <a:pt x="0" y="0"/>
                </a:moveTo>
                <a:lnTo>
                  <a:pt x="583526" y="0"/>
                </a:lnTo>
                <a:lnTo>
                  <a:pt x="583526" y="561643"/>
                </a:lnTo>
                <a:lnTo>
                  <a:pt x="0" y="561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0397189" y="3546283"/>
            <a:ext cx="934550" cy="927042"/>
          </a:xfrm>
          <a:custGeom>
            <a:avLst/>
            <a:gdLst/>
            <a:ahLst/>
            <a:cxnLst/>
            <a:rect l="l" t="t" r="r" b="b"/>
            <a:pathLst>
              <a:path w="1031695" h="1091940">
                <a:moveTo>
                  <a:pt x="0" y="0"/>
                </a:moveTo>
                <a:lnTo>
                  <a:pt x="1031695" y="0"/>
                </a:lnTo>
                <a:lnTo>
                  <a:pt x="1031695" y="1091940"/>
                </a:lnTo>
                <a:lnTo>
                  <a:pt x="0" y="1091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3741893" y="1845373"/>
            <a:ext cx="10804215" cy="999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94"/>
              </a:lnSpc>
            </a:pPr>
            <a:r>
              <a:rPr lang="en-US" sz="7494" b="1" spc="149" dirty="0">
                <a:solidFill>
                  <a:srgbClr val="011A3C"/>
                </a:solidFill>
                <a:latin typeface="Gotham Bold"/>
                <a:ea typeface="Gotham Bold"/>
                <a:cs typeface="Gotham Bold"/>
                <a:sym typeface="Gotham Bold"/>
              </a:rPr>
              <a:t>Research Objectives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991615" y="3801382"/>
            <a:ext cx="3723907" cy="455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7"/>
              </a:lnSpc>
            </a:pPr>
            <a:r>
              <a:rPr lang="en-US" sz="2698" b="1" dirty="0">
                <a:solidFill>
                  <a:srgbClr val="011A3C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Path Planning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624395" y="3801382"/>
            <a:ext cx="3723907" cy="455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7"/>
              </a:lnSpc>
            </a:pPr>
            <a:r>
              <a:rPr lang="en-US" sz="2698" b="1">
                <a:solidFill>
                  <a:srgbClr val="011A3C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Trajectory Prediction</a:t>
            </a:r>
          </a:p>
        </p:txBody>
      </p:sp>
      <p:sp>
        <p:nvSpPr>
          <p:cNvPr id="34" name="AutoShape 34"/>
          <p:cNvSpPr/>
          <p:nvPr/>
        </p:nvSpPr>
        <p:spPr>
          <a:xfrm flipV="1">
            <a:off x="7951248" y="3078134"/>
            <a:ext cx="12134633" cy="0"/>
          </a:xfrm>
          <a:prstGeom prst="line">
            <a:avLst/>
          </a:prstGeom>
          <a:ln w="38100" cap="rnd">
            <a:solidFill>
              <a:srgbClr val="014AA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TextBox 36"/>
          <p:cNvSpPr txBox="1"/>
          <p:nvPr/>
        </p:nvSpPr>
        <p:spPr>
          <a:xfrm>
            <a:off x="2703972" y="4952943"/>
            <a:ext cx="5419181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</a:pPr>
            <a:r>
              <a:rPr lang="en-US" sz="1732" dirty="0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Develop robust real-time path planning algorithms capable of navigating unstructured and dynamic road environments with high reliability and minimal latency.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336752" y="4952943"/>
            <a:ext cx="5419181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</a:pPr>
            <a:r>
              <a:rPr lang="en-US" sz="1732" dirty="0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Design predictive models to anticipate the motion of surrounding vehicles, pedestrians, and dynamic obstacles for safe trajectory generation.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703972" y="6279814"/>
            <a:ext cx="5419181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</a:pPr>
            <a:r>
              <a:rPr lang="en-US" sz="1732" dirty="0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Implement multi-layer obstacle detection and avoidance strategies.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336752" y="6279814"/>
            <a:ext cx="5419181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</a:pPr>
            <a:r>
              <a:rPr lang="en-US" sz="1732" dirty="0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Enable real-time decision-making under uncertainty and sensor noise.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703972" y="7158268"/>
            <a:ext cx="5419181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</a:pPr>
            <a:r>
              <a:rPr lang="en-US" sz="1732" dirty="0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Achieve dynamic environment understanding using semantic scene analysis.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336752" y="7158268"/>
            <a:ext cx="5419181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</a:pPr>
            <a:r>
              <a:rPr lang="en-US" sz="1732" dirty="0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Ensure safe autonomous navigation across diverse road scenarios.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703972" y="8034493"/>
            <a:ext cx="5419181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</a:pPr>
            <a:r>
              <a:rPr lang="en-US" sz="1732" dirty="0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Validate system performance through simulation and real-world datasets.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336752" y="8034493"/>
            <a:ext cx="5419181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</a:pPr>
            <a:r>
              <a:rPr lang="en-US" sz="1732" dirty="0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Integrate planning with perception for end-to-end autonomous control.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4546107" y="9008976"/>
            <a:ext cx="2954069" cy="2765512"/>
            <a:chOff x="0" y="0"/>
            <a:chExt cx="596900" cy="558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30794"/>
                  </a:moveTo>
                  <a:lnTo>
                    <a:pt x="596900" y="274006"/>
                  </a:lnTo>
                  <a:cubicBezTo>
                    <a:pt x="596900" y="293670"/>
                    <a:pt x="588841" y="312476"/>
                    <a:pt x="574601" y="326037"/>
                  </a:cubicBezTo>
                  <a:lnTo>
                    <a:pt x="352499" y="537563"/>
                  </a:lnTo>
                  <a:cubicBezTo>
                    <a:pt x="338184" y="551196"/>
                    <a:pt x="319174" y="558800"/>
                    <a:pt x="299406" y="558800"/>
                  </a:cubicBezTo>
                  <a:lnTo>
                    <a:pt x="30794" y="558800"/>
                  </a:lnTo>
                  <a:cubicBezTo>
                    <a:pt x="13787" y="558800"/>
                    <a:pt x="0" y="545013"/>
                    <a:pt x="0" y="528006"/>
                  </a:cubicBezTo>
                  <a:lnTo>
                    <a:pt x="0" y="279714"/>
                  </a:lnTo>
                  <a:cubicBezTo>
                    <a:pt x="0" y="260056"/>
                    <a:pt x="8086" y="241263"/>
                    <a:pt x="22361" y="227748"/>
                  </a:cubicBezTo>
                  <a:lnTo>
                    <a:pt x="240529" y="21172"/>
                  </a:lnTo>
                  <a:cubicBezTo>
                    <a:pt x="254888" y="7577"/>
                    <a:pt x="273910" y="0"/>
                    <a:pt x="293684" y="0"/>
                  </a:cubicBezTo>
                  <a:lnTo>
                    <a:pt x="566106" y="0"/>
                  </a:lnTo>
                  <a:cubicBezTo>
                    <a:pt x="583113" y="0"/>
                    <a:pt x="596900" y="13787"/>
                    <a:pt x="596900" y="30794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47" name="Freeform 47"/>
          <p:cNvSpPr/>
          <p:nvPr/>
        </p:nvSpPr>
        <p:spPr>
          <a:xfrm>
            <a:off x="14372557" y="9685631"/>
            <a:ext cx="1211471" cy="200443"/>
          </a:xfrm>
          <a:custGeom>
            <a:avLst/>
            <a:gdLst/>
            <a:ahLst/>
            <a:cxnLst/>
            <a:rect l="l" t="t" r="r" b="b"/>
            <a:pathLst>
              <a:path w="1211471" h="200443">
                <a:moveTo>
                  <a:pt x="0" y="0"/>
                </a:moveTo>
                <a:lnTo>
                  <a:pt x="1211471" y="0"/>
                </a:lnTo>
                <a:lnTo>
                  <a:pt x="1211471" y="200444"/>
                </a:lnTo>
                <a:lnTo>
                  <a:pt x="0" y="200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8" name="Group 48"/>
          <p:cNvGrpSpPr/>
          <p:nvPr/>
        </p:nvGrpSpPr>
        <p:grpSpPr>
          <a:xfrm rot="-10800000">
            <a:off x="779460" y="-3002706"/>
            <a:ext cx="4863131" cy="4552719"/>
            <a:chOff x="0" y="0"/>
            <a:chExt cx="596900" cy="558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8706"/>
                  </a:moveTo>
                  <a:lnTo>
                    <a:pt x="596900" y="286094"/>
                  </a:lnTo>
                  <a:cubicBezTo>
                    <a:pt x="596900" y="298039"/>
                    <a:pt x="592004" y="309462"/>
                    <a:pt x="583355" y="317700"/>
                  </a:cubicBezTo>
                  <a:lnTo>
                    <a:pt x="343745" y="545900"/>
                  </a:lnTo>
                  <a:cubicBezTo>
                    <a:pt x="335050" y="554181"/>
                    <a:pt x="323502" y="558800"/>
                    <a:pt x="311494" y="558800"/>
                  </a:cubicBezTo>
                  <a:lnTo>
                    <a:pt x="18706" y="558800"/>
                  </a:lnTo>
                  <a:cubicBezTo>
                    <a:pt x="13745" y="558800"/>
                    <a:pt x="8987" y="556829"/>
                    <a:pt x="5479" y="553321"/>
                  </a:cubicBezTo>
                  <a:cubicBezTo>
                    <a:pt x="1971" y="549813"/>
                    <a:pt x="0" y="545055"/>
                    <a:pt x="0" y="540094"/>
                  </a:cubicBezTo>
                  <a:lnTo>
                    <a:pt x="0" y="267626"/>
                  </a:lnTo>
                  <a:cubicBezTo>
                    <a:pt x="0" y="255684"/>
                    <a:pt x="4912" y="244269"/>
                    <a:pt x="13583" y="236059"/>
                  </a:cubicBezTo>
                  <a:lnTo>
                    <a:pt x="249307" y="12861"/>
                  </a:lnTo>
                  <a:cubicBezTo>
                    <a:pt x="258029" y="4603"/>
                    <a:pt x="269584" y="0"/>
                    <a:pt x="281596" y="0"/>
                  </a:cubicBezTo>
                  <a:lnTo>
                    <a:pt x="578194" y="0"/>
                  </a:lnTo>
                  <a:cubicBezTo>
                    <a:pt x="583155" y="0"/>
                    <a:pt x="587913" y="1971"/>
                    <a:pt x="591421" y="5479"/>
                  </a:cubicBezTo>
                  <a:cubicBezTo>
                    <a:pt x="594929" y="8987"/>
                    <a:pt x="596900" y="13745"/>
                    <a:pt x="596900" y="18706"/>
                  </a:cubicBezTo>
                  <a:close/>
                </a:path>
              </a:pathLst>
            </a:custGeom>
            <a:ln w="85725" cap="sq">
              <a:solidFill>
                <a:srgbClr val="FE9710"/>
              </a:solidFill>
              <a:prstDash val="solid"/>
              <a:miter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 rot="-10800000">
            <a:off x="1174301" y="-2633068"/>
            <a:ext cx="4073450" cy="3813443"/>
            <a:chOff x="0" y="0"/>
            <a:chExt cx="596900" cy="558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22332"/>
                  </a:moveTo>
                  <a:lnTo>
                    <a:pt x="596900" y="282468"/>
                  </a:lnTo>
                  <a:cubicBezTo>
                    <a:pt x="596900" y="296729"/>
                    <a:pt x="591055" y="310366"/>
                    <a:pt x="580729" y="320201"/>
                  </a:cubicBezTo>
                  <a:lnTo>
                    <a:pt x="346371" y="543399"/>
                  </a:lnTo>
                  <a:cubicBezTo>
                    <a:pt x="335990" y="553285"/>
                    <a:pt x="322204" y="558800"/>
                    <a:pt x="307868" y="558800"/>
                  </a:cubicBezTo>
                  <a:lnTo>
                    <a:pt x="22332" y="558800"/>
                  </a:lnTo>
                  <a:cubicBezTo>
                    <a:pt x="16409" y="558800"/>
                    <a:pt x="10729" y="556447"/>
                    <a:pt x="6541" y="552259"/>
                  </a:cubicBezTo>
                  <a:cubicBezTo>
                    <a:pt x="2353" y="548071"/>
                    <a:pt x="0" y="542391"/>
                    <a:pt x="0" y="536468"/>
                  </a:cubicBezTo>
                  <a:lnTo>
                    <a:pt x="0" y="271252"/>
                  </a:lnTo>
                  <a:cubicBezTo>
                    <a:pt x="0" y="256996"/>
                    <a:pt x="5864" y="243367"/>
                    <a:pt x="16216" y="233566"/>
                  </a:cubicBezTo>
                  <a:lnTo>
                    <a:pt x="246674" y="15354"/>
                  </a:lnTo>
                  <a:cubicBezTo>
                    <a:pt x="257087" y="5495"/>
                    <a:pt x="270882" y="0"/>
                    <a:pt x="285222" y="0"/>
                  </a:cubicBezTo>
                  <a:lnTo>
                    <a:pt x="574568" y="0"/>
                  </a:lnTo>
                  <a:cubicBezTo>
                    <a:pt x="580491" y="0"/>
                    <a:pt x="586171" y="2353"/>
                    <a:pt x="590359" y="6541"/>
                  </a:cubicBezTo>
                  <a:cubicBezTo>
                    <a:pt x="594547" y="10729"/>
                    <a:pt x="596900" y="16409"/>
                    <a:pt x="596900" y="22332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-1338322" y="845118"/>
            <a:ext cx="4235564" cy="935169"/>
            <a:chOff x="0" y="0"/>
            <a:chExt cx="1115539" cy="2463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115539" cy="246300"/>
            </a:xfrm>
            <a:custGeom>
              <a:avLst/>
              <a:gdLst/>
              <a:ahLst/>
              <a:cxnLst/>
              <a:rect l="l" t="t" r="r" b="b"/>
              <a:pathLst>
                <a:path w="1115539" h="246300">
                  <a:moveTo>
                    <a:pt x="63974" y="0"/>
                  </a:moveTo>
                  <a:lnTo>
                    <a:pt x="1051565" y="0"/>
                  </a:lnTo>
                  <a:cubicBezTo>
                    <a:pt x="1086897" y="0"/>
                    <a:pt x="1115539" y="28642"/>
                    <a:pt x="1115539" y="63974"/>
                  </a:cubicBezTo>
                  <a:lnTo>
                    <a:pt x="1115539" y="182325"/>
                  </a:lnTo>
                  <a:cubicBezTo>
                    <a:pt x="1115539" y="217657"/>
                    <a:pt x="1086897" y="246300"/>
                    <a:pt x="1051565" y="246300"/>
                  </a:cubicBezTo>
                  <a:lnTo>
                    <a:pt x="63974" y="246300"/>
                  </a:lnTo>
                  <a:cubicBezTo>
                    <a:pt x="28642" y="246300"/>
                    <a:pt x="0" y="217657"/>
                    <a:pt x="0" y="182325"/>
                  </a:cubicBezTo>
                  <a:lnTo>
                    <a:pt x="0" y="63974"/>
                  </a:lnTo>
                  <a:cubicBezTo>
                    <a:pt x="0" y="28642"/>
                    <a:pt x="28642" y="0"/>
                    <a:pt x="639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57150"/>
              <a:ext cx="1115539" cy="303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57" name="Freeform 57"/>
          <p:cNvSpPr/>
          <p:nvPr/>
        </p:nvSpPr>
        <p:spPr>
          <a:xfrm>
            <a:off x="568565" y="1680065"/>
            <a:ext cx="1211471" cy="200443"/>
          </a:xfrm>
          <a:custGeom>
            <a:avLst/>
            <a:gdLst/>
            <a:ahLst/>
            <a:cxnLst/>
            <a:rect l="l" t="t" r="r" b="b"/>
            <a:pathLst>
              <a:path w="1211471" h="200443">
                <a:moveTo>
                  <a:pt x="0" y="0"/>
                </a:moveTo>
                <a:lnTo>
                  <a:pt x="1211471" y="0"/>
                </a:lnTo>
                <a:lnTo>
                  <a:pt x="1211471" y="200444"/>
                </a:lnTo>
                <a:lnTo>
                  <a:pt x="0" y="2004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 flipH="1" flipV="1">
            <a:off x="402289" y="8450265"/>
            <a:ext cx="1248992" cy="1235367"/>
          </a:xfrm>
          <a:custGeom>
            <a:avLst/>
            <a:gdLst/>
            <a:ahLst/>
            <a:cxnLst/>
            <a:rect l="l" t="t" r="r" b="b"/>
            <a:pathLst>
              <a:path w="1248992" h="1235367">
                <a:moveTo>
                  <a:pt x="1248992" y="1235366"/>
                </a:moveTo>
                <a:lnTo>
                  <a:pt x="0" y="1235366"/>
                </a:lnTo>
                <a:lnTo>
                  <a:pt x="0" y="0"/>
                </a:lnTo>
                <a:lnTo>
                  <a:pt x="1248992" y="0"/>
                </a:lnTo>
                <a:lnTo>
                  <a:pt x="1248992" y="123536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59" name="Freeform 59"/>
          <p:cNvSpPr/>
          <p:nvPr/>
        </p:nvSpPr>
        <p:spPr>
          <a:xfrm>
            <a:off x="16130060" y="845118"/>
            <a:ext cx="1370117" cy="1355170"/>
          </a:xfrm>
          <a:custGeom>
            <a:avLst/>
            <a:gdLst/>
            <a:ahLst/>
            <a:cxnLst/>
            <a:rect l="l" t="t" r="r" b="b"/>
            <a:pathLst>
              <a:path w="1370117" h="1355170">
                <a:moveTo>
                  <a:pt x="0" y="0"/>
                </a:moveTo>
                <a:lnTo>
                  <a:pt x="1370117" y="0"/>
                </a:lnTo>
                <a:lnTo>
                  <a:pt x="1370117" y="1355171"/>
                </a:lnTo>
                <a:lnTo>
                  <a:pt x="0" y="13551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855081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-801911" y="-787414"/>
            <a:ext cx="6005760" cy="5622414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5147"/>
                  </a:moveTo>
                  <a:lnTo>
                    <a:pt x="596900" y="289653"/>
                  </a:lnTo>
                  <a:cubicBezTo>
                    <a:pt x="596900" y="299326"/>
                    <a:pt x="592936" y="308575"/>
                    <a:pt x="585932" y="315246"/>
                  </a:cubicBezTo>
                  <a:lnTo>
                    <a:pt x="341168" y="548354"/>
                  </a:lnTo>
                  <a:cubicBezTo>
                    <a:pt x="334127" y="555060"/>
                    <a:pt x="324777" y="558800"/>
                    <a:pt x="315053" y="558800"/>
                  </a:cubicBezTo>
                  <a:lnTo>
                    <a:pt x="15147" y="558800"/>
                  </a:lnTo>
                  <a:cubicBezTo>
                    <a:pt x="6781" y="558800"/>
                    <a:pt x="0" y="552019"/>
                    <a:pt x="0" y="543653"/>
                  </a:cubicBezTo>
                  <a:lnTo>
                    <a:pt x="0" y="264067"/>
                  </a:lnTo>
                  <a:cubicBezTo>
                    <a:pt x="0" y="254397"/>
                    <a:pt x="3977" y="245154"/>
                    <a:pt x="10999" y="238506"/>
                  </a:cubicBezTo>
                  <a:lnTo>
                    <a:pt x="251891" y="10414"/>
                  </a:lnTo>
                  <a:cubicBezTo>
                    <a:pt x="258954" y="3727"/>
                    <a:pt x="268311" y="0"/>
                    <a:pt x="278037" y="0"/>
                  </a:cubicBezTo>
                  <a:lnTo>
                    <a:pt x="581753" y="0"/>
                  </a:lnTo>
                  <a:cubicBezTo>
                    <a:pt x="590119" y="0"/>
                    <a:pt x="596900" y="6781"/>
                    <a:pt x="596900" y="15147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-875342" y="3892899"/>
            <a:ext cx="1750683" cy="1638937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51961"/>
                  </a:moveTo>
                  <a:lnTo>
                    <a:pt x="596900" y="252839"/>
                  </a:lnTo>
                  <a:cubicBezTo>
                    <a:pt x="596900" y="286020"/>
                    <a:pt x="583301" y="317752"/>
                    <a:pt x="559273" y="340635"/>
                  </a:cubicBezTo>
                  <a:lnTo>
                    <a:pt x="367827" y="522965"/>
                  </a:lnTo>
                  <a:cubicBezTo>
                    <a:pt x="343673" y="545969"/>
                    <a:pt x="311595" y="558800"/>
                    <a:pt x="278239" y="558800"/>
                  </a:cubicBezTo>
                  <a:lnTo>
                    <a:pt x="51961" y="558800"/>
                  </a:lnTo>
                  <a:cubicBezTo>
                    <a:pt x="23264" y="558800"/>
                    <a:pt x="0" y="535536"/>
                    <a:pt x="0" y="506839"/>
                  </a:cubicBezTo>
                  <a:lnTo>
                    <a:pt x="0" y="300881"/>
                  </a:lnTo>
                  <a:cubicBezTo>
                    <a:pt x="0" y="267711"/>
                    <a:pt x="13645" y="236001"/>
                    <a:pt x="37731" y="213194"/>
                  </a:cubicBezTo>
                  <a:lnTo>
                    <a:pt x="225159" y="35726"/>
                  </a:lnTo>
                  <a:cubicBezTo>
                    <a:pt x="249387" y="12785"/>
                    <a:pt x="281485" y="0"/>
                    <a:pt x="314851" y="0"/>
                  </a:cubicBezTo>
                  <a:lnTo>
                    <a:pt x="544939" y="0"/>
                  </a:lnTo>
                  <a:cubicBezTo>
                    <a:pt x="573636" y="0"/>
                    <a:pt x="596900" y="23264"/>
                    <a:pt x="596900" y="51961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220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-2427509" y="4202699"/>
            <a:ext cx="7232336" cy="0"/>
          </a:xfrm>
          <a:prstGeom prst="line">
            <a:avLst/>
          </a:prstGeom>
          <a:ln w="38100" cap="rnd">
            <a:solidFill>
              <a:srgbClr val="FE971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 rot="5400000">
            <a:off x="9360755" y="9150116"/>
            <a:ext cx="5129706" cy="4802278"/>
            <a:chOff x="0" y="0"/>
            <a:chExt cx="596900" cy="558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7733"/>
                  </a:moveTo>
                  <a:lnTo>
                    <a:pt x="596900" y="287067"/>
                  </a:lnTo>
                  <a:cubicBezTo>
                    <a:pt x="596900" y="298391"/>
                    <a:pt x="592259" y="309220"/>
                    <a:pt x="584058" y="317030"/>
                  </a:cubicBezTo>
                  <a:lnTo>
                    <a:pt x="343041" y="546570"/>
                  </a:lnTo>
                  <a:cubicBezTo>
                    <a:pt x="334798" y="554421"/>
                    <a:pt x="323850" y="558800"/>
                    <a:pt x="312467" y="558800"/>
                  </a:cubicBezTo>
                  <a:lnTo>
                    <a:pt x="17733" y="558800"/>
                  </a:lnTo>
                  <a:cubicBezTo>
                    <a:pt x="13030" y="558800"/>
                    <a:pt x="8520" y="556932"/>
                    <a:pt x="5194" y="553606"/>
                  </a:cubicBezTo>
                  <a:cubicBezTo>
                    <a:pt x="1868" y="550280"/>
                    <a:pt x="0" y="545770"/>
                    <a:pt x="0" y="541067"/>
                  </a:cubicBezTo>
                  <a:lnTo>
                    <a:pt x="0" y="266653"/>
                  </a:lnTo>
                  <a:cubicBezTo>
                    <a:pt x="0" y="255333"/>
                    <a:pt x="4657" y="244511"/>
                    <a:pt x="12877" y="236727"/>
                  </a:cubicBezTo>
                  <a:lnTo>
                    <a:pt x="250013" y="12193"/>
                  </a:lnTo>
                  <a:cubicBezTo>
                    <a:pt x="258282" y="4363"/>
                    <a:pt x="269236" y="0"/>
                    <a:pt x="280623" y="0"/>
                  </a:cubicBezTo>
                  <a:lnTo>
                    <a:pt x="579167" y="0"/>
                  </a:lnTo>
                  <a:cubicBezTo>
                    <a:pt x="583870" y="0"/>
                    <a:pt x="588380" y="1868"/>
                    <a:pt x="591706" y="5194"/>
                  </a:cubicBezTo>
                  <a:cubicBezTo>
                    <a:pt x="595032" y="8520"/>
                    <a:pt x="596900" y="13030"/>
                    <a:pt x="596900" y="17733"/>
                  </a:cubicBezTo>
                  <a:close/>
                </a:path>
              </a:pathLst>
            </a:custGeom>
            <a:ln w="190500" cap="sq">
              <a:solidFill>
                <a:srgbClr val="FE971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14645794" y="9824349"/>
            <a:ext cx="11455664" cy="10724451"/>
            <a:chOff x="0" y="0"/>
            <a:chExt cx="596900" cy="558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35734"/>
                  </a:moveTo>
                  <a:lnTo>
                    <a:pt x="596900" y="269066"/>
                  </a:lnTo>
                  <a:cubicBezTo>
                    <a:pt x="596900" y="291885"/>
                    <a:pt x="587548" y="313707"/>
                    <a:pt x="571024" y="329444"/>
                  </a:cubicBezTo>
                  <a:lnTo>
                    <a:pt x="356076" y="534156"/>
                  </a:lnTo>
                  <a:cubicBezTo>
                    <a:pt x="339465" y="549976"/>
                    <a:pt x="317405" y="558800"/>
                    <a:pt x="294466" y="558800"/>
                  </a:cubicBezTo>
                  <a:lnTo>
                    <a:pt x="35734" y="558800"/>
                  </a:lnTo>
                  <a:cubicBezTo>
                    <a:pt x="26257" y="558800"/>
                    <a:pt x="17168" y="555035"/>
                    <a:pt x="10466" y="548334"/>
                  </a:cubicBezTo>
                  <a:cubicBezTo>
                    <a:pt x="3765" y="541632"/>
                    <a:pt x="0" y="532543"/>
                    <a:pt x="0" y="523066"/>
                  </a:cubicBezTo>
                  <a:lnTo>
                    <a:pt x="0" y="284654"/>
                  </a:lnTo>
                  <a:cubicBezTo>
                    <a:pt x="0" y="261842"/>
                    <a:pt x="9383" y="240035"/>
                    <a:pt x="25948" y="224351"/>
                  </a:cubicBezTo>
                  <a:lnTo>
                    <a:pt x="236942" y="24569"/>
                  </a:lnTo>
                  <a:cubicBezTo>
                    <a:pt x="253604" y="8792"/>
                    <a:pt x="275678" y="0"/>
                    <a:pt x="298624" y="0"/>
                  </a:cubicBezTo>
                  <a:lnTo>
                    <a:pt x="561166" y="0"/>
                  </a:lnTo>
                  <a:cubicBezTo>
                    <a:pt x="570643" y="0"/>
                    <a:pt x="579732" y="3765"/>
                    <a:pt x="586434" y="10466"/>
                  </a:cubicBezTo>
                  <a:cubicBezTo>
                    <a:pt x="593135" y="17168"/>
                    <a:pt x="596900" y="26257"/>
                    <a:pt x="596900" y="35734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898232" y="3392941"/>
            <a:ext cx="8115300" cy="6734474"/>
            <a:chOff x="0" y="0"/>
            <a:chExt cx="1575434" cy="177368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75434" cy="1773689"/>
            </a:xfrm>
            <a:custGeom>
              <a:avLst/>
              <a:gdLst/>
              <a:ahLst/>
              <a:cxnLst/>
              <a:rect l="l" t="t" r="r" b="b"/>
              <a:pathLst>
                <a:path w="1575434" h="1773689">
                  <a:moveTo>
                    <a:pt x="38828" y="0"/>
                  </a:moveTo>
                  <a:lnTo>
                    <a:pt x="1536606" y="0"/>
                  </a:lnTo>
                  <a:cubicBezTo>
                    <a:pt x="1546904" y="0"/>
                    <a:pt x="1556780" y="4091"/>
                    <a:pt x="1564062" y="11372"/>
                  </a:cubicBezTo>
                  <a:cubicBezTo>
                    <a:pt x="1571344" y="18654"/>
                    <a:pt x="1575434" y="28530"/>
                    <a:pt x="1575434" y="38828"/>
                  </a:cubicBezTo>
                  <a:lnTo>
                    <a:pt x="1575434" y="1734861"/>
                  </a:lnTo>
                  <a:cubicBezTo>
                    <a:pt x="1575434" y="1756305"/>
                    <a:pt x="1558050" y="1773689"/>
                    <a:pt x="1536606" y="1773689"/>
                  </a:cubicBezTo>
                  <a:lnTo>
                    <a:pt x="38828" y="1773689"/>
                  </a:lnTo>
                  <a:cubicBezTo>
                    <a:pt x="17384" y="1773689"/>
                    <a:pt x="0" y="1756305"/>
                    <a:pt x="0" y="1734861"/>
                  </a:cubicBezTo>
                  <a:lnTo>
                    <a:pt x="0" y="38828"/>
                  </a:lnTo>
                  <a:cubicBezTo>
                    <a:pt x="0" y="17384"/>
                    <a:pt x="17384" y="0"/>
                    <a:pt x="3882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575434" cy="18308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47177" y="1393832"/>
            <a:ext cx="7609487" cy="1942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494"/>
              </a:lnSpc>
            </a:pPr>
            <a:r>
              <a:rPr lang="en-US" sz="7494" b="1" spc="149" dirty="0">
                <a:solidFill>
                  <a:srgbClr val="011A3C"/>
                </a:solidFill>
                <a:latin typeface="Gotham Bold"/>
                <a:ea typeface="Gotham Bold"/>
                <a:cs typeface="Gotham Bold"/>
                <a:sym typeface="Gotham Bold"/>
              </a:rPr>
              <a:t>System</a:t>
            </a:r>
          </a:p>
          <a:p>
            <a:pPr marL="0" lvl="0" indent="0" algn="l">
              <a:lnSpc>
                <a:spcPts val="7494"/>
              </a:lnSpc>
            </a:pPr>
            <a:r>
              <a:rPr lang="en-US" sz="7494" b="1" spc="149" dirty="0">
                <a:solidFill>
                  <a:srgbClr val="011A3C"/>
                </a:solidFill>
                <a:latin typeface="Gotham Bold"/>
                <a:ea typeface="Gotham Bold"/>
                <a:cs typeface="Gotham Bold"/>
                <a:sym typeface="Gotham Bold"/>
              </a:rPr>
              <a:t>Overview</a:t>
            </a:r>
          </a:p>
        </p:txBody>
      </p:sp>
      <p:sp>
        <p:nvSpPr>
          <p:cNvPr id="19" name="Freeform 19"/>
          <p:cNvSpPr/>
          <p:nvPr/>
        </p:nvSpPr>
        <p:spPr>
          <a:xfrm>
            <a:off x="16064016" y="792280"/>
            <a:ext cx="1670629" cy="1652404"/>
          </a:xfrm>
          <a:custGeom>
            <a:avLst/>
            <a:gdLst/>
            <a:ahLst/>
            <a:cxnLst/>
            <a:rect l="l" t="t" r="r" b="b"/>
            <a:pathLst>
              <a:path w="1670629" h="1652404">
                <a:moveTo>
                  <a:pt x="0" y="0"/>
                </a:moveTo>
                <a:lnTo>
                  <a:pt x="1670629" y="0"/>
                </a:lnTo>
                <a:lnTo>
                  <a:pt x="1670629" y="1652404"/>
                </a:lnTo>
                <a:lnTo>
                  <a:pt x="0" y="16524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5545340" y="9258300"/>
            <a:ext cx="1211471" cy="200443"/>
          </a:xfrm>
          <a:custGeom>
            <a:avLst/>
            <a:gdLst/>
            <a:ahLst/>
            <a:cxnLst/>
            <a:rect l="l" t="t" r="r" b="b"/>
            <a:pathLst>
              <a:path w="1211471" h="200443">
                <a:moveTo>
                  <a:pt x="0" y="0"/>
                </a:moveTo>
                <a:lnTo>
                  <a:pt x="1211472" y="0"/>
                </a:lnTo>
                <a:lnTo>
                  <a:pt x="1211472" y="200443"/>
                </a:lnTo>
                <a:lnTo>
                  <a:pt x="0" y="2004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9003546" y="2518384"/>
            <a:ext cx="652501" cy="696428"/>
          </a:xfrm>
          <a:custGeom>
            <a:avLst/>
            <a:gdLst/>
            <a:ahLst/>
            <a:cxnLst/>
            <a:rect l="l" t="t" r="r" b="b"/>
            <a:pathLst>
              <a:path w="652501" h="696428">
                <a:moveTo>
                  <a:pt x="0" y="0"/>
                </a:moveTo>
                <a:lnTo>
                  <a:pt x="652501" y="0"/>
                </a:lnTo>
                <a:lnTo>
                  <a:pt x="652501" y="696428"/>
                </a:lnTo>
                <a:lnTo>
                  <a:pt x="0" y="6964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3" name="TextBox 33"/>
          <p:cNvSpPr txBox="1"/>
          <p:nvPr/>
        </p:nvSpPr>
        <p:spPr>
          <a:xfrm>
            <a:off x="10063655" y="2629840"/>
            <a:ext cx="3723907" cy="381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4"/>
              </a:lnSpc>
            </a:pPr>
            <a:r>
              <a:rPr lang="en-US" sz="2231" b="1" dirty="0">
                <a:solidFill>
                  <a:srgbClr val="011A3C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Planning &amp; Control Pipeline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8000488" y="-1161592"/>
            <a:ext cx="2287024" cy="2141044"/>
            <a:chOff x="0" y="0"/>
            <a:chExt cx="596900" cy="558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39776"/>
                  </a:moveTo>
                  <a:lnTo>
                    <a:pt x="596900" y="265024"/>
                  </a:lnTo>
                  <a:cubicBezTo>
                    <a:pt x="596900" y="290424"/>
                    <a:pt x="586490" y="314714"/>
                    <a:pt x="568097" y="332231"/>
                  </a:cubicBezTo>
                  <a:lnTo>
                    <a:pt x="359003" y="531369"/>
                  </a:lnTo>
                  <a:cubicBezTo>
                    <a:pt x="340513" y="548978"/>
                    <a:pt x="315958" y="558800"/>
                    <a:pt x="290424" y="558800"/>
                  </a:cubicBezTo>
                  <a:lnTo>
                    <a:pt x="39776" y="558800"/>
                  </a:lnTo>
                  <a:cubicBezTo>
                    <a:pt x="29226" y="558800"/>
                    <a:pt x="19109" y="554609"/>
                    <a:pt x="11650" y="547150"/>
                  </a:cubicBezTo>
                  <a:cubicBezTo>
                    <a:pt x="4191" y="539691"/>
                    <a:pt x="0" y="529574"/>
                    <a:pt x="0" y="519024"/>
                  </a:cubicBezTo>
                  <a:lnTo>
                    <a:pt x="0" y="288696"/>
                  </a:lnTo>
                  <a:cubicBezTo>
                    <a:pt x="0" y="263304"/>
                    <a:pt x="10445" y="239030"/>
                    <a:pt x="28882" y="221572"/>
                  </a:cubicBezTo>
                  <a:lnTo>
                    <a:pt x="234008" y="27348"/>
                  </a:lnTo>
                  <a:cubicBezTo>
                    <a:pt x="252554" y="9787"/>
                    <a:pt x="277124" y="0"/>
                    <a:pt x="302666" y="0"/>
                  </a:cubicBezTo>
                  <a:lnTo>
                    <a:pt x="557124" y="0"/>
                  </a:lnTo>
                  <a:cubicBezTo>
                    <a:pt x="567674" y="0"/>
                    <a:pt x="577791" y="4191"/>
                    <a:pt x="585250" y="11650"/>
                  </a:cubicBezTo>
                  <a:cubicBezTo>
                    <a:pt x="592709" y="19109"/>
                    <a:pt x="596900" y="29226"/>
                    <a:pt x="596900" y="39776"/>
                  </a:cubicBezTo>
                  <a:close/>
                </a:path>
              </a:pathLst>
            </a:custGeom>
            <a:solidFill>
              <a:srgbClr val="FE9710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45" name="Freeform 45"/>
          <p:cNvSpPr/>
          <p:nvPr/>
        </p:nvSpPr>
        <p:spPr>
          <a:xfrm>
            <a:off x="7394752" y="341699"/>
            <a:ext cx="1211471" cy="200443"/>
          </a:xfrm>
          <a:custGeom>
            <a:avLst/>
            <a:gdLst/>
            <a:ahLst/>
            <a:cxnLst/>
            <a:rect l="l" t="t" r="r" b="b"/>
            <a:pathLst>
              <a:path w="1211471" h="200443">
                <a:moveTo>
                  <a:pt x="0" y="0"/>
                </a:moveTo>
                <a:lnTo>
                  <a:pt x="1211472" y="0"/>
                </a:lnTo>
                <a:lnTo>
                  <a:pt x="1211472" y="200443"/>
                </a:lnTo>
                <a:lnTo>
                  <a:pt x="0" y="2004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 flipH="1" flipV="1">
            <a:off x="404204" y="8740838"/>
            <a:ext cx="1145306" cy="1132812"/>
          </a:xfrm>
          <a:custGeom>
            <a:avLst/>
            <a:gdLst/>
            <a:ahLst/>
            <a:cxnLst/>
            <a:rect l="l" t="t" r="r" b="b"/>
            <a:pathLst>
              <a:path w="1145306" h="1132812">
                <a:moveTo>
                  <a:pt x="1145306" y="1132812"/>
                </a:moveTo>
                <a:lnTo>
                  <a:pt x="0" y="1132812"/>
                </a:lnTo>
                <a:lnTo>
                  <a:pt x="0" y="0"/>
                </a:lnTo>
                <a:lnTo>
                  <a:pt x="1145306" y="0"/>
                </a:lnTo>
                <a:lnTo>
                  <a:pt x="1145306" y="11328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F771E12-D671-B3C3-ED6A-D2629BB43AC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19" b="5028"/>
          <a:stretch/>
        </p:blipFill>
        <p:spPr>
          <a:xfrm>
            <a:off x="6222932" y="3317825"/>
            <a:ext cx="11805840" cy="62521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-801911" y="-787414"/>
            <a:ext cx="6005760" cy="5622414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5147"/>
                  </a:moveTo>
                  <a:lnTo>
                    <a:pt x="596900" y="289653"/>
                  </a:lnTo>
                  <a:cubicBezTo>
                    <a:pt x="596900" y="299326"/>
                    <a:pt x="592936" y="308575"/>
                    <a:pt x="585932" y="315246"/>
                  </a:cubicBezTo>
                  <a:lnTo>
                    <a:pt x="341168" y="548354"/>
                  </a:lnTo>
                  <a:cubicBezTo>
                    <a:pt x="334127" y="555060"/>
                    <a:pt x="324777" y="558800"/>
                    <a:pt x="315053" y="558800"/>
                  </a:cubicBezTo>
                  <a:lnTo>
                    <a:pt x="15147" y="558800"/>
                  </a:lnTo>
                  <a:cubicBezTo>
                    <a:pt x="6781" y="558800"/>
                    <a:pt x="0" y="552019"/>
                    <a:pt x="0" y="543653"/>
                  </a:cubicBezTo>
                  <a:lnTo>
                    <a:pt x="0" y="264067"/>
                  </a:lnTo>
                  <a:cubicBezTo>
                    <a:pt x="0" y="254397"/>
                    <a:pt x="3977" y="245154"/>
                    <a:pt x="10999" y="238506"/>
                  </a:cubicBezTo>
                  <a:lnTo>
                    <a:pt x="251891" y="10414"/>
                  </a:lnTo>
                  <a:cubicBezTo>
                    <a:pt x="258954" y="3727"/>
                    <a:pt x="268311" y="0"/>
                    <a:pt x="278037" y="0"/>
                  </a:cubicBezTo>
                  <a:lnTo>
                    <a:pt x="581753" y="0"/>
                  </a:lnTo>
                  <a:cubicBezTo>
                    <a:pt x="590119" y="0"/>
                    <a:pt x="596900" y="6781"/>
                    <a:pt x="596900" y="15147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-875342" y="3892899"/>
            <a:ext cx="1750683" cy="1638937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51961"/>
                  </a:moveTo>
                  <a:lnTo>
                    <a:pt x="596900" y="252839"/>
                  </a:lnTo>
                  <a:cubicBezTo>
                    <a:pt x="596900" y="286020"/>
                    <a:pt x="583301" y="317752"/>
                    <a:pt x="559273" y="340635"/>
                  </a:cubicBezTo>
                  <a:lnTo>
                    <a:pt x="367827" y="522965"/>
                  </a:lnTo>
                  <a:cubicBezTo>
                    <a:pt x="343673" y="545969"/>
                    <a:pt x="311595" y="558800"/>
                    <a:pt x="278239" y="558800"/>
                  </a:cubicBezTo>
                  <a:lnTo>
                    <a:pt x="51961" y="558800"/>
                  </a:lnTo>
                  <a:cubicBezTo>
                    <a:pt x="23264" y="558800"/>
                    <a:pt x="0" y="535536"/>
                    <a:pt x="0" y="506839"/>
                  </a:cubicBezTo>
                  <a:lnTo>
                    <a:pt x="0" y="300881"/>
                  </a:lnTo>
                  <a:cubicBezTo>
                    <a:pt x="0" y="267711"/>
                    <a:pt x="13645" y="236001"/>
                    <a:pt x="37731" y="213194"/>
                  </a:cubicBezTo>
                  <a:lnTo>
                    <a:pt x="225159" y="35726"/>
                  </a:lnTo>
                  <a:cubicBezTo>
                    <a:pt x="249387" y="12785"/>
                    <a:pt x="281485" y="0"/>
                    <a:pt x="314851" y="0"/>
                  </a:cubicBezTo>
                  <a:lnTo>
                    <a:pt x="544939" y="0"/>
                  </a:lnTo>
                  <a:cubicBezTo>
                    <a:pt x="573636" y="0"/>
                    <a:pt x="596900" y="23264"/>
                    <a:pt x="596900" y="51961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220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-2427509" y="4202699"/>
            <a:ext cx="7232336" cy="0"/>
          </a:xfrm>
          <a:prstGeom prst="line">
            <a:avLst/>
          </a:prstGeom>
          <a:ln w="38100" cap="rnd">
            <a:solidFill>
              <a:srgbClr val="FE971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 rot="5400000">
            <a:off x="10005635" y="6369713"/>
            <a:ext cx="5129706" cy="4802278"/>
            <a:chOff x="0" y="0"/>
            <a:chExt cx="596900" cy="558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7733"/>
                  </a:moveTo>
                  <a:lnTo>
                    <a:pt x="596900" y="287067"/>
                  </a:lnTo>
                  <a:cubicBezTo>
                    <a:pt x="596900" y="298391"/>
                    <a:pt x="592259" y="309220"/>
                    <a:pt x="584058" y="317030"/>
                  </a:cubicBezTo>
                  <a:lnTo>
                    <a:pt x="343041" y="546570"/>
                  </a:lnTo>
                  <a:cubicBezTo>
                    <a:pt x="334798" y="554421"/>
                    <a:pt x="323850" y="558800"/>
                    <a:pt x="312467" y="558800"/>
                  </a:cubicBezTo>
                  <a:lnTo>
                    <a:pt x="17733" y="558800"/>
                  </a:lnTo>
                  <a:cubicBezTo>
                    <a:pt x="13030" y="558800"/>
                    <a:pt x="8520" y="556932"/>
                    <a:pt x="5194" y="553606"/>
                  </a:cubicBezTo>
                  <a:cubicBezTo>
                    <a:pt x="1868" y="550280"/>
                    <a:pt x="0" y="545770"/>
                    <a:pt x="0" y="541067"/>
                  </a:cubicBezTo>
                  <a:lnTo>
                    <a:pt x="0" y="266653"/>
                  </a:lnTo>
                  <a:cubicBezTo>
                    <a:pt x="0" y="255333"/>
                    <a:pt x="4657" y="244511"/>
                    <a:pt x="12877" y="236727"/>
                  </a:cubicBezTo>
                  <a:lnTo>
                    <a:pt x="250013" y="12193"/>
                  </a:lnTo>
                  <a:cubicBezTo>
                    <a:pt x="258282" y="4363"/>
                    <a:pt x="269236" y="0"/>
                    <a:pt x="280623" y="0"/>
                  </a:cubicBezTo>
                  <a:lnTo>
                    <a:pt x="579167" y="0"/>
                  </a:lnTo>
                  <a:cubicBezTo>
                    <a:pt x="583870" y="0"/>
                    <a:pt x="588380" y="1868"/>
                    <a:pt x="591706" y="5194"/>
                  </a:cubicBezTo>
                  <a:cubicBezTo>
                    <a:pt x="595032" y="8520"/>
                    <a:pt x="596900" y="13030"/>
                    <a:pt x="596900" y="17733"/>
                  </a:cubicBezTo>
                  <a:close/>
                </a:path>
              </a:pathLst>
            </a:custGeom>
            <a:ln w="190500" cap="sq">
              <a:solidFill>
                <a:srgbClr val="FE971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11431027" y="5144297"/>
            <a:ext cx="11455664" cy="10724451"/>
            <a:chOff x="0" y="0"/>
            <a:chExt cx="596900" cy="558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35734"/>
                  </a:moveTo>
                  <a:lnTo>
                    <a:pt x="596900" y="269066"/>
                  </a:lnTo>
                  <a:cubicBezTo>
                    <a:pt x="596900" y="291885"/>
                    <a:pt x="587548" y="313707"/>
                    <a:pt x="571024" y="329444"/>
                  </a:cubicBezTo>
                  <a:lnTo>
                    <a:pt x="356076" y="534156"/>
                  </a:lnTo>
                  <a:cubicBezTo>
                    <a:pt x="339465" y="549976"/>
                    <a:pt x="317405" y="558800"/>
                    <a:pt x="294466" y="558800"/>
                  </a:cubicBezTo>
                  <a:lnTo>
                    <a:pt x="35734" y="558800"/>
                  </a:lnTo>
                  <a:cubicBezTo>
                    <a:pt x="26257" y="558800"/>
                    <a:pt x="17168" y="555035"/>
                    <a:pt x="10466" y="548334"/>
                  </a:cubicBezTo>
                  <a:cubicBezTo>
                    <a:pt x="3765" y="541632"/>
                    <a:pt x="0" y="532543"/>
                    <a:pt x="0" y="523066"/>
                  </a:cubicBezTo>
                  <a:lnTo>
                    <a:pt x="0" y="284654"/>
                  </a:lnTo>
                  <a:cubicBezTo>
                    <a:pt x="0" y="261842"/>
                    <a:pt x="9383" y="240035"/>
                    <a:pt x="25948" y="224351"/>
                  </a:cubicBezTo>
                  <a:lnTo>
                    <a:pt x="236942" y="24569"/>
                  </a:lnTo>
                  <a:cubicBezTo>
                    <a:pt x="253604" y="8792"/>
                    <a:pt x="275678" y="0"/>
                    <a:pt x="298624" y="0"/>
                  </a:cubicBezTo>
                  <a:lnTo>
                    <a:pt x="561166" y="0"/>
                  </a:lnTo>
                  <a:cubicBezTo>
                    <a:pt x="570643" y="0"/>
                    <a:pt x="579732" y="3765"/>
                    <a:pt x="586434" y="10466"/>
                  </a:cubicBezTo>
                  <a:cubicBezTo>
                    <a:pt x="593135" y="17168"/>
                    <a:pt x="596900" y="26257"/>
                    <a:pt x="596900" y="35734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69349" y="1886002"/>
            <a:ext cx="5981727" cy="6734474"/>
            <a:chOff x="0" y="0"/>
            <a:chExt cx="1575434" cy="177368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75434" cy="1773689"/>
            </a:xfrm>
            <a:custGeom>
              <a:avLst/>
              <a:gdLst/>
              <a:ahLst/>
              <a:cxnLst/>
              <a:rect l="l" t="t" r="r" b="b"/>
              <a:pathLst>
                <a:path w="1575434" h="1773689">
                  <a:moveTo>
                    <a:pt x="38828" y="0"/>
                  </a:moveTo>
                  <a:lnTo>
                    <a:pt x="1536606" y="0"/>
                  </a:lnTo>
                  <a:cubicBezTo>
                    <a:pt x="1546904" y="0"/>
                    <a:pt x="1556780" y="4091"/>
                    <a:pt x="1564062" y="11372"/>
                  </a:cubicBezTo>
                  <a:cubicBezTo>
                    <a:pt x="1571344" y="18654"/>
                    <a:pt x="1575434" y="28530"/>
                    <a:pt x="1575434" y="38828"/>
                  </a:cubicBezTo>
                  <a:lnTo>
                    <a:pt x="1575434" y="1734861"/>
                  </a:lnTo>
                  <a:cubicBezTo>
                    <a:pt x="1575434" y="1756305"/>
                    <a:pt x="1558050" y="1773689"/>
                    <a:pt x="1536606" y="1773689"/>
                  </a:cubicBezTo>
                  <a:lnTo>
                    <a:pt x="38828" y="1773689"/>
                  </a:lnTo>
                  <a:cubicBezTo>
                    <a:pt x="17384" y="1773689"/>
                    <a:pt x="0" y="1756305"/>
                    <a:pt x="0" y="1734861"/>
                  </a:cubicBezTo>
                  <a:lnTo>
                    <a:pt x="0" y="38828"/>
                  </a:lnTo>
                  <a:cubicBezTo>
                    <a:pt x="0" y="17384"/>
                    <a:pt x="17384" y="0"/>
                    <a:pt x="3882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575434" cy="18308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02761" y="1893956"/>
            <a:ext cx="8115300" cy="1942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94"/>
              </a:lnSpc>
            </a:pPr>
            <a:r>
              <a:rPr lang="en-US" sz="7494" b="1" spc="149">
                <a:solidFill>
                  <a:srgbClr val="011A3C"/>
                </a:solidFill>
                <a:latin typeface="Gotham Bold"/>
                <a:ea typeface="Gotham Bold"/>
                <a:cs typeface="Gotham Bold"/>
                <a:sym typeface="Gotham Bold"/>
              </a:rPr>
              <a:t>System</a:t>
            </a:r>
          </a:p>
          <a:p>
            <a:pPr marL="0" lvl="0" indent="0" algn="l">
              <a:lnSpc>
                <a:spcPts val="7494"/>
              </a:lnSpc>
            </a:pPr>
            <a:r>
              <a:rPr lang="en-US" sz="7494" b="1" spc="149">
                <a:solidFill>
                  <a:srgbClr val="011A3C"/>
                </a:solidFill>
                <a:latin typeface="Gotham Bold"/>
                <a:ea typeface="Gotham Bold"/>
                <a:cs typeface="Gotham Bold"/>
                <a:sym typeface="Gotham Bold"/>
              </a:rPr>
              <a:t>Overview</a:t>
            </a:r>
          </a:p>
        </p:txBody>
      </p:sp>
      <p:sp>
        <p:nvSpPr>
          <p:cNvPr id="19" name="Freeform 19"/>
          <p:cNvSpPr/>
          <p:nvPr/>
        </p:nvSpPr>
        <p:spPr>
          <a:xfrm>
            <a:off x="16064016" y="792280"/>
            <a:ext cx="1670629" cy="1652404"/>
          </a:xfrm>
          <a:custGeom>
            <a:avLst/>
            <a:gdLst/>
            <a:ahLst/>
            <a:cxnLst/>
            <a:rect l="l" t="t" r="r" b="b"/>
            <a:pathLst>
              <a:path w="1670629" h="1652404">
                <a:moveTo>
                  <a:pt x="0" y="0"/>
                </a:moveTo>
                <a:lnTo>
                  <a:pt x="1670629" y="0"/>
                </a:lnTo>
                <a:lnTo>
                  <a:pt x="1670629" y="1652404"/>
                </a:lnTo>
                <a:lnTo>
                  <a:pt x="0" y="16524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215085" y="6250839"/>
            <a:ext cx="4139340" cy="924316"/>
            <a:chOff x="0" y="0"/>
            <a:chExt cx="1090197" cy="24344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90197" cy="243441"/>
            </a:xfrm>
            <a:custGeom>
              <a:avLst/>
              <a:gdLst/>
              <a:ahLst/>
              <a:cxnLst/>
              <a:rect l="l" t="t" r="r" b="b"/>
              <a:pathLst>
                <a:path w="1090197" h="243441">
                  <a:moveTo>
                    <a:pt x="121721" y="0"/>
                  </a:moveTo>
                  <a:lnTo>
                    <a:pt x="968476" y="0"/>
                  </a:lnTo>
                  <a:cubicBezTo>
                    <a:pt x="1000758" y="0"/>
                    <a:pt x="1031718" y="12824"/>
                    <a:pt x="1054546" y="35651"/>
                  </a:cubicBezTo>
                  <a:cubicBezTo>
                    <a:pt x="1077373" y="58478"/>
                    <a:pt x="1090197" y="89438"/>
                    <a:pt x="1090197" y="121721"/>
                  </a:cubicBezTo>
                  <a:lnTo>
                    <a:pt x="1090197" y="121721"/>
                  </a:lnTo>
                  <a:cubicBezTo>
                    <a:pt x="1090197" y="188945"/>
                    <a:pt x="1035700" y="243441"/>
                    <a:pt x="968476" y="243441"/>
                  </a:cubicBezTo>
                  <a:lnTo>
                    <a:pt x="121721" y="243441"/>
                  </a:lnTo>
                  <a:cubicBezTo>
                    <a:pt x="89438" y="243441"/>
                    <a:pt x="58478" y="230617"/>
                    <a:pt x="35651" y="207790"/>
                  </a:cubicBezTo>
                  <a:cubicBezTo>
                    <a:pt x="12824" y="184963"/>
                    <a:pt x="0" y="154003"/>
                    <a:pt x="0" y="121721"/>
                  </a:cubicBezTo>
                  <a:lnTo>
                    <a:pt x="0" y="121721"/>
                  </a:lnTo>
                  <a:cubicBezTo>
                    <a:pt x="0" y="89438"/>
                    <a:pt x="12824" y="58478"/>
                    <a:pt x="35651" y="35651"/>
                  </a:cubicBezTo>
                  <a:cubicBezTo>
                    <a:pt x="58478" y="12824"/>
                    <a:pt x="89438" y="0"/>
                    <a:pt x="121721" y="0"/>
                  </a:cubicBezTo>
                  <a:close/>
                </a:path>
              </a:pathLst>
            </a:custGeom>
            <a:solidFill>
              <a:srgbClr val="014AAB"/>
            </a:solidFill>
            <a:ln cap="rnd">
              <a:noFill/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090197" cy="3005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431105" y="2357718"/>
            <a:ext cx="4731056" cy="1014107"/>
            <a:chOff x="0" y="0"/>
            <a:chExt cx="1246040" cy="26709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46040" cy="267090"/>
            </a:xfrm>
            <a:custGeom>
              <a:avLst/>
              <a:gdLst/>
              <a:ahLst/>
              <a:cxnLst/>
              <a:rect l="l" t="t" r="r" b="b"/>
              <a:pathLst>
                <a:path w="1246040" h="267090">
                  <a:moveTo>
                    <a:pt x="133545" y="0"/>
                  </a:moveTo>
                  <a:lnTo>
                    <a:pt x="1112494" y="0"/>
                  </a:lnTo>
                  <a:cubicBezTo>
                    <a:pt x="1186249" y="0"/>
                    <a:pt x="1246040" y="59790"/>
                    <a:pt x="1246040" y="133545"/>
                  </a:cubicBezTo>
                  <a:lnTo>
                    <a:pt x="1246040" y="133545"/>
                  </a:lnTo>
                  <a:cubicBezTo>
                    <a:pt x="1246040" y="168963"/>
                    <a:pt x="1231970" y="202931"/>
                    <a:pt x="1206925" y="227976"/>
                  </a:cubicBezTo>
                  <a:cubicBezTo>
                    <a:pt x="1181881" y="253020"/>
                    <a:pt x="1147913" y="267090"/>
                    <a:pt x="1112494" y="267090"/>
                  </a:cubicBezTo>
                  <a:lnTo>
                    <a:pt x="133545" y="267090"/>
                  </a:lnTo>
                  <a:cubicBezTo>
                    <a:pt x="98127" y="267090"/>
                    <a:pt x="64159" y="253020"/>
                    <a:pt x="39114" y="227976"/>
                  </a:cubicBezTo>
                  <a:cubicBezTo>
                    <a:pt x="14070" y="202931"/>
                    <a:pt x="0" y="168963"/>
                    <a:pt x="0" y="133545"/>
                  </a:cubicBezTo>
                  <a:lnTo>
                    <a:pt x="0" y="133545"/>
                  </a:lnTo>
                  <a:cubicBezTo>
                    <a:pt x="0" y="98127"/>
                    <a:pt x="14070" y="64159"/>
                    <a:pt x="39114" y="39114"/>
                  </a:cubicBezTo>
                  <a:cubicBezTo>
                    <a:pt x="64159" y="14070"/>
                    <a:pt x="98127" y="0"/>
                    <a:pt x="13354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E9710"/>
              </a:soli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1246040" cy="3242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721658" y="2259882"/>
            <a:ext cx="1209779" cy="1209779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971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15545340" y="9258300"/>
            <a:ext cx="1211471" cy="200443"/>
          </a:xfrm>
          <a:custGeom>
            <a:avLst/>
            <a:gdLst/>
            <a:ahLst/>
            <a:cxnLst/>
            <a:rect l="l" t="t" r="r" b="b"/>
            <a:pathLst>
              <a:path w="1211471" h="200443">
                <a:moveTo>
                  <a:pt x="0" y="0"/>
                </a:moveTo>
                <a:lnTo>
                  <a:pt x="1211472" y="0"/>
                </a:lnTo>
                <a:lnTo>
                  <a:pt x="1211472" y="200443"/>
                </a:lnTo>
                <a:lnTo>
                  <a:pt x="0" y="2004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9003546" y="2518384"/>
            <a:ext cx="652501" cy="696428"/>
          </a:xfrm>
          <a:custGeom>
            <a:avLst/>
            <a:gdLst/>
            <a:ahLst/>
            <a:cxnLst/>
            <a:rect l="l" t="t" r="r" b="b"/>
            <a:pathLst>
              <a:path w="652501" h="696428">
                <a:moveTo>
                  <a:pt x="0" y="0"/>
                </a:moveTo>
                <a:lnTo>
                  <a:pt x="652501" y="0"/>
                </a:lnTo>
                <a:lnTo>
                  <a:pt x="652501" y="696428"/>
                </a:lnTo>
                <a:lnTo>
                  <a:pt x="0" y="6964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202761" y="6478065"/>
            <a:ext cx="4151665" cy="381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24"/>
              </a:lnSpc>
            </a:pPr>
            <a:r>
              <a:rPr lang="en-US" sz="2231" b="1">
                <a:solidFill>
                  <a:srgbClr val="FFFFFF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Perception &amp; Prediction Pipeline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063655" y="2629840"/>
            <a:ext cx="3723907" cy="381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4"/>
              </a:lnSpc>
            </a:pPr>
            <a:r>
              <a:rPr lang="en-US" sz="2231" b="1">
                <a:solidFill>
                  <a:srgbClr val="011A3C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Planning &amp; Control Pipeline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02761" y="4636965"/>
            <a:ext cx="7328203" cy="926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6"/>
              </a:lnSpc>
            </a:pPr>
            <a:r>
              <a:rPr lang="en-US" sz="1768" dirty="0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The AV pipeline integrates real-time sensor fusion, environment modeling, behavior prediction, and trajectory optimization to enable safe, adaptive navigation in dynamic and unstructured road environments.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15085" y="7518054"/>
            <a:ext cx="7723773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22"/>
              </a:lnSpc>
            </a:pPr>
            <a:r>
              <a:rPr lang="en-US" sz="1768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Sensor inputs: LiDAR, camera, radar, and GPS fusion.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15085" y="8079992"/>
            <a:ext cx="7723773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22"/>
              </a:lnSpc>
            </a:pPr>
            <a:r>
              <a:rPr lang="en-US" sz="1768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Environment representation via occupancy grids and HD maps.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15085" y="8641930"/>
            <a:ext cx="7723773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22"/>
              </a:lnSpc>
            </a:pPr>
            <a:r>
              <a:rPr lang="en-US" sz="1768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Behavior prediction using LSTM and transformer models.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868338" y="3772049"/>
            <a:ext cx="4583749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22"/>
              </a:lnSpc>
            </a:pPr>
            <a:r>
              <a:rPr lang="en-US" sz="1768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Candidate trajectory generation using lattice-based and sampling methods for dynamic, multi-agent road scenarios.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868338" y="5520273"/>
            <a:ext cx="4583749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22"/>
              </a:lnSpc>
            </a:pPr>
            <a:r>
              <a:rPr lang="en-US" sz="1768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Collision checking against predicted obstacle trajectories.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868338" y="6398727"/>
            <a:ext cx="4583749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22"/>
              </a:lnSpc>
            </a:pPr>
            <a:r>
              <a:rPr lang="en-US" sz="1768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Optimal path selection via cost function minimization.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868338" y="7274953"/>
            <a:ext cx="4583749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22"/>
              </a:lnSpc>
            </a:pPr>
            <a:r>
              <a:rPr lang="en-US" sz="1768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Vehicle control via PID and MPC for smooth actuation.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8000488" y="-1161592"/>
            <a:ext cx="2287024" cy="2141044"/>
            <a:chOff x="0" y="0"/>
            <a:chExt cx="596900" cy="558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39776"/>
                  </a:moveTo>
                  <a:lnTo>
                    <a:pt x="596900" y="265024"/>
                  </a:lnTo>
                  <a:cubicBezTo>
                    <a:pt x="596900" y="290424"/>
                    <a:pt x="586490" y="314714"/>
                    <a:pt x="568097" y="332231"/>
                  </a:cubicBezTo>
                  <a:lnTo>
                    <a:pt x="359003" y="531369"/>
                  </a:lnTo>
                  <a:cubicBezTo>
                    <a:pt x="340513" y="548978"/>
                    <a:pt x="315958" y="558800"/>
                    <a:pt x="290424" y="558800"/>
                  </a:cubicBezTo>
                  <a:lnTo>
                    <a:pt x="39776" y="558800"/>
                  </a:lnTo>
                  <a:cubicBezTo>
                    <a:pt x="29226" y="558800"/>
                    <a:pt x="19109" y="554609"/>
                    <a:pt x="11650" y="547150"/>
                  </a:cubicBezTo>
                  <a:cubicBezTo>
                    <a:pt x="4191" y="539691"/>
                    <a:pt x="0" y="529574"/>
                    <a:pt x="0" y="519024"/>
                  </a:cubicBezTo>
                  <a:lnTo>
                    <a:pt x="0" y="288696"/>
                  </a:lnTo>
                  <a:cubicBezTo>
                    <a:pt x="0" y="263304"/>
                    <a:pt x="10445" y="239030"/>
                    <a:pt x="28882" y="221572"/>
                  </a:cubicBezTo>
                  <a:lnTo>
                    <a:pt x="234008" y="27348"/>
                  </a:lnTo>
                  <a:cubicBezTo>
                    <a:pt x="252554" y="9787"/>
                    <a:pt x="277124" y="0"/>
                    <a:pt x="302666" y="0"/>
                  </a:cubicBezTo>
                  <a:lnTo>
                    <a:pt x="557124" y="0"/>
                  </a:lnTo>
                  <a:cubicBezTo>
                    <a:pt x="567674" y="0"/>
                    <a:pt x="577791" y="4191"/>
                    <a:pt x="585250" y="11650"/>
                  </a:cubicBezTo>
                  <a:cubicBezTo>
                    <a:pt x="592709" y="19109"/>
                    <a:pt x="596900" y="29226"/>
                    <a:pt x="596900" y="39776"/>
                  </a:cubicBezTo>
                  <a:close/>
                </a:path>
              </a:pathLst>
            </a:custGeom>
            <a:solidFill>
              <a:srgbClr val="FE9710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45" name="Freeform 45"/>
          <p:cNvSpPr/>
          <p:nvPr/>
        </p:nvSpPr>
        <p:spPr>
          <a:xfrm>
            <a:off x="7394752" y="341699"/>
            <a:ext cx="1211471" cy="200443"/>
          </a:xfrm>
          <a:custGeom>
            <a:avLst/>
            <a:gdLst/>
            <a:ahLst/>
            <a:cxnLst/>
            <a:rect l="l" t="t" r="r" b="b"/>
            <a:pathLst>
              <a:path w="1211471" h="200443">
                <a:moveTo>
                  <a:pt x="0" y="0"/>
                </a:moveTo>
                <a:lnTo>
                  <a:pt x="1211472" y="0"/>
                </a:lnTo>
                <a:lnTo>
                  <a:pt x="1211472" y="200443"/>
                </a:lnTo>
                <a:lnTo>
                  <a:pt x="0" y="2004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 flipH="1" flipV="1">
            <a:off x="404204" y="8740838"/>
            <a:ext cx="1145306" cy="1132812"/>
          </a:xfrm>
          <a:custGeom>
            <a:avLst/>
            <a:gdLst/>
            <a:ahLst/>
            <a:cxnLst/>
            <a:rect l="l" t="t" r="r" b="b"/>
            <a:pathLst>
              <a:path w="1145306" h="1132812">
                <a:moveTo>
                  <a:pt x="1145306" y="1132812"/>
                </a:moveTo>
                <a:lnTo>
                  <a:pt x="0" y="1132812"/>
                </a:lnTo>
                <a:lnTo>
                  <a:pt x="0" y="0"/>
                </a:lnTo>
                <a:lnTo>
                  <a:pt x="1145306" y="0"/>
                </a:lnTo>
                <a:lnTo>
                  <a:pt x="1145306" y="11328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760386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4372557" y="-522625"/>
            <a:ext cx="5586552" cy="5229964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6283"/>
                  </a:moveTo>
                  <a:lnTo>
                    <a:pt x="596900" y="288517"/>
                  </a:lnTo>
                  <a:cubicBezTo>
                    <a:pt x="596900" y="298915"/>
                    <a:pt x="592638" y="308859"/>
                    <a:pt x="585109" y="316030"/>
                  </a:cubicBezTo>
                  <a:lnTo>
                    <a:pt x="341991" y="547570"/>
                  </a:lnTo>
                  <a:cubicBezTo>
                    <a:pt x="334422" y="554779"/>
                    <a:pt x="324370" y="558800"/>
                    <a:pt x="313917" y="558800"/>
                  </a:cubicBezTo>
                  <a:lnTo>
                    <a:pt x="16283" y="558800"/>
                  </a:lnTo>
                  <a:cubicBezTo>
                    <a:pt x="7290" y="558800"/>
                    <a:pt x="0" y="551510"/>
                    <a:pt x="0" y="542517"/>
                  </a:cubicBezTo>
                  <a:lnTo>
                    <a:pt x="0" y="265203"/>
                  </a:lnTo>
                  <a:cubicBezTo>
                    <a:pt x="0" y="254809"/>
                    <a:pt x="4276" y="244871"/>
                    <a:pt x="11824" y="237724"/>
                  </a:cubicBezTo>
                  <a:lnTo>
                    <a:pt x="251066" y="11196"/>
                  </a:lnTo>
                  <a:cubicBezTo>
                    <a:pt x="258659" y="4007"/>
                    <a:pt x="268717" y="0"/>
                    <a:pt x="279173" y="0"/>
                  </a:cubicBezTo>
                  <a:lnTo>
                    <a:pt x="580617" y="0"/>
                  </a:lnTo>
                  <a:cubicBezTo>
                    <a:pt x="589610" y="0"/>
                    <a:pt x="596900" y="7290"/>
                    <a:pt x="596900" y="16283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6832257" y="4400004"/>
            <a:ext cx="3358368" cy="3144004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27087"/>
                  </a:moveTo>
                  <a:lnTo>
                    <a:pt x="596900" y="277713"/>
                  </a:lnTo>
                  <a:cubicBezTo>
                    <a:pt x="596900" y="295010"/>
                    <a:pt x="589811" y="311552"/>
                    <a:pt x="577285" y="323481"/>
                  </a:cubicBezTo>
                  <a:lnTo>
                    <a:pt x="349815" y="540119"/>
                  </a:lnTo>
                  <a:cubicBezTo>
                    <a:pt x="337223" y="552111"/>
                    <a:pt x="320501" y="558800"/>
                    <a:pt x="303113" y="558800"/>
                  </a:cubicBezTo>
                  <a:lnTo>
                    <a:pt x="27087" y="558800"/>
                  </a:lnTo>
                  <a:cubicBezTo>
                    <a:pt x="12127" y="558800"/>
                    <a:pt x="0" y="546673"/>
                    <a:pt x="0" y="531713"/>
                  </a:cubicBezTo>
                  <a:lnTo>
                    <a:pt x="0" y="276007"/>
                  </a:lnTo>
                  <a:cubicBezTo>
                    <a:pt x="0" y="258715"/>
                    <a:pt x="7113" y="242185"/>
                    <a:pt x="19669" y="230296"/>
                  </a:cubicBezTo>
                  <a:lnTo>
                    <a:pt x="243221" y="18624"/>
                  </a:lnTo>
                  <a:cubicBezTo>
                    <a:pt x="255851" y="6665"/>
                    <a:pt x="272583" y="0"/>
                    <a:pt x="289977" y="0"/>
                  </a:cubicBezTo>
                  <a:lnTo>
                    <a:pt x="569813" y="0"/>
                  </a:lnTo>
                  <a:cubicBezTo>
                    <a:pt x="584773" y="0"/>
                    <a:pt x="596900" y="12127"/>
                    <a:pt x="596900" y="27087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-2264889" y="963796"/>
            <a:ext cx="4019894" cy="3763305"/>
            <a:chOff x="0" y="0"/>
            <a:chExt cx="596900" cy="558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22629"/>
                  </a:moveTo>
                  <a:lnTo>
                    <a:pt x="596900" y="282171"/>
                  </a:lnTo>
                  <a:cubicBezTo>
                    <a:pt x="596900" y="296621"/>
                    <a:pt x="590977" y="310440"/>
                    <a:pt x="580513" y="320406"/>
                  </a:cubicBezTo>
                  <a:lnTo>
                    <a:pt x="346587" y="543194"/>
                  </a:lnTo>
                  <a:cubicBezTo>
                    <a:pt x="336067" y="553212"/>
                    <a:pt x="322097" y="558800"/>
                    <a:pt x="307571" y="558800"/>
                  </a:cubicBezTo>
                  <a:lnTo>
                    <a:pt x="22629" y="558800"/>
                  </a:lnTo>
                  <a:cubicBezTo>
                    <a:pt x="10132" y="558800"/>
                    <a:pt x="0" y="548668"/>
                    <a:pt x="0" y="536171"/>
                  </a:cubicBezTo>
                  <a:lnTo>
                    <a:pt x="0" y="271549"/>
                  </a:lnTo>
                  <a:cubicBezTo>
                    <a:pt x="0" y="257103"/>
                    <a:pt x="5942" y="243294"/>
                    <a:pt x="16432" y="233361"/>
                  </a:cubicBezTo>
                  <a:lnTo>
                    <a:pt x="246458" y="15559"/>
                  </a:lnTo>
                  <a:cubicBezTo>
                    <a:pt x="257010" y="5568"/>
                    <a:pt x="270988" y="0"/>
                    <a:pt x="285519" y="0"/>
                  </a:cubicBezTo>
                  <a:lnTo>
                    <a:pt x="574271" y="0"/>
                  </a:lnTo>
                  <a:cubicBezTo>
                    <a:pt x="586768" y="0"/>
                    <a:pt x="596900" y="10132"/>
                    <a:pt x="596900" y="22629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5400000">
            <a:off x="260802" y="5632991"/>
            <a:ext cx="11455664" cy="10724451"/>
            <a:chOff x="0" y="0"/>
            <a:chExt cx="596900" cy="558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35734"/>
                  </a:moveTo>
                  <a:lnTo>
                    <a:pt x="596900" y="269066"/>
                  </a:lnTo>
                  <a:cubicBezTo>
                    <a:pt x="596900" y="291885"/>
                    <a:pt x="587548" y="313707"/>
                    <a:pt x="571024" y="329444"/>
                  </a:cubicBezTo>
                  <a:lnTo>
                    <a:pt x="356076" y="534156"/>
                  </a:lnTo>
                  <a:cubicBezTo>
                    <a:pt x="339465" y="549976"/>
                    <a:pt x="317405" y="558800"/>
                    <a:pt x="294466" y="558800"/>
                  </a:cubicBezTo>
                  <a:lnTo>
                    <a:pt x="35734" y="558800"/>
                  </a:lnTo>
                  <a:cubicBezTo>
                    <a:pt x="26257" y="558800"/>
                    <a:pt x="17168" y="555035"/>
                    <a:pt x="10466" y="548334"/>
                  </a:cubicBezTo>
                  <a:cubicBezTo>
                    <a:pt x="3765" y="541632"/>
                    <a:pt x="0" y="532543"/>
                    <a:pt x="0" y="523066"/>
                  </a:cubicBezTo>
                  <a:lnTo>
                    <a:pt x="0" y="284654"/>
                  </a:lnTo>
                  <a:cubicBezTo>
                    <a:pt x="0" y="261842"/>
                    <a:pt x="9383" y="240035"/>
                    <a:pt x="25948" y="224351"/>
                  </a:cubicBezTo>
                  <a:lnTo>
                    <a:pt x="236942" y="24569"/>
                  </a:lnTo>
                  <a:cubicBezTo>
                    <a:pt x="253604" y="8792"/>
                    <a:pt x="275678" y="0"/>
                    <a:pt x="298624" y="0"/>
                  </a:cubicBezTo>
                  <a:lnTo>
                    <a:pt x="561166" y="0"/>
                  </a:lnTo>
                  <a:cubicBezTo>
                    <a:pt x="570643" y="0"/>
                    <a:pt x="579732" y="3765"/>
                    <a:pt x="586434" y="10466"/>
                  </a:cubicBezTo>
                  <a:cubicBezTo>
                    <a:pt x="593135" y="17168"/>
                    <a:pt x="596900" y="26257"/>
                    <a:pt x="596900" y="35734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409795" y="3529260"/>
            <a:ext cx="4541453" cy="1014107"/>
            <a:chOff x="0" y="0"/>
            <a:chExt cx="1196103" cy="2670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96103" cy="267090"/>
            </a:xfrm>
            <a:custGeom>
              <a:avLst/>
              <a:gdLst/>
              <a:ahLst/>
              <a:cxnLst/>
              <a:rect l="l" t="t" r="r" b="b"/>
              <a:pathLst>
                <a:path w="1196103" h="267090">
                  <a:moveTo>
                    <a:pt x="133545" y="0"/>
                  </a:moveTo>
                  <a:lnTo>
                    <a:pt x="1062558" y="0"/>
                  </a:lnTo>
                  <a:cubicBezTo>
                    <a:pt x="1097976" y="0"/>
                    <a:pt x="1131944" y="14070"/>
                    <a:pt x="1156988" y="39114"/>
                  </a:cubicBezTo>
                  <a:cubicBezTo>
                    <a:pt x="1182033" y="64159"/>
                    <a:pt x="1196103" y="98127"/>
                    <a:pt x="1196103" y="133545"/>
                  </a:cubicBezTo>
                  <a:lnTo>
                    <a:pt x="1196103" y="133545"/>
                  </a:lnTo>
                  <a:cubicBezTo>
                    <a:pt x="1196103" y="168963"/>
                    <a:pt x="1182033" y="202931"/>
                    <a:pt x="1156988" y="227976"/>
                  </a:cubicBezTo>
                  <a:cubicBezTo>
                    <a:pt x="1131944" y="253020"/>
                    <a:pt x="1097976" y="267090"/>
                    <a:pt x="1062558" y="267090"/>
                  </a:cubicBezTo>
                  <a:lnTo>
                    <a:pt x="133545" y="267090"/>
                  </a:lnTo>
                  <a:cubicBezTo>
                    <a:pt x="98127" y="267090"/>
                    <a:pt x="64159" y="253020"/>
                    <a:pt x="39114" y="227976"/>
                  </a:cubicBezTo>
                  <a:cubicBezTo>
                    <a:pt x="14070" y="202931"/>
                    <a:pt x="0" y="168963"/>
                    <a:pt x="0" y="133545"/>
                  </a:cubicBezTo>
                  <a:lnTo>
                    <a:pt x="0" y="133545"/>
                  </a:lnTo>
                  <a:cubicBezTo>
                    <a:pt x="0" y="98127"/>
                    <a:pt x="14070" y="64159"/>
                    <a:pt x="39114" y="39114"/>
                  </a:cubicBezTo>
                  <a:cubicBezTo>
                    <a:pt x="64159" y="14070"/>
                    <a:pt x="98127" y="0"/>
                    <a:pt x="13354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E9710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196103" cy="3242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042575" y="3529260"/>
            <a:ext cx="4541453" cy="1014107"/>
            <a:chOff x="0" y="0"/>
            <a:chExt cx="1196103" cy="2670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96103" cy="267090"/>
            </a:xfrm>
            <a:custGeom>
              <a:avLst/>
              <a:gdLst/>
              <a:ahLst/>
              <a:cxnLst/>
              <a:rect l="l" t="t" r="r" b="b"/>
              <a:pathLst>
                <a:path w="1196103" h="267090">
                  <a:moveTo>
                    <a:pt x="133545" y="0"/>
                  </a:moveTo>
                  <a:lnTo>
                    <a:pt x="1062558" y="0"/>
                  </a:lnTo>
                  <a:cubicBezTo>
                    <a:pt x="1097976" y="0"/>
                    <a:pt x="1131944" y="14070"/>
                    <a:pt x="1156988" y="39114"/>
                  </a:cubicBezTo>
                  <a:cubicBezTo>
                    <a:pt x="1182033" y="64159"/>
                    <a:pt x="1196103" y="98127"/>
                    <a:pt x="1196103" y="133545"/>
                  </a:cubicBezTo>
                  <a:lnTo>
                    <a:pt x="1196103" y="133545"/>
                  </a:lnTo>
                  <a:cubicBezTo>
                    <a:pt x="1196103" y="168963"/>
                    <a:pt x="1182033" y="202931"/>
                    <a:pt x="1156988" y="227976"/>
                  </a:cubicBezTo>
                  <a:cubicBezTo>
                    <a:pt x="1131944" y="253020"/>
                    <a:pt x="1097976" y="267090"/>
                    <a:pt x="1062558" y="267090"/>
                  </a:cubicBezTo>
                  <a:lnTo>
                    <a:pt x="133545" y="267090"/>
                  </a:lnTo>
                  <a:cubicBezTo>
                    <a:pt x="98127" y="267090"/>
                    <a:pt x="64159" y="253020"/>
                    <a:pt x="39114" y="227976"/>
                  </a:cubicBezTo>
                  <a:cubicBezTo>
                    <a:pt x="14070" y="202931"/>
                    <a:pt x="0" y="168963"/>
                    <a:pt x="0" y="133545"/>
                  </a:cubicBezTo>
                  <a:lnTo>
                    <a:pt x="0" y="133545"/>
                  </a:lnTo>
                  <a:cubicBezTo>
                    <a:pt x="0" y="98127"/>
                    <a:pt x="14070" y="64159"/>
                    <a:pt x="39114" y="39114"/>
                  </a:cubicBezTo>
                  <a:cubicBezTo>
                    <a:pt x="64159" y="14070"/>
                    <a:pt x="98127" y="0"/>
                    <a:pt x="13354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14AAB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196103" cy="3242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703972" y="3529260"/>
            <a:ext cx="1014107" cy="1014107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9710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336752" y="3529260"/>
            <a:ext cx="1014107" cy="1014107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169636" y="4707338"/>
            <a:ext cx="12880056" cy="4550962"/>
            <a:chOff x="0" y="0"/>
            <a:chExt cx="3392278" cy="119860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392278" cy="1198607"/>
            </a:xfrm>
            <a:custGeom>
              <a:avLst/>
              <a:gdLst/>
              <a:ahLst/>
              <a:cxnLst/>
              <a:rect l="l" t="t" r="r" b="b"/>
              <a:pathLst>
                <a:path w="3392278" h="1198607">
                  <a:moveTo>
                    <a:pt x="31857" y="0"/>
                  </a:moveTo>
                  <a:lnTo>
                    <a:pt x="3360421" y="0"/>
                  </a:lnTo>
                  <a:cubicBezTo>
                    <a:pt x="3368870" y="0"/>
                    <a:pt x="3376973" y="3356"/>
                    <a:pt x="3382947" y="9331"/>
                  </a:cubicBezTo>
                  <a:cubicBezTo>
                    <a:pt x="3388922" y="15305"/>
                    <a:pt x="3392278" y="23408"/>
                    <a:pt x="3392278" y="31857"/>
                  </a:cubicBezTo>
                  <a:lnTo>
                    <a:pt x="3392278" y="1166750"/>
                  </a:lnTo>
                  <a:cubicBezTo>
                    <a:pt x="3392278" y="1184344"/>
                    <a:pt x="3378015" y="1198607"/>
                    <a:pt x="3360421" y="1198607"/>
                  </a:cubicBezTo>
                  <a:lnTo>
                    <a:pt x="31857" y="1198607"/>
                  </a:lnTo>
                  <a:cubicBezTo>
                    <a:pt x="14263" y="1198607"/>
                    <a:pt x="0" y="1184344"/>
                    <a:pt x="0" y="1166750"/>
                  </a:cubicBezTo>
                  <a:lnTo>
                    <a:pt x="0" y="31857"/>
                  </a:lnTo>
                  <a:cubicBezTo>
                    <a:pt x="0" y="14263"/>
                    <a:pt x="14263" y="0"/>
                    <a:pt x="318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3392278" cy="12557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29" name="AutoShape 29"/>
          <p:cNvSpPr/>
          <p:nvPr/>
        </p:nvSpPr>
        <p:spPr>
          <a:xfrm flipV="1">
            <a:off x="11350859" y="3078134"/>
            <a:ext cx="8735022" cy="0"/>
          </a:xfrm>
          <a:prstGeom prst="line">
            <a:avLst/>
          </a:prstGeom>
          <a:ln w="38100" cap="rnd">
            <a:solidFill>
              <a:srgbClr val="014AA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0" name="Group 30"/>
          <p:cNvGrpSpPr/>
          <p:nvPr/>
        </p:nvGrpSpPr>
        <p:grpSpPr>
          <a:xfrm>
            <a:off x="14546107" y="9008976"/>
            <a:ext cx="2954069" cy="2765512"/>
            <a:chOff x="0" y="0"/>
            <a:chExt cx="596900" cy="558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30794"/>
                  </a:moveTo>
                  <a:lnTo>
                    <a:pt x="596900" y="274006"/>
                  </a:lnTo>
                  <a:cubicBezTo>
                    <a:pt x="596900" y="293670"/>
                    <a:pt x="588841" y="312476"/>
                    <a:pt x="574601" y="326037"/>
                  </a:cubicBezTo>
                  <a:lnTo>
                    <a:pt x="352499" y="537563"/>
                  </a:lnTo>
                  <a:cubicBezTo>
                    <a:pt x="338184" y="551196"/>
                    <a:pt x="319174" y="558800"/>
                    <a:pt x="299406" y="558800"/>
                  </a:cubicBezTo>
                  <a:lnTo>
                    <a:pt x="30794" y="558800"/>
                  </a:lnTo>
                  <a:cubicBezTo>
                    <a:pt x="13787" y="558800"/>
                    <a:pt x="0" y="545013"/>
                    <a:pt x="0" y="528006"/>
                  </a:cubicBezTo>
                  <a:lnTo>
                    <a:pt x="0" y="279714"/>
                  </a:lnTo>
                  <a:cubicBezTo>
                    <a:pt x="0" y="260056"/>
                    <a:pt x="8086" y="241263"/>
                    <a:pt x="22361" y="227748"/>
                  </a:cubicBezTo>
                  <a:lnTo>
                    <a:pt x="240529" y="21172"/>
                  </a:lnTo>
                  <a:cubicBezTo>
                    <a:pt x="254888" y="7577"/>
                    <a:pt x="273910" y="0"/>
                    <a:pt x="293684" y="0"/>
                  </a:cubicBezTo>
                  <a:lnTo>
                    <a:pt x="566106" y="0"/>
                  </a:lnTo>
                  <a:cubicBezTo>
                    <a:pt x="583113" y="0"/>
                    <a:pt x="596900" y="13787"/>
                    <a:pt x="596900" y="30794"/>
                  </a:cubicBezTo>
                  <a:close/>
                </a:path>
              </a:pathLst>
            </a:custGeom>
            <a:solidFill>
              <a:srgbClr val="FE9710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14372557" y="9685631"/>
            <a:ext cx="1211471" cy="200443"/>
          </a:xfrm>
          <a:custGeom>
            <a:avLst/>
            <a:gdLst/>
            <a:ahLst/>
            <a:cxnLst/>
            <a:rect l="l" t="t" r="r" b="b"/>
            <a:pathLst>
              <a:path w="1211471" h="200443">
                <a:moveTo>
                  <a:pt x="0" y="0"/>
                </a:moveTo>
                <a:lnTo>
                  <a:pt x="1211471" y="0"/>
                </a:lnTo>
                <a:lnTo>
                  <a:pt x="1211471" y="200444"/>
                </a:lnTo>
                <a:lnTo>
                  <a:pt x="0" y="2004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4" name="Group 34"/>
          <p:cNvGrpSpPr/>
          <p:nvPr/>
        </p:nvGrpSpPr>
        <p:grpSpPr>
          <a:xfrm rot="-10800000">
            <a:off x="779460" y="-3002706"/>
            <a:ext cx="4863131" cy="4552719"/>
            <a:chOff x="0" y="0"/>
            <a:chExt cx="596900" cy="558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8706"/>
                  </a:moveTo>
                  <a:lnTo>
                    <a:pt x="596900" y="286094"/>
                  </a:lnTo>
                  <a:cubicBezTo>
                    <a:pt x="596900" y="298039"/>
                    <a:pt x="592004" y="309462"/>
                    <a:pt x="583355" y="317700"/>
                  </a:cubicBezTo>
                  <a:lnTo>
                    <a:pt x="343745" y="545900"/>
                  </a:lnTo>
                  <a:cubicBezTo>
                    <a:pt x="335050" y="554181"/>
                    <a:pt x="323502" y="558800"/>
                    <a:pt x="311494" y="558800"/>
                  </a:cubicBezTo>
                  <a:lnTo>
                    <a:pt x="18706" y="558800"/>
                  </a:lnTo>
                  <a:cubicBezTo>
                    <a:pt x="13745" y="558800"/>
                    <a:pt x="8987" y="556829"/>
                    <a:pt x="5479" y="553321"/>
                  </a:cubicBezTo>
                  <a:cubicBezTo>
                    <a:pt x="1971" y="549813"/>
                    <a:pt x="0" y="545055"/>
                    <a:pt x="0" y="540094"/>
                  </a:cubicBezTo>
                  <a:lnTo>
                    <a:pt x="0" y="267626"/>
                  </a:lnTo>
                  <a:cubicBezTo>
                    <a:pt x="0" y="255684"/>
                    <a:pt x="4912" y="244269"/>
                    <a:pt x="13583" y="236059"/>
                  </a:cubicBezTo>
                  <a:lnTo>
                    <a:pt x="249307" y="12861"/>
                  </a:lnTo>
                  <a:cubicBezTo>
                    <a:pt x="258029" y="4603"/>
                    <a:pt x="269584" y="0"/>
                    <a:pt x="281596" y="0"/>
                  </a:cubicBezTo>
                  <a:lnTo>
                    <a:pt x="578194" y="0"/>
                  </a:lnTo>
                  <a:cubicBezTo>
                    <a:pt x="583155" y="0"/>
                    <a:pt x="587913" y="1971"/>
                    <a:pt x="591421" y="5479"/>
                  </a:cubicBezTo>
                  <a:cubicBezTo>
                    <a:pt x="594929" y="8987"/>
                    <a:pt x="596900" y="13745"/>
                    <a:pt x="596900" y="18706"/>
                  </a:cubicBezTo>
                  <a:close/>
                </a:path>
              </a:pathLst>
            </a:custGeom>
            <a:ln w="85725" cap="sq">
              <a:solidFill>
                <a:srgbClr val="014AAB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 rot="-10800000">
            <a:off x="1174301" y="-2633068"/>
            <a:ext cx="4073450" cy="3813443"/>
            <a:chOff x="0" y="0"/>
            <a:chExt cx="596900" cy="558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22332"/>
                  </a:moveTo>
                  <a:lnTo>
                    <a:pt x="596900" y="282468"/>
                  </a:lnTo>
                  <a:cubicBezTo>
                    <a:pt x="596900" y="296729"/>
                    <a:pt x="591055" y="310366"/>
                    <a:pt x="580729" y="320201"/>
                  </a:cubicBezTo>
                  <a:lnTo>
                    <a:pt x="346371" y="543399"/>
                  </a:lnTo>
                  <a:cubicBezTo>
                    <a:pt x="335990" y="553285"/>
                    <a:pt x="322204" y="558800"/>
                    <a:pt x="307868" y="558800"/>
                  </a:cubicBezTo>
                  <a:lnTo>
                    <a:pt x="22332" y="558800"/>
                  </a:lnTo>
                  <a:cubicBezTo>
                    <a:pt x="16409" y="558800"/>
                    <a:pt x="10729" y="556447"/>
                    <a:pt x="6541" y="552259"/>
                  </a:cubicBezTo>
                  <a:cubicBezTo>
                    <a:pt x="2353" y="548071"/>
                    <a:pt x="0" y="542391"/>
                    <a:pt x="0" y="536468"/>
                  </a:cubicBezTo>
                  <a:lnTo>
                    <a:pt x="0" y="271252"/>
                  </a:lnTo>
                  <a:cubicBezTo>
                    <a:pt x="0" y="256996"/>
                    <a:pt x="5864" y="243367"/>
                    <a:pt x="16216" y="233566"/>
                  </a:cubicBezTo>
                  <a:lnTo>
                    <a:pt x="246674" y="15354"/>
                  </a:lnTo>
                  <a:cubicBezTo>
                    <a:pt x="257087" y="5495"/>
                    <a:pt x="270882" y="0"/>
                    <a:pt x="285222" y="0"/>
                  </a:cubicBezTo>
                  <a:lnTo>
                    <a:pt x="574568" y="0"/>
                  </a:lnTo>
                  <a:cubicBezTo>
                    <a:pt x="580491" y="0"/>
                    <a:pt x="586171" y="2353"/>
                    <a:pt x="590359" y="6541"/>
                  </a:cubicBezTo>
                  <a:cubicBezTo>
                    <a:pt x="594547" y="10729"/>
                    <a:pt x="596900" y="16409"/>
                    <a:pt x="596900" y="22332"/>
                  </a:cubicBezTo>
                  <a:close/>
                </a:path>
              </a:pathLst>
            </a:custGeom>
            <a:solidFill>
              <a:srgbClr val="FE971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-1338322" y="845118"/>
            <a:ext cx="4235564" cy="935169"/>
            <a:chOff x="0" y="0"/>
            <a:chExt cx="1115539" cy="2463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15539" cy="246300"/>
            </a:xfrm>
            <a:custGeom>
              <a:avLst/>
              <a:gdLst/>
              <a:ahLst/>
              <a:cxnLst/>
              <a:rect l="l" t="t" r="r" b="b"/>
              <a:pathLst>
                <a:path w="1115539" h="246300">
                  <a:moveTo>
                    <a:pt x="63974" y="0"/>
                  </a:moveTo>
                  <a:lnTo>
                    <a:pt x="1051565" y="0"/>
                  </a:lnTo>
                  <a:cubicBezTo>
                    <a:pt x="1086897" y="0"/>
                    <a:pt x="1115539" y="28642"/>
                    <a:pt x="1115539" y="63974"/>
                  </a:cubicBezTo>
                  <a:lnTo>
                    <a:pt x="1115539" y="182325"/>
                  </a:lnTo>
                  <a:cubicBezTo>
                    <a:pt x="1115539" y="217657"/>
                    <a:pt x="1086897" y="246300"/>
                    <a:pt x="1051565" y="246300"/>
                  </a:cubicBezTo>
                  <a:lnTo>
                    <a:pt x="63974" y="246300"/>
                  </a:lnTo>
                  <a:cubicBezTo>
                    <a:pt x="28642" y="246300"/>
                    <a:pt x="0" y="217657"/>
                    <a:pt x="0" y="182325"/>
                  </a:cubicBezTo>
                  <a:lnTo>
                    <a:pt x="0" y="63974"/>
                  </a:lnTo>
                  <a:cubicBezTo>
                    <a:pt x="0" y="28642"/>
                    <a:pt x="28642" y="0"/>
                    <a:pt x="639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57150"/>
              <a:ext cx="1115539" cy="303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43" name="Freeform 43"/>
          <p:cNvSpPr/>
          <p:nvPr/>
        </p:nvSpPr>
        <p:spPr>
          <a:xfrm>
            <a:off x="568565" y="1680065"/>
            <a:ext cx="1211471" cy="200443"/>
          </a:xfrm>
          <a:custGeom>
            <a:avLst/>
            <a:gdLst/>
            <a:ahLst/>
            <a:cxnLst/>
            <a:rect l="l" t="t" r="r" b="b"/>
            <a:pathLst>
              <a:path w="1211471" h="200443">
                <a:moveTo>
                  <a:pt x="0" y="0"/>
                </a:moveTo>
                <a:lnTo>
                  <a:pt x="1211471" y="0"/>
                </a:lnTo>
                <a:lnTo>
                  <a:pt x="1211471" y="200444"/>
                </a:lnTo>
                <a:lnTo>
                  <a:pt x="0" y="200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 flipH="1" flipV="1">
            <a:off x="402289" y="8450265"/>
            <a:ext cx="1248992" cy="1235367"/>
          </a:xfrm>
          <a:custGeom>
            <a:avLst/>
            <a:gdLst/>
            <a:ahLst/>
            <a:cxnLst/>
            <a:rect l="l" t="t" r="r" b="b"/>
            <a:pathLst>
              <a:path w="1248992" h="1235367">
                <a:moveTo>
                  <a:pt x="1248992" y="1235366"/>
                </a:moveTo>
                <a:lnTo>
                  <a:pt x="0" y="1235366"/>
                </a:lnTo>
                <a:lnTo>
                  <a:pt x="0" y="0"/>
                </a:lnTo>
                <a:lnTo>
                  <a:pt x="1248992" y="0"/>
                </a:lnTo>
                <a:lnTo>
                  <a:pt x="1248992" y="123536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6130060" y="845118"/>
            <a:ext cx="1370117" cy="1355170"/>
          </a:xfrm>
          <a:custGeom>
            <a:avLst/>
            <a:gdLst/>
            <a:ahLst/>
            <a:cxnLst/>
            <a:rect l="l" t="t" r="r" b="b"/>
            <a:pathLst>
              <a:path w="1370117" h="1355170">
                <a:moveTo>
                  <a:pt x="0" y="0"/>
                </a:moveTo>
                <a:lnTo>
                  <a:pt x="1370117" y="0"/>
                </a:lnTo>
                <a:lnTo>
                  <a:pt x="1370117" y="1355171"/>
                </a:lnTo>
                <a:lnTo>
                  <a:pt x="0" y="13551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2867438" y="3692727"/>
            <a:ext cx="687174" cy="687174"/>
          </a:xfrm>
          <a:custGeom>
            <a:avLst/>
            <a:gdLst/>
            <a:ahLst/>
            <a:cxnLst/>
            <a:rect l="l" t="t" r="r" b="b"/>
            <a:pathLst>
              <a:path w="687174" h="687174">
                <a:moveTo>
                  <a:pt x="0" y="0"/>
                </a:moveTo>
                <a:lnTo>
                  <a:pt x="687175" y="0"/>
                </a:lnTo>
                <a:lnTo>
                  <a:pt x="687175" y="687174"/>
                </a:lnTo>
                <a:lnTo>
                  <a:pt x="0" y="6871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10516747" y="3709255"/>
            <a:ext cx="654117" cy="654117"/>
          </a:xfrm>
          <a:custGeom>
            <a:avLst/>
            <a:gdLst/>
            <a:ahLst/>
            <a:cxnLst/>
            <a:rect l="l" t="t" r="r" b="b"/>
            <a:pathLst>
              <a:path w="654117" h="654117">
                <a:moveTo>
                  <a:pt x="0" y="0"/>
                </a:moveTo>
                <a:lnTo>
                  <a:pt x="654117" y="0"/>
                </a:lnTo>
                <a:lnTo>
                  <a:pt x="654117" y="654117"/>
                </a:lnTo>
                <a:lnTo>
                  <a:pt x="0" y="6541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48" name="TextBox 48"/>
          <p:cNvSpPr txBox="1"/>
          <p:nvPr/>
        </p:nvSpPr>
        <p:spPr>
          <a:xfrm>
            <a:off x="3031672" y="1984825"/>
            <a:ext cx="12224655" cy="68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39"/>
              </a:lnSpc>
            </a:pPr>
            <a:r>
              <a:rPr lang="en-US" sz="5139" b="1" spc="102" dirty="0">
                <a:solidFill>
                  <a:srgbClr val="011A3C"/>
                </a:solidFill>
                <a:latin typeface="Gotham Bold"/>
                <a:ea typeface="Gotham Bold"/>
                <a:cs typeface="Gotham Bold"/>
                <a:sym typeface="Gotham Bold"/>
              </a:rPr>
              <a:t>Planning vs. Prediction Approaches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991615" y="3801382"/>
            <a:ext cx="3723907" cy="455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7"/>
              </a:lnSpc>
            </a:pPr>
            <a:r>
              <a:rPr lang="en-US" sz="2698" b="1">
                <a:solidFill>
                  <a:srgbClr val="011A3C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Path Planning Methods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624395" y="3801382"/>
            <a:ext cx="3723907" cy="455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7"/>
              </a:lnSpc>
            </a:pPr>
            <a:r>
              <a:rPr lang="en-US" sz="2698" b="1">
                <a:solidFill>
                  <a:srgbClr val="011A3C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Prediction Strategies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703972" y="4933893"/>
            <a:ext cx="5419181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7"/>
              </a:lnSpc>
            </a:pPr>
            <a:r>
              <a:rPr lang="en-US" sz="1973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Combines global &amp; local planning layers for structured and unstructured environments.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336752" y="4933893"/>
            <a:ext cx="5419181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7"/>
              </a:lnSpc>
            </a:pPr>
            <a:r>
              <a:rPr lang="en-US" sz="1973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Integrates rule-based and learning-based models to anticipate dynamic agent behavior.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703972" y="6260764"/>
            <a:ext cx="5419181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7"/>
              </a:lnSpc>
            </a:pPr>
            <a:r>
              <a:rPr lang="en-US" sz="1973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Global Planning: A*, Dijkstra, and RRT* for high-level route optimization.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336752" y="6260764"/>
            <a:ext cx="5419181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7"/>
              </a:lnSpc>
            </a:pPr>
            <a:r>
              <a:rPr lang="en-US" sz="1973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Rule-Based Prediction: Physics models &amp; traffic rules for structured road agents.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703972" y="7139218"/>
            <a:ext cx="5419181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7"/>
              </a:lnSpc>
            </a:pPr>
            <a:r>
              <a:rPr lang="en-US" sz="1973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Local Planning: Dynamic Window Approach (DWA) for real-time obstacle avoidance.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336752" y="7139218"/>
            <a:ext cx="5419181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7"/>
              </a:lnSpc>
            </a:pPr>
            <a:r>
              <a:rPr lang="en-US" sz="1973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Learning-Based Prediction: LSTM &amp; Transformer networks for unstructured scenarios.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2703972" y="8015443"/>
            <a:ext cx="5419181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7"/>
              </a:lnSpc>
            </a:pPr>
            <a:r>
              <a:rPr lang="en-US" sz="1973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Handles both static obstacles (parked cars, barriers) and dynamic agents (pedestrians).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336752" y="8015443"/>
            <a:ext cx="5419181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7"/>
              </a:lnSpc>
            </a:pPr>
            <a:r>
              <a:rPr lang="en-US" sz="1973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Fuses static map priors with real-time sensor data for accurate multi-agent forecasting.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516820" y="2789656"/>
            <a:ext cx="7123315" cy="6668635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2770"/>
                  </a:moveTo>
                  <a:lnTo>
                    <a:pt x="596900" y="292030"/>
                  </a:lnTo>
                  <a:cubicBezTo>
                    <a:pt x="596900" y="300185"/>
                    <a:pt x="593558" y="307983"/>
                    <a:pt x="587652" y="313607"/>
                  </a:cubicBezTo>
                  <a:lnTo>
                    <a:pt x="339448" y="549993"/>
                  </a:lnTo>
                  <a:cubicBezTo>
                    <a:pt x="333511" y="555647"/>
                    <a:pt x="325627" y="558800"/>
                    <a:pt x="317430" y="558800"/>
                  </a:cubicBezTo>
                  <a:lnTo>
                    <a:pt x="12770" y="558800"/>
                  </a:lnTo>
                  <a:cubicBezTo>
                    <a:pt x="5718" y="558800"/>
                    <a:pt x="0" y="553083"/>
                    <a:pt x="0" y="546030"/>
                  </a:cubicBezTo>
                  <a:lnTo>
                    <a:pt x="0" y="261690"/>
                  </a:lnTo>
                  <a:cubicBezTo>
                    <a:pt x="0" y="253538"/>
                    <a:pt x="3353" y="245745"/>
                    <a:pt x="9273" y="240140"/>
                  </a:cubicBezTo>
                  <a:lnTo>
                    <a:pt x="253617" y="8780"/>
                  </a:lnTo>
                  <a:cubicBezTo>
                    <a:pt x="259572" y="3142"/>
                    <a:pt x="267460" y="0"/>
                    <a:pt x="275660" y="0"/>
                  </a:cubicBezTo>
                  <a:lnTo>
                    <a:pt x="584130" y="0"/>
                  </a:lnTo>
                  <a:cubicBezTo>
                    <a:pt x="591183" y="0"/>
                    <a:pt x="596900" y="5718"/>
                    <a:pt x="596900" y="12770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1672748" y="-2698351"/>
            <a:ext cx="4732342" cy="443027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9223"/>
                  </a:moveTo>
                  <a:lnTo>
                    <a:pt x="596900" y="285577"/>
                  </a:lnTo>
                  <a:cubicBezTo>
                    <a:pt x="596900" y="297853"/>
                    <a:pt x="591869" y="309591"/>
                    <a:pt x="582980" y="318057"/>
                  </a:cubicBezTo>
                  <a:lnTo>
                    <a:pt x="344120" y="545543"/>
                  </a:lnTo>
                  <a:cubicBezTo>
                    <a:pt x="335184" y="554053"/>
                    <a:pt x="323317" y="558800"/>
                    <a:pt x="310977" y="558800"/>
                  </a:cubicBezTo>
                  <a:lnTo>
                    <a:pt x="19223" y="558800"/>
                  </a:lnTo>
                  <a:cubicBezTo>
                    <a:pt x="14124" y="558800"/>
                    <a:pt x="9235" y="556775"/>
                    <a:pt x="5630" y="553170"/>
                  </a:cubicBezTo>
                  <a:cubicBezTo>
                    <a:pt x="2025" y="549565"/>
                    <a:pt x="0" y="544676"/>
                    <a:pt x="0" y="539577"/>
                  </a:cubicBezTo>
                  <a:lnTo>
                    <a:pt x="0" y="268143"/>
                  </a:lnTo>
                  <a:cubicBezTo>
                    <a:pt x="0" y="255871"/>
                    <a:pt x="5048" y="244141"/>
                    <a:pt x="13958" y="235704"/>
                  </a:cubicBezTo>
                  <a:lnTo>
                    <a:pt x="248932" y="13216"/>
                  </a:lnTo>
                  <a:cubicBezTo>
                    <a:pt x="257895" y="4730"/>
                    <a:pt x="269769" y="0"/>
                    <a:pt x="282113" y="0"/>
                  </a:cubicBezTo>
                  <a:lnTo>
                    <a:pt x="577677" y="0"/>
                  </a:lnTo>
                  <a:cubicBezTo>
                    <a:pt x="582776" y="0"/>
                    <a:pt x="587665" y="2025"/>
                    <a:pt x="591270" y="5630"/>
                  </a:cubicBezTo>
                  <a:cubicBezTo>
                    <a:pt x="594875" y="9235"/>
                    <a:pt x="596900" y="14124"/>
                    <a:pt x="596900" y="19223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051245" y="1893956"/>
            <a:ext cx="8787529" cy="1942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494"/>
              </a:lnSpc>
            </a:pPr>
            <a:r>
              <a:rPr lang="en-US" sz="7494" b="1" spc="149">
                <a:solidFill>
                  <a:srgbClr val="011A3C"/>
                </a:solidFill>
                <a:latin typeface="Gotham Bold"/>
                <a:ea typeface="Gotham Bold"/>
                <a:cs typeface="Gotham Bold"/>
                <a:sym typeface="Gotham Bold"/>
              </a:rPr>
              <a:t>Proposed</a:t>
            </a:r>
          </a:p>
          <a:p>
            <a:pPr marL="0" lvl="0" indent="0" algn="r">
              <a:lnSpc>
                <a:spcPts val="7494"/>
              </a:lnSpc>
            </a:pPr>
            <a:r>
              <a:rPr lang="en-US" sz="7494" b="1" spc="149">
                <a:solidFill>
                  <a:srgbClr val="011A3C"/>
                </a:solidFill>
                <a:latin typeface="Gotham Bold"/>
                <a:ea typeface="Gotham Bold"/>
                <a:cs typeface="Gotham Bold"/>
                <a:sym typeface="Gotham Bold"/>
              </a:rPr>
              <a:t>Framework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-8289632" y="-946951"/>
            <a:ext cx="14820677" cy="13874676"/>
            <a:chOff x="0" y="0"/>
            <a:chExt cx="596900" cy="558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6138"/>
                  </a:moveTo>
                  <a:lnTo>
                    <a:pt x="596900" y="298662"/>
                  </a:lnTo>
                  <a:cubicBezTo>
                    <a:pt x="596900" y="302582"/>
                    <a:pt x="595294" y="306330"/>
                    <a:pt x="592455" y="309033"/>
                  </a:cubicBezTo>
                  <a:lnTo>
                    <a:pt x="334645" y="554567"/>
                  </a:lnTo>
                  <a:cubicBezTo>
                    <a:pt x="331791" y="557284"/>
                    <a:pt x="328002" y="558800"/>
                    <a:pt x="324062" y="558800"/>
                  </a:cubicBezTo>
                  <a:lnTo>
                    <a:pt x="6138" y="558800"/>
                  </a:lnTo>
                  <a:cubicBezTo>
                    <a:pt x="4510" y="558800"/>
                    <a:pt x="2949" y="558153"/>
                    <a:pt x="1798" y="557002"/>
                  </a:cubicBezTo>
                  <a:cubicBezTo>
                    <a:pt x="647" y="555851"/>
                    <a:pt x="0" y="554290"/>
                    <a:pt x="0" y="552662"/>
                  </a:cubicBezTo>
                  <a:lnTo>
                    <a:pt x="0" y="255058"/>
                  </a:lnTo>
                  <a:cubicBezTo>
                    <a:pt x="0" y="251140"/>
                    <a:pt x="1612" y="247394"/>
                    <a:pt x="4457" y="244700"/>
                  </a:cubicBezTo>
                  <a:lnTo>
                    <a:pt x="258433" y="4220"/>
                  </a:lnTo>
                  <a:cubicBezTo>
                    <a:pt x="261295" y="1510"/>
                    <a:pt x="265087" y="0"/>
                    <a:pt x="269028" y="0"/>
                  </a:cubicBezTo>
                  <a:lnTo>
                    <a:pt x="590762" y="0"/>
                  </a:lnTo>
                  <a:cubicBezTo>
                    <a:pt x="592390" y="0"/>
                    <a:pt x="593951" y="647"/>
                    <a:pt x="595102" y="1798"/>
                  </a:cubicBezTo>
                  <a:cubicBezTo>
                    <a:pt x="596253" y="2949"/>
                    <a:pt x="596900" y="4510"/>
                    <a:pt x="596900" y="6138"/>
                  </a:cubicBezTo>
                  <a:close/>
                </a:path>
              </a:pathLst>
            </a:custGeom>
            <a:ln w="190500" cap="sq">
              <a:solidFill>
                <a:srgbClr val="FE971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7592208" y="-294043"/>
            <a:ext cx="13425829" cy="12568861"/>
            <a:chOff x="0" y="0"/>
            <a:chExt cx="596900" cy="558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6776"/>
                  </a:moveTo>
                  <a:lnTo>
                    <a:pt x="596900" y="298024"/>
                  </a:lnTo>
                  <a:cubicBezTo>
                    <a:pt x="596900" y="302351"/>
                    <a:pt x="595127" y="306489"/>
                    <a:pt x="591994" y="309473"/>
                  </a:cubicBezTo>
                  <a:lnTo>
                    <a:pt x="335106" y="554127"/>
                  </a:lnTo>
                  <a:cubicBezTo>
                    <a:pt x="331957" y="557127"/>
                    <a:pt x="327774" y="558800"/>
                    <a:pt x="323424" y="558800"/>
                  </a:cubicBezTo>
                  <a:lnTo>
                    <a:pt x="6776" y="558800"/>
                  </a:lnTo>
                  <a:cubicBezTo>
                    <a:pt x="3034" y="558800"/>
                    <a:pt x="0" y="555766"/>
                    <a:pt x="0" y="552024"/>
                  </a:cubicBezTo>
                  <a:lnTo>
                    <a:pt x="0" y="255696"/>
                  </a:lnTo>
                  <a:cubicBezTo>
                    <a:pt x="0" y="251370"/>
                    <a:pt x="1779" y="247235"/>
                    <a:pt x="4920" y="244261"/>
                  </a:cubicBezTo>
                  <a:lnTo>
                    <a:pt x="257970" y="4659"/>
                  </a:lnTo>
                  <a:cubicBezTo>
                    <a:pt x="261129" y="1667"/>
                    <a:pt x="265315" y="0"/>
                    <a:pt x="269666" y="0"/>
                  </a:cubicBezTo>
                  <a:lnTo>
                    <a:pt x="590124" y="0"/>
                  </a:lnTo>
                  <a:cubicBezTo>
                    <a:pt x="593866" y="0"/>
                    <a:pt x="596900" y="3034"/>
                    <a:pt x="596900" y="6776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12552" y="5886315"/>
            <a:ext cx="2062328" cy="1930690"/>
            <a:chOff x="0" y="0"/>
            <a:chExt cx="596900" cy="558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44109"/>
                  </a:moveTo>
                  <a:lnTo>
                    <a:pt x="596900" y="260691"/>
                  </a:lnTo>
                  <a:cubicBezTo>
                    <a:pt x="596900" y="288858"/>
                    <a:pt x="585356" y="315794"/>
                    <a:pt x="564959" y="335220"/>
                  </a:cubicBezTo>
                  <a:lnTo>
                    <a:pt x="362141" y="528380"/>
                  </a:lnTo>
                  <a:cubicBezTo>
                    <a:pt x="341637" y="547908"/>
                    <a:pt x="314406" y="558800"/>
                    <a:pt x="286091" y="558800"/>
                  </a:cubicBezTo>
                  <a:lnTo>
                    <a:pt x="44109" y="558800"/>
                  </a:lnTo>
                  <a:cubicBezTo>
                    <a:pt x="19748" y="558800"/>
                    <a:pt x="0" y="539052"/>
                    <a:pt x="0" y="514691"/>
                  </a:cubicBezTo>
                  <a:lnTo>
                    <a:pt x="0" y="293029"/>
                  </a:lnTo>
                  <a:cubicBezTo>
                    <a:pt x="0" y="264871"/>
                    <a:pt x="11583" y="237953"/>
                    <a:pt x="32029" y="218593"/>
                  </a:cubicBezTo>
                  <a:lnTo>
                    <a:pt x="230861" y="30327"/>
                  </a:lnTo>
                  <a:cubicBezTo>
                    <a:pt x="251428" y="10853"/>
                    <a:pt x="278675" y="0"/>
                    <a:pt x="306999" y="0"/>
                  </a:cubicBezTo>
                  <a:lnTo>
                    <a:pt x="552791" y="0"/>
                  </a:lnTo>
                  <a:cubicBezTo>
                    <a:pt x="577152" y="0"/>
                    <a:pt x="596900" y="19748"/>
                    <a:pt x="596900" y="44109"/>
                  </a:cubicBezTo>
                  <a:close/>
                </a:path>
              </a:pathLst>
            </a:custGeom>
            <a:solidFill>
              <a:srgbClr val="FE971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5400000">
            <a:off x="15047370" y="9566560"/>
            <a:ext cx="2392343" cy="2239640"/>
            <a:chOff x="0" y="0"/>
            <a:chExt cx="596900" cy="558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38024"/>
                  </a:moveTo>
                  <a:lnTo>
                    <a:pt x="596900" y="266776"/>
                  </a:lnTo>
                  <a:cubicBezTo>
                    <a:pt x="596900" y="291057"/>
                    <a:pt x="586948" y="314278"/>
                    <a:pt x="569365" y="331024"/>
                  </a:cubicBezTo>
                  <a:lnTo>
                    <a:pt x="357735" y="532576"/>
                  </a:lnTo>
                  <a:cubicBezTo>
                    <a:pt x="340059" y="549410"/>
                    <a:pt x="316585" y="558800"/>
                    <a:pt x="292176" y="558800"/>
                  </a:cubicBezTo>
                  <a:lnTo>
                    <a:pt x="38024" y="558800"/>
                  </a:lnTo>
                  <a:cubicBezTo>
                    <a:pt x="17024" y="558800"/>
                    <a:pt x="0" y="541776"/>
                    <a:pt x="0" y="520776"/>
                  </a:cubicBezTo>
                  <a:lnTo>
                    <a:pt x="0" y="286944"/>
                  </a:lnTo>
                  <a:cubicBezTo>
                    <a:pt x="0" y="262671"/>
                    <a:pt x="9985" y="239466"/>
                    <a:pt x="27611" y="222776"/>
                  </a:cubicBezTo>
                  <a:lnTo>
                    <a:pt x="235279" y="26144"/>
                  </a:lnTo>
                  <a:cubicBezTo>
                    <a:pt x="253009" y="9356"/>
                    <a:pt x="276498" y="0"/>
                    <a:pt x="300914" y="0"/>
                  </a:cubicBezTo>
                  <a:lnTo>
                    <a:pt x="558876" y="0"/>
                  </a:lnTo>
                  <a:cubicBezTo>
                    <a:pt x="579876" y="0"/>
                    <a:pt x="596900" y="17024"/>
                    <a:pt x="596900" y="38024"/>
                  </a:cubicBezTo>
                  <a:close/>
                </a:path>
              </a:pathLst>
            </a:custGeom>
            <a:solidFill>
              <a:srgbClr val="FE971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-5400000">
            <a:off x="6650567" y="2110012"/>
            <a:ext cx="2297642" cy="2150984"/>
            <a:chOff x="0" y="0"/>
            <a:chExt cx="596900" cy="558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39592"/>
                  </a:moveTo>
                  <a:lnTo>
                    <a:pt x="596900" y="265208"/>
                  </a:lnTo>
                  <a:cubicBezTo>
                    <a:pt x="596900" y="290491"/>
                    <a:pt x="586538" y="314668"/>
                    <a:pt x="568230" y="332105"/>
                  </a:cubicBezTo>
                  <a:lnTo>
                    <a:pt x="358870" y="531495"/>
                  </a:lnTo>
                  <a:cubicBezTo>
                    <a:pt x="340465" y="549023"/>
                    <a:pt x="316024" y="558800"/>
                    <a:pt x="290608" y="558800"/>
                  </a:cubicBezTo>
                  <a:lnTo>
                    <a:pt x="39592" y="558800"/>
                  </a:lnTo>
                  <a:cubicBezTo>
                    <a:pt x="29091" y="558800"/>
                    <a:pt x="19021" y="554629"/>
                    <a:pt x="11596" y="547204"/>
                  </a:cubicBezTo>
                  <a:cubicBezTo>
                    <a:pt x="4171" y="539779"/>
                    <a:pt x="0" y="529709"/>
                    <a:pt x="0" y="519208"/>
                  </a:cubicBezTo>
                  <a:lnTo>
                    <a:pt x="0" y="288512"/>
                  </a:lnTo>
                  <a:cubicBezTo>
                    <a:pt x="0" y="263237"/>
                    <a:pt x="10396" y="239076"/>
                    <a:pt x="28749" y="221699"/>
                  </a:cubicBezTo>
                  <a:lnTo>
                    <a:pt x="234141" y="27221"/>
                  </a:lnTo>
                  <a:cubicBezTo>
                    <a:pt x="252602" y="9742"/>
                    <a:pt x="277059" y="0"/>
                    <a:pt x="302482" y="0"/>
                  </a:cubicBezTo>
                  <a:lnTo>
                    <a:pt x="557308" y="0"/>
                  </a:lnTo>
                  <a:cubicBezTo>
                    <a:pt x="567809" y="0"/>
                    <a:pt x="577879" y="4171"/>
                    <a:pt x="585304" y="11596"/>
                  </a:cubicBezTo>
                  <a:cubicBezTo>
                    <a:pt x="592729" y="19021"/>
                    <a:pt x="596900" y="29091"/>
                    <a:pt x="596900" y="39592"/>
                  </a:cubicBezTo>
                  <a:close/>
                </a:path>
              </a:pathLst>
            </a:custGeom>
            <a:solidFill>
              <a:srgbClr val="FE9710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33977" y="1028700"/>
            <a:ext cx="6659390" cy="8229600"/>
            <a:chOff x="0" y="0"/>
            <a:chExt cx="1460623" cy="180502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60627" cy="1805022"/>
            </a:xfrm>
            <a:custGeom>
              <a:avLst/>
              <a:gdLst/>
              <a:ahLst/>
              <a:cxnLst/>
              <a:rect l="l" t="t" r="r" b="b"/>
              <a:pathLst>
                <a:path w="1460627" h="1805022">
                  <a:moveTo>
                    <a:pt x="1460627" y="1189424"/>
                  </a:moveTo>
                  <a:lnTo>
                    <a:pt x="1460627" y="561989"/>
                  </a:lnTo>
                  <a:cubicBezTo>
                    <a:pt x="1460629" y="522853"/>
                    <a:pt x="1446205" y="485089"/>
                    <a:pt x="1420114" y="455919"/>
                  </a:cubicBezTo>
                  <a:lnTo>
                    <a:pt x="1046362" y="38122"/>
                  </a:lnTo>
                  <a:cubicBezTo>
                    <a:pt x="1024662" y="13865"/>
                    <a:pt x="993657" y="0"/>
                    <a:pt x="961111" y="0"/>
                  </a:cubicBezTo>
                  <a:lnTo>
                    <a:pt x="114384" y="0"/>
                  </a:lnTo>
                  <a:cubicBezTo>
                    <a:pt x="51211" y="0"/>
                    <a:pt x="0" y="51211"/>
                    <a:pt x="0" y="114384"/>
                  </a:cubicBezTo>
                  <a:lnTo>
                    <a:pt x="0" y="501214"/>
                  </a:lnTo>
                  <a:lnTo>
                    <a:pt x="0" y="1234766"/>
                  </a:lnTo>
                  <a:cubicBezTo>
                    <a:pt x="0" y="1279232"/>
                    <a:pt x="16390" y="1322137"/>
                    <a:pt x="46036" y="1355277"/>
                  </a:cubicBezTo>
                  <a:lnTo>
                    <a:pt x="414263" y="1766900"/>
                  </a:lnTo>
                  <a:cubicBezTo>
                    <a:pt x="435962" y="1791157"/>
                    <a:pt x="466967" y="1805022"/>
                    <a:pt x="499514" y="1805022"/>
                  </a:cubicBezTo>
                  <a:lnTo>
                    <a:pt x="944739" y="1805022"/>
                  </a:lnTo>
                  <a:cubicBezTo>
                    <a:pt x="975076" y="1805022"/>
                    <a:pt x="1004170" y="1792971"/>
                    <a:pt x="1025621" y="1771520"/>
                  </a:cubicBezTo>
                  <a:cubicBezTo>
                    <a:pt x="1047073" y="1750069"/>
                    <a:pt x="1059124" y="1720975"/>
                    <a:pt x="1059124" y="1690638"/>
                  </a:cubicBezTo>
                  <a:lnTo>
                    <a:pt x="1059124" y="1418193"/>
                  </a:lnTo>
                  <a:cubicBezTo>
                    <a:pt x="1059124" y="1355019"/>
                    <a:pt x="1110336" y="1303808"/>
                    <a:pt x="1173509" y="1303808"/>
                  </a:cubicBezTo>
                  <a:lnTo>
                    <a:pt x="1346241" y="1303808"/>
                  </a:lnTo>
                  <a:cubicBezTo>
                    <a:pt x="1376578" y="1303808"/>
                    <a:pt x="1405672" y="1291757"/>
                    <a:pt x="1427124" y="1270306"/>
                  </a:cubicBezTo>
                  <a:cubicBezTo>
                    <a:pt x="1448576" y="1248855"/>
                    <a:pt x="1460627" y="1219761"/>
                    <a:pt x="1460627" y="1189424"/>
                  </a:cubicBezTo>
                  <a:close/>
                </a:path>
              </a:pathLst>
            </a:custGeom>
            <a:blipFill>
              <a:blip r:embed="rId2"/>
              <a:stretch>
                <a:fillRect t="-260" b="-260"/>
              </a:stretch>
            </a:blipFill>
            <a:ln w="1524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26" name="Freeform 26"/>
          <p:cNvSpPr/>
          <p:nvPr/>
        </p:nvSpPr>
        <p:spPr>
          <a:xfrm flipH="1" flipV="1">
            <a:off x="839656" y="7316412"/>
            <a:ext cx="1588642" cy="1571311"/>
          </a:xfrm>
          <a:custGeom>
            <a:avLst/>
            <a:gdLst/>
            <a:ahLst/>
            <a:cxnLst/>
            <a:rect l="l" t="t" r="r" b="b"/>
            <a:pathLst>
              <a:path w="1588642" h="1571311">
                <a:moveTo>
                  <a:pt x="1588642" y="1571311"/>
                </a:moveTo>
                <a:lnTo>
                  <a:pt x="0" y="1571311"/>
                </a:lnTo>
                <a:lnTo>
                  <a:pt x="0" y="0"/>
                </a:lnTo>
                <a:lnTo>
                  <a:pt x="1588642" y="0"/>
                </a:lnTo>
                <a:lnTo>
                  <a:pt x="1588642" y="157131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931024" y="532300"/>
            <a:ext cx="1401730" cy="231923"/>
          </a:xfrm>
          <a:custGeom>
            <a:avLst/>
            <a:gdLst/>
            <a:ahLst/>
            <a:cxnLst/>
            <a:rect l="l" t="t" r="r" b="b"/>
            <a:pathLst>
              <a:path w="1401730" h="231923">
                <a:moveTo>
                  <a:pt x="0" y="0"/>
                </a:moveTo>
                <a:lnTo>
                  <a:pt x="1401731" y="0"/>
                </a:lnTo>
                <a:lnTo>
                  <a:pt x="1401731" y="231922"/>
                </a:lnTo>
                <a:lnTo>
                  <a:pt x="0" y="2319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6243541" y="9816080"/>
            <a:ext cx="1211471" cy="200443"/>
          </a:xfrm>
          <a:custGeom>
            <a:avLst/>
            <a:gdLst/>
            <a:ahLst/>
            <a:cxnLst/>
            <a:rect l="l" t="t" r="r" b="b"/>
            <a:pathLst>
              <a:path w="1211471" h="200443">
                <a:moveTo>
                  <a:pt x="0" y="0"/>
                </a:moveTo>
                <a:lnTo>
                  <a:pt x="1211471" y="0"/>
                </a:lnTo>
                <a:lnTo>
                  <a:pt x="1211471" y="200443"/>
                </a:lnTo>
                <a:lnTo>
                  <a:pt x="0" y="2004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1292003" y="609463"/>
            <a:ext cx="935360" cy="154760"/>
          </a:xfrm>
          <a:custGeom>
            <a:avLst/>
            <a:gdLst/>
            <a:ahLst/>
            <a:cxnLst/>
            <a:rect l="l" t="t" r="r" b="b"/>
            <a:pathLst>
              <a:path w="935360" h="154760">
                <a:moveTo>
                  <a:pt x="0" y="0"/>
                </a:moveTo>
                <a:lnTo>
                  <a:pt x="935360" y="0"/>
                </a:lnTo>
                <a:lnTo>
                  <a:pt x="935360" y="154759"/>
                </a:lnTo>
                <a:lnTo>
                  <a:pt x="0" y="1547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0" name="AutoShape 30"/>
          <p:cNvSpPr/>
          <p:nvPr/>
        </p:nvSpPr>
        <p:spPr>
          <a:xfrm>
            <a:off x="11498540" y="4144722"/>
            <a:ext cx="8461486" cy="0"/>
          </a:xfrm>
          <a:prstGeom prst="line">
            <a:avLst/>
          </a:prstGeom>
          <a:ln w="38100" cap="rnd">
            <a:solidFill>
              <a:srgbClr val="FE971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1" name="Group 31"/>
          <p:cNvGrpSpPr/>
          <p:nvPr/>
        </p:nvGrpSpPr>
        <p:grpSpPr>
          <a:xfrm>
            <a:off x="11514393" y="6253229"/>
            <a:ext cx="5324381" cy="924316"/>
            <a:chOff x="0" y="0"/>
            <a:chExt cx="1402306" cy="24344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02306" cy="243441"/>
            </a:xfrm>
            <a:custGeom>
              <a:avLst/>
              <a:gdLst/>
              <a:ahLst/>
              <a:cxnLst/>
              <a:rect l="l" t="t" r="r" b="b"/>
              <a:pathLst>
                <a:path w="1402306" h="243441">
                  <a:moveTo>
                    <a:pt x="121721" y="0"/>
                  </a:moveTo>
                  <a:lnTo>
                    <a:pt x="1280586" y="0"/>
                  </a:lnTo>
                  <a:cubicBezTo>
                    <a:pt x="1347810" y="0"/>
                    <a:pt x="1402306" y="54496"/>
                    <a:pt x="1402306" y="121721"/>
                  </a:cubicBezTo>
                  <a:lnTo>
                    <a:pt x="1402306" y="121721"/>
                  </a:lnTo>
                  <a:cubicBezTo>
                    <a:pt x="1402306" y="154003"/>
                    <a:pt x="1389482" y="184963"/>
                    <a:pt x="1366655" y="207790"/>
                  </a:cubicBezTo>
                  <a:cubicBezTo>
                    <a:pt x="1343828" y="230617"/>
                    <a:pt x="1312868" y="243441"/>
                    <a:pt x="1280586" y="243441"/>
                  </a:cubicBezTo>
                  <a:lnTo>
                    <a:pt x="121721" y="243441"/>
                  </a:lnTo>
                  <a:cubicBezTo>
                    <a:pt x="89438" y="243441"/>
                    <a:pt x="58478" y="230617"/>
                    <a:pt x="35651" y="207790"/>
                  </a:cubicBezTo>
                  <a:cubicBezTo>
                    <a:pt x="12824" y="184963"/>
                    <a:pt x="0" y="154003"/>
                    <a:pt x="0" y="121721"/>
                  </a:cubicBezTo>
                  <a:lnTo>
                    <a:pt x="0" y="121721"/>
                  </a:lnTo>
                  <a:cubicBezTo>
                    <a:pt x="0" y="89438"/>
                    <a:pt x="12824" y="58478"/>
                    <a:pt x="35651" y="35651"/>
                  </a:cubicBezTo>
                  <a:cubicBezTo>
                    <a:pt x="58478" y="12824"/>
                    <a:pt x="89438" y="0"/>
                    <a:pt x="121721" y="0"/>
                  </a:cubicBezTo>
                  <a:close/>
                </a:path>
              </a:pathLst>
            </a:custGeom>
            <a:solidFill>
              <a:srgbClr val="014AAB"/>
            </a:solidFill>
            <a:ln cap="rnd">
              <a:noFill/>
              <a:prstDash val="solid"/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1402306" cy="3005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6507800" y="7523049"/>
            <a:ext cx="166204" cy="166204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6507800" y="8084987"/>
            <a:ext cx="166204" cy="16620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6507800" y="8646925"/>
            <a:ext cx="166204" cy="166204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9510571" y="4692623"/>
            <a:ext cx="7328203" cy="898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459"/>
              </a:lnSpc>
            </a:pPr>
            <a:r>
              <a:rPr lang="en-US" sz="1756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An integrated pipeline combines LiDAR &amp; camera-based sensor perception, occupancy grid mapping, and deep learning motion prediction to enable real-time, collision-free navigation in dynamic environments.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498540" y="6480456"/>
            <a:ext cx="5340234" cy="455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7"/>
              </a:lnSpc>
            </a:pPr>
            <a:r>
              <a:rPr lang="en-US" sz="2698" b="1">
                <a:solidFill>
                  <a:srgbClr val="FFFFFF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Explore the Pipeline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640728" y="7434720"/>
            <a:ext cx="7723773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07"/>
              </a:lnSpc>
            </a:pPr>
            <a:r>
              <a:rPr lang="en-US" sz="1756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Sensor Perception → Occupancy Grid Representation.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640728" y="7996658"/>
            <a:ext cx="7723773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07"/>
              </a:lnSpc>
            </a:pPr>
            <a:r>
              <a:rPr lang="en-US" sz="1756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Motion Prediction → Sampling-Based Path Planning.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640728" y="8558596"/>
            <a:ext cx="7723773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07"/>
              </a:lnSpc>
            </a:pPr>
            <a:r>
              <a:rPr lang="en-US" sz="1756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Feedback Control Loop → Safe Trajectory Execution.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-801911" y="-787414"/>
            <a:ext cx="6005760" cy="5622414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5147"/>
                  </a:moveTo>
                  <a:lnTo>
                    <a:pt x="596900" y="289653"/>
                  </a:lnTo>
                  <a:cubicBezTo>
                    <a:pt x="596900" y="299326"/>
                    <a:pt x="592936" y="308575"/>
                    <a:pt x="585932" y="315246"/>
                  </a:cubicBezTo>
                  <a:lnTo>
                    <a:pt x="341168" y="548354"/>
                  </a:lnTo>
                  <a:cubicBezTo>
                    <a:pt x="334127" y="555060"/>
                    <a:pt x="324777" y="558800"/>
                    <a:pt x="315053" y="558800"/>
                  </a:cubicBezTo>
                  <a:lnTo>
                    <a:pt x="15147" y="558800"/>
                  </a:lnTo>
                  <a:cubicBezTo>
                    <a:pt x="6781" y="558800"/>
                    <a:pt x="0" y="552019"/>
                    <a:pt x="0" y="543653"/>
                  </a:cubicBezTo>
                  <a:lnTo>
                    <a:pt x="0" y="264067"/>
                  </a:lnTo>
                  <a:cubicBezTo>
                    <a:pt x="0" y="254397"/>
                    <a:pt x="3977" y="245154"/>
                    <a:pt x="10999" y="238506"/>
                  </a:cubicBezTo>
                  <a:lnTo>
                    <a:pt x="251891" y="10414"/>
                  </a:lnTo>
                  <a:cubicBezTo>
                    <a:pt x="258954" y="3727"/>
                    <a:pt x="268311" y="0"/>
                    <a:pt x="278037" y="0"/>
                  </a:cubicBezTo>
                  <a:lnTo>
                    <a:pt x="581753" y="0"/>
                  </a:lnTo>
                  <a:cubicBezTo>
                    <a:pt x="590119" y="0"/>
                    <a:pt x="596900" y="6781"/>
                    <a:pt x="596900" y="15147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-875342" y="3892899"/>
            <a:ext cx="1750683" cy="1638937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51961"/>
                  </a:moveTo>
                  <a:lnTo>
                    <a:pt x="596900" y="252839"/>
                  </a:lnTo>
                  <a:cubicBezTo>
                    <a:pt x="596900" y="286020"/>
                    <a:pt x="583301" y="317752"/>
                    <a:pt x="559273" y="340635"/>
                  </a:cubicBezTo>
                  <a:lnTo>
                    <a:pt x="367827" y="522965"/>
                  </a:lnTo>
                  <a:cubicBezTo>
                    <a:pt x="343673" y="545969"/>
                    <a:pt x="311595" y="558800"/>
                    <a:pt x="278239" y="558800"/>
                  </a:cubicBezTo>
                  <a:lnTo>
                    <a:pt x="51961" y="558800"/>
                  </a:lnTo>
                  <a:cubicBezTo>
                    <a:pt x="23264" y="558800"/>
                    <a:pt x="0" y="535536"/>
                    <a:pt x="0" y="506839"/>
                  </a:cubicBezTo>
                  <a:lnTo>
                    <a:pt x="0" y="300881"/>
                  </a:lnTo>
                  <a:cubicBezTo>
                    <a:pt x="0" y="267711"/>
                    <a:pt x="13645" y="236001"/>
                    <a:pt x="37731" y="213194"/>
                  </a:cubicBezTo>
                  <a:lnTo>
                    <a:pt x="225159" y="35726"/>
                  </a:lnTo>
                  <a:cubicBezTo>
                    <a:pt x="249387" y="12785"/>
                    <a:pt x="281485" y="0"/>
                    <a:pt x="314851" y="0"/>
                  </a:cubicBezTo>
                  <a:lnTo>
                    <a:pt x="544939" y="0"/>
                  </a:lnTo>
                  <a:cubicBezTo>
                    <a:pt x="573636" y="0"/>
                    <a:pt x="596900" y="23264"/>
                    <a:pt x="596900" y="51961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220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-2427509" y="4202699"/>
            <a:ext cx="7232336" cy="0"/>
          </a:xfrm>
          <a:prstGeom prst="line">
            <a:avLst/>
          </a:prstGeom>
          <a:ln w="38100" cap="rnd">
            <a:solidFill>
              <a:srgbClr val="FE971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 rot="5400000">
            <a:off x="10005635" y="6369713"/>
            <a:ext cx="5129706" cy="4802278"/>
            <a:chOff x="0" y="0"/>
            <a:chExt cx="596900" cy="558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7733"/>
                  </a:moveTo>
                  <a:lnTo>
                    <a:pt x="596900" y="287067"/>
                  </a:lnTo>
                  <a:cubicBezTo>
                    <a:pt x="596900" y="298391"/>
                    <a:pt x="592259" y="309220"/>
                    <a:pt x="584058" y="317030"/>
                  </a:cubicBezTo>
                  <a:lnTo>
                    <a:pt x="343041" y="546570"/>
                  </a:lnTo>
                  <a:cubicBezTo>
                    <a:pt x="334798" y="554421"/>
                    <a:pt x="323850" y="558800"/>
                    <a:pt x="312467" y="558800"/>
                  </a:cubicBezTo>
                  <a:lnTo>
                    <a:pt x="17733" y="558800"/>
                  </a:lnTo>
                  <a:cubicBezTo>
                    <a:pt x="13030" y="558800"/>
                    <a:pt x="8520" y="556932"/>
                    <a:pt x="5194" y="553606"/>
                  </a:cubicBezTo>
                  <a:cubicBezTo>
                    <a:pt x="1868" y="550280"/>
                    <a:pt x="0" y="545770"/>
                    <a:pt x="0" y="541067"/>
                  </a:cubicBezTo>
                  <a:lnTo>
                    <a:pt x="0" y="266653"/>
                  </a:lnTo>
                  <a:cubicBezTo>
                    <a:pt x="0" y="255333"/>
                    <a:pt x="4657" y="244511"/>
                    <a:pt x="12877" y="236727"/>
                  </a:cubicBezTo>
                  <a:lnTo>
                    <a:pt x="250013" y="12193"/>
                  </a:lnTo>
                  <a:cubicBezTo>
                    <a:pt x="258282" y="4363"/>
                    <a:pt x="269236" y="0"/>
                    <a:pt x="280623" y="0"/>
                  </a:cubicBezTo>
                  <a:lnTo>
                    <a:pt x="579167" y="0"/>
                  </a:lnTo>
                  <a:cubicBezTo>
                    <a:pt x="583870" y="0"/>
                    <a:pt x="588380" y="1868"/>
                    <a:pt x="591706" y="5194"/>
                  </a:cubicBezTo>
                  <a:cubicBezTo>
                    <a:pt x="595032" y="8520"/>
                    <a:pt x="596900" y="13030"/>
                    <a:pt x="596900" y="17733"/>
                  </a:cubicBezTo>
                  <a:close/>
                </a:path>
              </a:pathLst>
            </a:custGeom>
            <a:ln w="190500" cap="sq">
              <a:solidFill>
                <a:srgbClr val="014AAB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9304440" y="1157886"/>
            <a:ext cx="11455664" cy="10724451"/>
            <a:chOff x="0" y="0"/>
            <a:chExt cx="596900" cy="558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35734"/>
                  </a:moveTo>
                  <a:lnTo>
                    <a:pt x="596900" y="269066"/>
                  </a:lnTo>
                  <a:cubicBezTo>
                    <a:pt x="596900" y="291885"/>
                    <a:pt x="587548" y="313707"/>
                    <a:pt x="571024" y="329444"/>
                  </a:cubicBezTo>
                  <a:lnTo>
                    <a:pt x="356076" y="534156"/>
                  </a:lnTo>
                  <a:cubicBezTo>
                    <a:pt x="339465" y="549976"/>
                    <a:pt x="317405" y="558800"/>
                    <a:pt x="294466" y="558800"/>
                  </a:cubicBezTo>
                  <a:lnTo>
                    <a:pt x="35734" y="558800"/>
                  </a:lnTo>
                  <a:cubicBezTo>
                    <a:pt x="26257" y="558800"/>
                    <a:pt x="17168" y="555035"/>
                    <a:pt x="10466" y="548334"/>
                  </a:cubicBezTo>
                  <a:cubicBezTo>
                    <a:pt x="3765" y="541632"/>
                    <a:pt x="0" y="532543"/>
                    <a:pt x="0" y="523066"/>
                  </a:cubicBezTo>
                  <a:lnTo>
                    <a:pt x="0" y="284654"/>
                  </a:lnTo>
                  <a:cubicBezTo>
                    <a:pt x="0" y="261842"/>
                    <a:pt x="9383" y="240035"/>
                    <a:pt x="25948" y="224351"/>
                  </a:cubicBezTo>
                  <a:lnTo>
                    <a:pt x="236942" y="24569"/>
                  </a:lnTo>
                  <a:cubicBezTo>
                    <a:pt x="253604" y="8792"/>
                    <a:pt x="275678" y="0"/>
                    <a:pt x="298624" y="0"/>
                  </a:cubicBezTo>
                  <a:lnTo>
                    <a:pt x="561166" y="0"/>
                  </a:lnTo>
                  <a:cubicBezTo>
                    <a:pt x="570643" y="0"/>
                    <a:pt x="579732" y="3765"/>
                    <a:pt x="586434" y="10466"/>
                  </a:cubicBezTo>
                  <a:cubicBezTo>
                    <a:pt x="593135" y="17168"/>
                    <a:pt x="596900" y="26257"/>
                    <a:pt x="596900" y="35734"/>
                  </a:cubicBezTo>
                  <a:close/>
                </a:path>
              </a:pathLst>
            </a:custGeom>
            <a:solidFill>
              <a:srgbClr val="FE971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69349" y="1886002"/>
            <a:ext cx="5981727" cy="6734474"/>
            <a:chOff x="0" y="0"/>
            <a:chExt cx="1575434" cy="177368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75434" cy="1773689"/>
            </a:xfrm>
            <a:custGeom>
              <a:avLst/>
              <a:gdLst/>
              <a:ahLst/>
              <a:cxnLst/>
              <a:rect l="l" t="t" r="r" b="b"/>
              <a:pathLst>
                <a:path w="1575434" h="1773689">
                  <a:moveTo>
                    <a:pt x="38828" y="0"/>
                  </a:moveTo>
                  <a:lnTo>
                    <a:pt x="1536606" y="0"/>
                  </a:lnTo>
                  <a:cubicBezTo>
                    <a:pt x="1546904" y="0"/>
                    <a:pt x="1556780" y="4091"/>
                    <a:pt x="1564062" y="11372"/>
                  </a:cubicBezTo>
                  <a:cubicBezTo>
                    <a:pt x="1571344" y="18654"/>
                    <a:pt x="1575434" y="28530"/>
                    <a:pt x="1575434" y="38828"/>
                  </a:cubicBezTo>
                  <a:lnTo>
                    <a:pt x="1575434" y="1734861"/>
                  </a:lnTo>
                  <a:cubicBezTo>
                    <a:pt x="1575434" y="1756305"/>
                    <a:pt x="1558050" y="1773689"/>
                    <a:pt x="1536606" y="1773689"/>
                  </a:cubicBezTo>
                  <a:lnTo>
                    <a:pt x="38828" y="1773689"/>
                  </a:lnTo>
                  <a:cubicBezTo>
                    <a:pt x="17384" y="1773689"/>
                    <a:pt x="0" y="1756305"/>
                    <a:pt x="0" y="1734861"/>
                  </a:cubicBezTo>
                  <a:lnTo>
                    <a:pt x="0" y="38828"/>
                  </a:lnTo>
                  <a:cubicBezTo>
                    <a:pt x="0" y="17384"/>
                    <a:pt x="17384" y="0"/>
                    <a:pt x="3882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575434" cy="18308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02761" y="1893956"/>
            <a:ext cx="8115300" cy="1942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94"/>
              </a:lnSpc>
            </a:pPr>
            <a:r>
              <a:rPr lang="en-US" sz="7494" b="1" spc="149">
                <a:solidFill>
                  <a:srgbClr val="011A3C"/>
                </a:solidFill>
                <a:latin typeface="Gotham Bold"/>
                <a:ea typeface="Gotham Bold"/>
                <a:cs typeface="Gotham Bold"/>
                <a:sym typeface="Gotham Bold"/>
              </a:rPr>
              <a:t>Core Algorithms</a:t>
            </a:r>
          </a:p>
        </p:txBody>
      </p:sp>
      <p:sp>
        <p:nvSpPr>
          <p:cNvPr id="19" name="Freeform 19"/>
          <p:cNvSpPr/>
          <p:nvPr/>
        </p:nvSpPr>
        <p:spPr>
          <a:xfrm>
            <a:off x="16064016" y="792280"/>
            <a:ext cx="1670629" cy="1652404"/>
          </a:xfrm>
          <a:custGeom>
            <a:avLst/>
            <a:gdLst/>
            <a:ahLst/>
            <a:cxnLst/>
            <a:rect l="l" t="t" r="r" b="b"/>
            <a:pathLst>
              <a:path w="1670629" h="1652404">
                <a:moveTo>
                  <a:pt x="0" y="0"/>
                </a:moveTo>
                <a:lnTo>
                  <a:pt x="1670629" y="0"/>
                </a:lnTo>
                <a:lnTo>
                  <a:pt x="1670629" y="1652404"/>
                </a:lnTo>
                <a:lnTo>
                  <a:pt x="0" y="16524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216045" y="6250839"/>
            <a:ext cx="5602303" cy="924316"/>
            <a:chOff x="0" y="0"/>
            <a:chExt cx="1475504" cy="24344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75504" cy="243441"/>
            </a:xfrm>
            <a:custGeom>
              <a:avLst/>
              <a:gdLst/>
              <a:ahLst/>
              <a:cxnLst/>
              <a:rect l="l" t="t" r="r" b="b"/>
              <a:pathLst>
                <a:path w="1475504" h="243441">
                  <a:moveTo>
                    <a:pt x="121721" y="0"/>
                  </a:moveTo>
                  <a:lnTo>
                    <a:pt x="1353783" y="0"/>
                  </a:lnTo>
                  <a:cubicBezTo>
                    <a:pt x="1421008" y="0"/>
                    <a:pt x="1475504" y="54496"/>
                    <a:pt x="1475504" y="121721"/>
                  </a:cubicBezTo>
                  <a:lnTo>
                    <a:pt x="1475504" y="121721"/>
                  </a:lnTo>
                  <a:cubicBezTo>
                    <a:pt x="1475504" y="154003"/>
                    <a:pt x="1462680" y="184963"/>
                    <a:pt x="1439853" y="207790"/>
                  </a:cubicBezTo>
                  <a:cubicBezTo>
                    <a:pt x="1417026" y="230617"/>
                    <a:pt x="1386065" y="243441"/>
                    <a:pt x="1353783" y="243441"/>
                  </a:cubicBezTo>
                  <a:lnTo>
                    <a:pt x="121721" y="243441"/>
                  </a:lnTo>
                  <a:cubicBezTo>
                    <a:pt x="89438" y="243441"/>
                    <a:pt x="58478" y="230617"/>
                    <a:pt x="35651" y="207790"/>
                  </a:cubicBezTo>
                  <a:cubicBezTo>
                    <a:pt x="12824" y="184963"/>
                    <a:pt x="0" y="154003"/>
                    <a:pt x="0" y="121721"/>
                  </a:cubicBezTo>
                  <a:lnTo>
                    <a:pt x="0" y="121721"/>
                  </a:lnTo>
                  <a:cubicBezTo>
                    <a:pt x="0" y="89438"/>
                    <a:pt x="12824" y="58478"/>
                    <a:pt x="35651" y="35651"/>
                  </a:cubicBezTo>
                  <a:cubicBezTo>
                    <a:pt x="58478" y="12824"/>
                    <a:pt x="89438" y="0"/>
                    <a:pt x="121721" y="0"/>
                  </a:cubicBezTo>
                  <a:close/>
                </a:path>
              </a:pathLst>
            </a:custGeom>
            <a:solidFill>
              <a:srgbClr val="014AAB"/>
            </a:solidFill>
            <a:ln cap="rnd">
              <a:noFill/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475504" cy="3005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431105" y="2357718"/>
            <a:ext cx="4731056" cy="1014107"/>
            <a:chOff x="0" y="0"/>
            <a:chExt cx="1246040" cy="26709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46040" cy="267090"/>
            </a:xfrm>
            <a:custGeom>
              <a:avLst/>
              <a:gdLst/>
              <a:ahLst/>
              <a:cxnLst/>
              <a:rect l="l" t="t" r="r" b="b"/>
              <a:pathLst>
                <a:path w="1246040" h="267090">
                  <a:moveTo>
                    <a:pt x="133545" y="0"/>
                  </a:moveTo>
                  <a:lnTo>
                    <a:pt x="1112494" y="0"/>
                  </a:lnTo>
                  <a:cubicBezTo>
                    <a:pt x="1186249" y="0"/>
                    <a:pt x="1246040" y="59790"/>
                    <a:pt x="1246040" y="133545"/>
                  </a:cubicBezTo>
                  <a:lnTo>
                    <a:pt x="1246040" y="133545"/>
                  </a:lnTo>
                  <a:cubicBezTo>
                    <a:pt x="1246040" y="168963"/>
                    <a:pt x="1231970" y="202931"/>
                    <a:pt x="1206925" y="227976"/>
                  </a:cubicBezTo>
                  <a:cubicBezTo>
                    <a:pt x="1181881" y="253020"/>
                    <a:pt x="1147913" y="267090"/>
                    <a:pt x="1112494" y="267090"/>
                  </a:cubicBezTo>
                  <a:lnTo>
                    <a:pt x="133545" y="267090"/>
                  </a:lnTo>
                  <a:cubicBezTo>
                    <a:pt x="98127" y="267090"/>
                    <a:pt x="64159" y="253020"/>
                    <a:pt x="39114" y="227976"/>
                  </a:cubicBezTo>
                  <a:cubicBezTo>
                    <a:pt x="14070" y="202931"/>
                    <a:pt x="0" y="168963"/>
                    <a:pt x="0" y="133545"/>
                  </a:cubicBezTo>
                  <a:lnTo>
                    <a:pt x="0" y="133545"/>
                  </a:lnTo>
                  <a:cubicBezTo>
                    <a:pt x="0" y="98127"/>
                    <a:pt x="14070" y="64159"/>
                    <a:pt x="39114" y="39114"/>
                  </a:cubicBezTo>
                  <a:cubicBezTo>
                    <a:pt x="64159" y="14070"/>
                    <a:pt x="98127" y="0"/>
                    <a:pt x="13354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14AAB"/>
              </a:soli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1246040" cy="3242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721658" y="2259882"/>
            <a:ext cx="1209779" cy="1209779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15545340" y="9258300"/>
            <a:ext cx="1211471" cy="200443"/>
          </a:xfrm>
          <a:custGeom>
            <a:avLst/>
            <a:gdLst/>
            <a:ahLst/>
            <a:cxnLst/>
            <a:rect l="l" t="t" r="r" b="b"/>
            <a:pathLst>
              <a:path w="1211471" h="200443">
                <a:moveTo>
                  <a:pt x="0" y="0"/>
                </a:moveTo>
                <a:lnTo>
                  <a:pt x="1211472" y="0"/>
                </a:lnTo>
                <a:lnTo>
                  <a:pt x="1211472" y="200443"/>
                </a:lnTo>
                <a:lnTo>
                  <a:pt x="0" y="2004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215085" y="8632405"/>
            <a:ext cx="772377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60"/>
              </a:lnSpc>
            </a:pPr>
            <a:r>
              <a:rPr lang="en-US" sz="1383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Potential Fields &amp; TEB: Local trajectory optimization with safety-aware cost functions.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8000488" y="-1161592"/>
            <a:ext cx="2287024" cy="2141044"/>
            <a:chOff x="0" y="0"/>
            <a:chExt cx="596900" cy="558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39776"/>
                  </a:moveTo>
                  <a:lnTo>
                    <a:pt x="596900" y="265024"/>
                  </a:lnTo>
                  <a:cubicBezTo>
                    <a:pt x="596900" y="290424"/>
                    <a:pt x="586490" y="314714"/>
                    <a:pt x="568097" y="332231"/>
                  </a:cubicBezTo>
                  <a:lnTo>
                    <a:pt x="359003" y="531369"/>
                  </a:lnTo>
                  <a:cubicBezTo>
                    <a:pt x="340513" y="548978"/>
                    <a:pt x="315958" y="558800"/>
                    <a:pt x="290424" y="558800"/>
                  </a:cubicBezTo>
                  <a:lnTo>
                    <a:pt x="39776" y="558800"/>
                  </a:lnTo>
                  <a:cubicBezTo>
                    <a:pt x="29226" y="558800"/>
                    <a:pt x="19109" y="554609"/>
                    <a:pt x="11650" y="547150"/>
                  </a:cubicBezTo>
                  <a:cubicBezTo>
                    <a:pt x="4191" y="539691"/>
                    <a:pt x="0" y="529574"/>
                    <a:pt x="0" y="519024"/>
                  </a:cubicBezTo>
                  <a:lnTo>
                    <a:pt x="0" y="288696"/>
                  </a:lnTo>
                  <a:cubicBezTo>
                    <a:pt x="0" y="263304"/>
                    <a:pt x="10445" y="239030"/>
                    <a:pt x="28882" y="221572"/>
                  </a:cubicBezTo>
                  <a:lnTo>
                    <a:pt x="234008" y="27348"/>
                  </a:lnTo>
                  <a:cubicBezTo>
                    <a:pt x="252554" y="9787"/>
                    <a:pt x="277124" y="0"/>
                    <a:pt x="302666" y="0"/>
                  </a:cubicBezTo>
                  <a:lnTo>
                    <a:pt x="557124" y="0"/>
                  </a:lnTo>
                  <a:cubicBezTo>
                    <a:pt x="567674" y="0"/>
                    <a:pt x="577791" y="4191"/>
                    <a:pt x="585250" y="11650"/>
                  </a:cubicBezTo>
                  <a:cubicBezTo>
                    <a:pt x="592709" y="19109"/>
                    <a:pt x="596900" y="29226"/>
                    <a:pt x="596900" y="39776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7394752" y="341699"/>
            <a:ext cx="1211471" cy="200443"/>
          </a:xfrm>
          <a:custGeom>
            <a:avLst/>
            <a:gdLst/>
            <a:ahLst/>
            <a:cxnLst/>
            <a:rect l="l" t="t" r="r" b="b"/>
            <a:pathLst>
              <a:path w="1211471" h="200443">
                <a:moveTo>
                  <a:pt x="0" y="0"/>
                </a:moveTo>
                <a:lnTo>
                  <a:pt x="1211472" y="0"/>
                </a:lnTo>
                <a:lnTo>
                  <a:pt x="1211472" y="200443"/>
                </a:lnTo>
                <a:lnTo>
                  <a:pt x="0" y="2004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 flipH="1" flipV="1">
            <a:off x="404204" y="8740838"/>
            <a:ext cx="1145306" cy="1132812"/>
          </a:xfrm>
          <a:custGeom>
            <a:avLst/>
            <a:gdLst/>
            <a:ahLst/>
            <a:cxnLst/>
            <a:rect l="l" t="t" r="r" b="b"/>
            <a:pathLst>
              <a:path w="1145306" h="1132812">
                <a:moveTo>
                  <a:pt x="1145306" y="1132812"/>
                </a:moveTo>
                <a:lnTo>
                  <a:pt x="0" y="1132812"/>
                </a:lnTo>
                <a:lnTo>
                  <a:pt x="0" y="0"/>
                </a:lnTo>
                <a:lnTo>
                  <a:pt x="1145306" y="0"/>
                </a:lnTo>
                <a:lnTo>
                  <a:pt x="1145306" y="11328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8987602" y="2521548"/>
            <a:ext cx="646649" cy="719498"/>
          </a:xfrm>
          <a:custGeom>
            <a:avLst/>
            <a:gdLst/>
            <a:ahLst/>
            <a:cxnLst/>
            <a:rect l="l" t="t" r="r" b="b"/>
            <a:pathLst>
              <a:path w="646649" h="719498">
                <a:moveTo>
                  <a:pt x="0" y="0"/>
                </a:moveTo>
                <a:lnTo>
                  <a:pt x="646649" y="0"/>
                </a:lnTo>
                <a:lnTo>
                  <a:pt x="646649" y="719498"/>
                </a:lnTo>
                <a:lnTo>
                  <a:pt x="0" y="7194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1202761" y="6478065"/>
            <a:ext cx="5615588" cy="455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7"/>
              </a:lnSpc>
            </a:pPr>
            <a:r>
              <a:rPr lang="en-US" sz="2698" b="1">
                <a:solidFill>
                  <a:srgbClr val="FFFFFF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Path Planning Algorithms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063655" y="2629840"/>
            <a:ext cx="3723907" cy="455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7"/>
              </a:lnSpc>
            </a:pPr>
            <a:r>
              <a:rPr lang="en-US" sz="2698" b="1">
                <a:solidFill>
                  <a:srgbClr val="011A3C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Prediction Methods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02761" y="4627440"/>
            <a:ext cx="7328203" cy="479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6"/>
              </a:lnSpc>
            </a:pPr>
            <a:r>
              <a:rPr lang="en-US" sz="1383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Classical and sampling-based methods form the backbone of autonomous path generation in dynamic, unstructured environments with real-time constraints.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15085" y="7508529"/>
            <a:ext cx="772377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60"/>
              </a:lnSpc>
            </a:pPr>
            <a:r>
              <a:rPr lang="en-US" sz="1383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A* &amp; D* Lite: Grid-based optimal search with dynamic replanning on updated cost maps.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15085" y="8070467"/>
            <a:ext cx="772377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60"/>
              </a:lnSpc>
            </a:pPr>
            <a:r>
              <a:rPr lang="en-US" sz="1383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RRT* &amp; Informed RRT*: Asymptotically optimal sampling in high-dimensional configuration space.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868338" y="3762524"/>
            <a:ext cx="4583749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60"/>
              </a:lnSpc>
            </a:pPr>
            <a:r>
              <a:rPr lang="en-US" sz="1383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Combines kinematic models, deep learning, and transformer architectures to anticipate dynamic agent behavior and enable safe replanning.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868338" y="5510748"/>
            <a:ext cx="4583749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60"/>
              </a:lnSpc>
            </a:pPr>
            <a:r>
              <a:rPr lang="en-US" sz="1383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Kinematic &amp; CV Models: Constant velocity and bicycle models for short-horizon prediction.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868338" y="6389202"/>
            <a:ext cx="4583749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60"/>
              </a:lnSpc>
            </a:pPr>
            <a:r>
              <a:rPr lang="en-US" sz="1383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LSTM / GRU Networks: Recurrent models capturing temporal trajectory dependencies.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868338" y="7265428"/>
            <a:ext cx="4583749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60"/>
              </a:lnSpc>
            </a:pPr>
            <a:r>
              <a:rPr lang="en-US" sz="1383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Transformer Models: Attention-based multi-agent interaction and intent forecasting.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2701448" y="-2614982"/>
            <a:ext cx="5586552" cy="5229964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6283"/>
                  </a:moveTo>
                  <a:lnTo>
                    <a:pt x="596900" y="288517"/>
                  </a:lnTo>
                  <a:cubicBezTo>
                    <a:pt x="596900" y="298915"/>
                    <a:pt x="592638" y="308859"/>
                    <a:pt x="585109" y="316030"/>
                  </a:cubicBezTo>
                  <a:lnTo>
                    <a:pt x="341991" y="547570"/>
                  </a:lnTo>
                  <a:cubicBezTo>
                    <a:pt x="334422" y="554779"/>
                    <a:pt x="324370" y="558800"/>
                    <a:pt x="313917" y="558800"/>
                  </a:cubicBezTo>
                  <a:lnTo>
                    <a:pt x="16283" y="558800"/>
                  </a:lnTo>
                  <a:cubicBezTo>
                    <a:pt x="7290" y="558800"/>
                    <a:pt x="0" y="551510"/>
                    <a:pt x="0" y="542517"/>
                  </a:cubicBezTo>
                  <a:lnTo>
                    <a:pt x="0" y="265203"/>
                  </a:lnTo>
                  <a:cubicBezTo>
                    <a:pt x="0" y="254809"/>
                    <a:pt x="4276" y="244871"/>
                    <a:pt x="11824" y="237724"/>
                  </a:cubicBezTo>
                  <a:lnTo>
                    <a:pt x="251066" y="11196"/>
                  </a:lnTo>
                  <a:cubicBezTo>
                    <a:pt x="258659" y="4007"/>
                    <a:pt x="268717" y="0"/>
                    <a:pt x="279173" y="0"/>
                  </a:cubicBezTo>
                  <a:lnTo>
                    <a:pt x="580617" y="0"/>
                  </a:lnTo>
                  <a:cubicBezTo>
                    <a:pt x="589610" y="0"/>
                    <a:pt x="596900" y="7290"/>
                    <a:pt x="596900" y="16283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-1887473" y="-903045"/>
            <a:ext cx="5586552" cy="5229964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6283"/>
                  </a:moveTo>
                  <a:lnTo>
                    <a:pt x="596900" y="288517"/>
                  </a:lnTo>
                  <a:cubicBezTo>
                    <a:pt x="596900" y="298915"/>
                    <a:pt x="592638" y="308859"/>
                    <a:pt x="585109" y="316030"/>
                  </a:cubicBezTo>
                  <a:lnTo>
                    <a:pt x="341991" y="547570"/>
                  </a:lnTo>
                  <a:cubicBezTo>
                    <a:pt x="334422" y="554779"/>
                    <a:pt x="324370" y="558800"/>
                    <a:pt x="313917" y="558800"/>
                  </a:cubicBezTo>
                  <a:lnTo>
                    <a:pt x="16283" y="558800"/>
                  </a:lnTo>
                  <a:cubicBezTo>
                    <a:pt x="7290" y="558800"/>
                    <a:pt x="0" y="551510"/>
                    <a:pt x="0" y="542517"/>
                  </a:cubicBezTo>
                  <a:lnTo>
                    <a:pt x="0" y="265203"/>
                  </a:lnTo>
                  <a:cubicBezTo>
                    <a:pt x="0" y="254809"/>
                    <a:pt x="4276" y="244871"/>
                    <a:pt x="11824" y="237724"/>
                  </a:cubicBezTo>
                  <a:lnTo>
                    <a:pt x="251066" y="11196"/>
                  </a:lnTo>
                  <a:cubicBezTo>
                    <a:pt x="258659" y="4007"/>
                    <a:pt x="268717" y="0"/>
                    <a:pt x="279173" y="0"/>
                  </a:cubicBezTo>
                  <a:lnTo>
                    <a:pt x="580617" y="0"/>
                  </a:lnTo>
                  <a:cubicBezTo>
                    <a:pt x="589610" y="0"/>
                    <a:pt x="596900" y="7290"/>
                    <a:pt x="596900" y="16283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185303" y="4504771"/>
            <a:ext cx="10433951" cy="9767954"/>
            <a:chOff x="0" y="0"/>
            <a:chExt cx="596900" cy="558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7437"/>
                  </a:moveTo>
                  <a:lnTo>
                    <a:pt x="596900" y="287363"/>
                  </a:lnTo>
                  <a:cubicBezTo>
                    <a:pt x="596900" y="298498"/>
                    <a:pt x="592336" y="309146"/>
                    <a:pt x="584273" y="316825"/>
                  </a:cubicBezTo>
                  <a:lnTo>
                    <a:pt x="342827" y="546775"/>
                  </a:lnTo>
                  <a:cubicBezTo>
                    <a:pt x="334721" y="554494"/>
                    <a:pt x="323957" y="558800"/>
                    <a:pt x="312763" y="558800"/>
                  </a:cubicBezTo>
                  <a:lnTo>
                    <a:pt x="17437" y="558800"/>
                  </a:lnTo>
                  <a:cubicBezTo>
                    <a:pt x="7807" y="558800"/>
                    <a:pt x="0" y="550993"/>
                    <a:pt x="0" y="541363"/>
                  </a:cubicBezTo>
                  <a:lnTo>
                    <a:pt x="0" y="266357"/>
                  </a:lnTo>
                  <a:cubicBezTo>
                    <a:pt x="0" y="255226"/>
                    <a:pt x="4579" y="244585"/>
                    <a:pt x="12662" y="236931"/>
                  </a:cubicBezTo>
                  <a:lnTo>
                    <a:pt x="250228" y="11989"/>
                  </a:lnTo>
                  <a:cubicBezTo>
                    <a:pt x="258359" y="4290"/>
                    <a:pt x="269130" y="0"/>
                    <a:pt x="280327" y="0"/>
                  </a:cubicBezTo>
                  <a:lnTo>
                    <a:pt x="579463" y="0"/>
                  </a:lnTo>
                  <a:cubicBezTo>
                    <a:pt x="589093" y="0"/>
                    <a:pt x="596900" y="7807"/>
                    <a:pt x="596900" y="17437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14333257" y="3352274"/>
            <a:ext cx="10433951" cy="9767954"/>
            <a:chOff x="0" y="0"/>
            <a:chExt cx="596900" cy="558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7437"/>
                  </a:moveTo>
                  <a:lnTo>
                    <a:pt x="596900" y="287363"/>
                  </a:lnTo>
                  <a:cubicBezTo>
                    <a:pt x="596900" y="298498"/>
                    <a:pt x="592336" y="309146"/>
                    <a:pt x="584273" y="316825"/>
                  </a:cubicBezTo>
                  <a:lnTo>
                    <a:pt x="342827" y="546775"/>
                  </a:lnTo>
                  <a:cubicBezTo>
                    <a:pt x="334721" y="554494"/>
                    <a:pt x="323957" y="558800"/>
                    <a:pt x="312763" y="558800"/>
                  </a:cubicBezTo>
                  <a:lnTo>
                    <a:pt x="17437" y="558800"/>
                  </a:lnTo>
                  <a:cubicBezTo>
                    <a:pt x="7807" y="558800"/>
                    <a:pt x="0" y="550993"/>
                    <a:pt x="0" y="541363"/>
                  </a:cubicBezTo>
                  <a:lnTo>
                    <a:pt x="0" y="266357"/>
                  </a:lnTo>
                  <a:cubicBezTo>
                    <a:pt x="0" y="255226"/>
                    <a:pt x="4579" y="244585"/>
                    <a:pt x="12662" y="236931"/>
                  </a:cubicBezTo>
                  <a:lnTo>
                    <a:pt x="250228" y="11989"/>
                  </a:lnTo>
                  <a:cubicBezTo>
                    <a:pt x="258359" y="4290"/>
                    <a:pt x="269130" y="0"/>
                    <a:pt x="280327" y="0"/>
                  </a:cubicBezTo>
                  <a:lnTo>
                    <a:pt x="579463" y="0"/>
                  </a:lnTo>
                  <a:cubicBezTo>
                    <a:pt x="589093" y="0"/>
                    <a:pt x="596900" y="7807"/>
                    <a:pt x="596900" y="17437"/>
                  </a:cubicBezTo>
                  <a:close/>
                </a:path>
              </a:pathLst>
            </a:custGeom>
            <a:solidFill>
              <a:srgbClr val="FE971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3423573"/>
            <a:ext cx="16230600" cy="6170299"/>
            <a:chOff x="0" y="0"/>
            <a:chExt cx="4274726" cy="162509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274726" cy="1625099"/>
            </a:xfrm>
            <a:custGeom>
              <a:avLst/>
              <a:gdLst/>
              <a:ahLst/>
              <a:cxnLst/>
              <a:rect l="l" t="t" r="r" b="b"/>
              <a:pathLst>
                <a:path w="4274726" h="1625099">
                  <a:moveTo>
                    <a:pt x="20988" y="0"/>
                  </a:moveTo>
                  <a:lnTo>
                    <a:pt x="4253738" y="0"/>
                  </a:lnTo>
                  <a:cubicBezTo>
                    <a:pt x="4265329" y="0"/>
                    <a:pt x="4274726" y="9397"/>
                    <a:pt x="4274726" y="20988"/>
                  </a:cubicBezTo>
                  <a:lnTo>
                    <a:pt x="4274726" y="1604112"/>
                  </a:lnTo>
                  <a:cubicBezTo>
                    <a:pt x="4274726" y="1609678"/>
                    <a:pt x="4272515" y="1615016"/>
                    <a:pt x="4268579" y="1618952"/>
                  </a:cubicBezTo>
                  <a:cubicBezTo>
                    <a:pt x="4264643" y="1622888"/>
                    <a:pt x="4259304" y="1625099"/>
                    <a:pt x="4253738" y="1625099"/>
                  </a:cubicBezTo>
                  <a:lnTo>
                    <a:pt x="20988" y="1625099"/>
                  </a:lnTo>
                  <a:cubicBezTo>
                    <a:pt x="9397" y="1625099"/>
                    <a:pt x="0" y="1615703"/>
                    <a:pt x="0" y="1604112"/>
                  </a:cubicBezTo>
                  <a:lnTo>
                    <a:pt x="0" y="20988"/>
                  </a:lnTo>
                  <a:cubicBezTo>
                    <a:pt x="0" y="9397"/>
                    <a:pt x="9397" y="0"/>
                    <a:pt x="209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4274726" cy="16822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774" y="3060158"/>
            <a:ext cx="6361172" cy="6697078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 flipV="1">
            <a:off x="6064121" y="3069287"/>
            <a:ext cx="6159759" cy="0"/>
          </a:xfrm>
          <a:prstGeom prst="line">
            <a:avLst/>
          </a:prstGeom>
          <a:ln w="38100" cap="rnd">
            <a:solidFill>
              <a:srgbClr val="FE971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9"/>
          <p:cNvGrpSpPr/>
          <p:nvPr/>
        </p:nvGrpSpPr>
        <p:grpSpPr>
          <a:xfrm>
            <a:off x="9752577" y="5901643"/>
            <a:ext cx="2799129" cy="1014107"/>
            <a:chOff x="0" y="0"/>
            <a:chExt cx="737219" cy="2670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37219" cy="267090"/>
            </a:xfrm>
            <a:custGeom>
              <a:avLst/>
              <a:gdLst/>
              <a:ahLst/>
              <a:cxnLst/>
              <a:rect l="l" t="t" r="r" b="b"/>
              <a:pathLst>
                <a:path w="737219" h="267090">
                  <a:moveTo>
                    <a:pt x="133545" y="0"/>
                  </a:moveTo>
                  <a:lnTo>
                    <a:pt x="603674" y="0"/>
                  </a:lnTo>
                  <a:cubicBezTo>
                    <a:pt x="639092" y="0"/>
                    <a:pt x="673060" y="14070"/>
                    <a:pt x="698105" y="39114"/>
                  </a:cubicBezTo>
                  <a:cubicBezTo>
                    <a:pt x="723149" y="64159"/>
                    <a:pt x="737219" y="98127"/>
                    <a:pt x="737219" y="133545"/>
                  </a:cubicBezTo>
                  <a:lnTo>
                    <a:pt x="737219" y="133545"/>
                  </a:lnTo>
                  <a:cubicBezTo>
                    <a:pt x="737219" y="168963"/>
                    <a:pt x="723149" y="202931"/>
                    <a:pt x="698105" y="227976"/>
                  </a:cubicBezTo>
                  <a:cubicBezTo>
                    <a:pt x="673060" y="253020"/>
                    <a:pt x="639092" y="267090"/>
                    <a:pt x="603674" y="267090"/>
                  </a:cubicBezTo>
                  <a:lnTo>
                    <a:pt x="133545" y="267090"/>
                  </a:lnTo>
                  <a:cubicBezTo>
                    <a:pt x="98127" y="267090"/>
                    <a:pt x="64159" y="253020"/>
                    <a:pt x="39114" y="227976"/>
                  </a:cubicBezTo>
                  <a:cubicBezTo>
                    <a:pt x="14070" y="202931"/>
                    <a:pt x="0" y="168963"/>
                    <a:pt x="0" y="133545"/>
                  </a:cubicBezTo>
                  <a:lnTo>
                    <a:pt x="0" y="133545"/>
                  </a:lnTo>
                  <a:cubicBezTo>
                    <a:pt x="0" y="98127"/>
                    <a:pt x="14070" y="64159"/>
                    <a:pt x="39114" y="39114"/>
                  </a:cubicBezTo>
                  <a:cubicBezTo>
                    <a:pt x="64159" y="14070"/>
                    <a:pt x="98127" y="0"/>
                    <a:pt x="13354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E9710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737219" cy="3242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046754" y="5901643"/>
            <a:ext cx="1014107" cy="1014107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9152831" y="5854749"/>
            <a:ext cx="850651" cy="834701"/>
          </a:xfrm>
          <a:custGeom>
            <a:avLst/>
            <a:gdLst/>
            <a:ahLst/>
            <a:cxnLst/>
            <a:rect l="l" t="t" r="r" b="b"/>
            <a:pathLst>
              <a:path w="850651" h="834701">
                <a:moveTo>
                  <a:pt x="0" y="0"/>
                </a:moveTo>
                <a:lnTo>
                  <a:pt x="850650" y="0"/>
                </a:lnTo>
                <a:lnTo>
                  <a:pt x="850650" y="834701"/>
                </a:lnTo>
                <a:lnTo>
                  <a:pt x="0" y="834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3031672" y="1845373"/>
            <a:ext cx="12224655" cy="999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94"/>
              </a:lnSpc>
            </a:pPr>
            <a:r>
              <a:rPr lang="en-US" sz="7494" b="1" spc="149">
                <a:solidFill>
                  <a:srgbClr val="011A3C"/>
                </a:solidFill>
                <a:latin typeface="Gotham Bold"/>
                <a:ea typeface="Gotham Bold"/>
                <a:cs typeface="Gotham Bold"/>
                <a:sym typeface="Gotham Bold"/>
              </a:rPr>
              <a:t>Results and Analysis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46754" y="3798331"/>
            <a:ext cx="7806515" cy="1387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6"/>
              </a:lnSpc>
            </a:pPr>
            <a:r>
              <a:rPr lang="en-US" sz="1997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The proposed approach achieves a planning success rate of 94.7%, collision rate of 1.2%, and average path length of 48.3m. Prediction error is reduced to 0.31m (RMSE), with planning time averaging 38ms — well within real-time constraints for dynamic environments.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046754" y="7236947"/>
            <a:ext cx="7806515" cy="1739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6"/>
              </a:lnSpc>
            </a:pPr>
            <a:r>
              <a:rPr lang="en-US" sz="1997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Compared to the baseline RRT* planner, our hybrid model shows +18% improvement in safety score, +22% in trajectory accuracy, and +15% in computational efficiency. Path smoothness index improved from 0.61 to 0.89. These gains are consistent across urban, highway, and unstructured road scenarios tested in simulation.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361926" y="6157237"/>
            <a:ext cx="2189780" cy="455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7"/>
              </a:lnSpc>
            </a:pPr>
            <a:r>
              <a:rPr lang="en-US" sz="2698" b="1">
                <a:solidFill>
                  <a:srgbClr val="011A3C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Key Findings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-954618" y="641415"/>
            <a:ext cx="2287024" cy="2141044"/>
            <a:chOff x="0" y="0"/>
            <a:chExt cx="596900" cy="558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39776"/>
                  </a:moveTo>
                  <a:lnTo>
                    <a:pt x="596900" y="265024"/>
                  </a:lnTo>
                  <a:cubicBezTo>
                    <a:pt x="596900" y="290424"/>
                    <a:pt x="586490" y="314714"/>
                    <a:pt x="568097" y="332231"/>
                  </a:cubicBezTo>
                  <a:lnTo>
                    <a:pt x="359003" y="531369"/>
                  </a:lnTo>
                  <a:cubicBezTo>
                    <a:pt x="340513" y="548978"/>
                    <a:pt x="315958" y="558800"/>
                    <a:pt x="290424" y="558800"/>
                  </a:cubicBezTo>
                  <a:lnTo>
                    <a:pt x="39776" y="558800"/>
                  </a:lnTo>
                  <a:cubicBezTo>
                    <a:pt x="29226" y="558800"/>
                    <a:pt x="19109" y="554609"/>
                    <a:pt x="11650" y="547150"/>
                  </a:cubicBezTo>
                  <a:cubicBezTo>
                    <a:pt x="4191" y="539691"/>
                    <a:pt x="0" y="529574"/>
                    <a:pt x="0" y="519024"/>
                  </a:cubicBezTo>
                  <a:lnTo>
                    <a:pt x="0" y="288696"/>
                  </a:lnTo>
                  <a:cubicBezTo>
                    <a:pt x="0" y="263304"/>
                    <a:pt x="10445" y="239030"/>
                    <a:pt x="28882" y="221572"/>
                  </a:cubicBezTo>
                  <a:lnTo>
                    <a:pt x="234008" y="27348"/>
                  </a:lnTo>
                  <a:cubicBezTo>
                    <a:pt x="252554" y="9787"/>
                    <a:pt x="277124" y="0"/>
                    <a:pt x="302666" y="0"/>
                  </a:cubicBezTo>
                  <a:lnTo>
                    <a:pt x="557124" y="0"/>
                  </a:lnTo>
                  <a:cubicBezTo>
                    <a:pt x="567674" y="0"/>
                    <a:pt x="577791" y="4191"/>
                    <a:pt x="585250" y="11650"/>
                  </a:cubicBezTo>
                  <a:cubicBezTo>
                    <a:pt x="592709" y="19109"/>
                    <a:pt x="596900" y="29226"/>
                    <a:pt x="596900" y="39776"/>
                  </a:cubicBezTo>
                  <a:close/>
                </a:path>
              </a:pathLst>
            </a:custGeom>
            <a:solidFill>
              <a:srgbClr val="FE9710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8980711" y="9600385"/>
            <a:ext cx="1112976" cy="176685"/>
          </a:xfrm>
          <a:custGeom>
            <a:avLst/>
            <a:gdLst/>
            <a:ahLst/>
            <a:cxnLst/>
            <a:rect l="l" t="t" r="r" b="b"/>
            <a:pathLst>
              <a:path w="1112976" h="176685">
                <a:moveTo>
                  <a:pt x="0" y="0"/>
                </a:moveTo>
                <a:lnTo>
                  <a:pt x="1112977" y="0"/>
                </a:lnTo>
                <a:lnTo>
                  <a:pt x="1112977" y="176685"/>
                </a:lnTo>
                <a:lnTo>
                  <a:pt x="0" y="1766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4052123" y="691747"/>
            <a:ext cx="1316043" cy="202342"/>
          </a:xfrm>
          <a:custGeom>
            <a:avLst/>
            <a:gdLst/>
            <a:ahLst/>
            <a:cxnLst/>
            <a:rect l="l" t="t" r="r" b="b"/>
            <a:pathLst>
              <a:path w="1316043" h="202342">
                <a:moveTo>
                  <a:pt x="0" y="0"/>
                </a:moveTo>
                <a:lnTo>
                  <a:pt x="1316042" y="0"/>
                </a:lnTo>
                <a:lnTo>
                  <a:pt x="1316042" y="202342"/>
                </a:lnTo>
                <a:lnTo>
                  <a:pt x="0" y="2023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555786" y="671424"/>
            <a:ext cx="913288" cy="930740"/>
          </a:xfrm>
          <a:custGeom>
            <a:avLst/>
            <a:gdLst/>
            <a:ahLst/>
            <a:cxnLst/>
            <a:rect l="l" t="t" r="r" b="b"/>
            <a:pathLst>
              <a:path w="913288" h="930740">
                <a:moveTo>
                  <a:pt x="0" y="0"/>
                </a:moveTo>
                <a:lnTo>
                  <a:pt x="913289" y="0"/>
                </a:lnTo>
                <a:lnTo>
                  <a:pt x="913289" y="930739"/>
                </a:lnTo>
                <a:lnTo>
                  <a:pt x="0" y="930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11861" y="5494749"/>
            <a:ext cx="3645430" cy="3412743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24954"/>
                  </a:moveTo>
                  <a:lnTo>
                    <a:pt x="596900" y="279846"/>
                  </a:lnTo>
                  <a:cubicBezTo>
                    <a:pt x="596900" y="295781"/>
                    <a:pt x="590369" y="311020"/>
                    <a:pt x="578830" y="322010"/>
                  </a:cubicBezTo>
                  <a:lnTo>
                    <a:pt x="348270" y="541590"/>
                  </a:lnTo>
                  <a:cubicBezTo>
                    <a:pt x="336670" y="552638"/>
                    <a:pt x="321265" y="558800"/>
                    <a:pt x="305246" y="558800"/>
                  </a:cubicBezTo>
                  <a:lnTo>
                    <a:pt x="24954" y="558800"/>
                  </a:lnTo>
                  <a:cubicBezTo>
                    <a:pt x="18336" y="558800"/>
                    <a:pt x="11989" y="556171"/>
                    <a:pt x="7309" y="551491"/>
                  </a:cubicBezTo>
                  <a:cubicBezTo>
                    <a:pt x="2629" y="546811"/>
                    <a:pt x="0" y="540464"/>
                    <a:pt x="0" y="533846"/>
                  </a:cubicBezTo>
                  <a:lnTo>
                    <a:pt x="0" y="273874"/>
                  </a:lnTo>
                  <a:cubicBezTo>
                    <a:pt x="0" y="257944"/>
                    <a:pt x="6553" y="242716"/>
                    <a:pt x="18120" y="231763"/>
                  </a:cubicBezTo>
                  <a:lnTo>
                    <a:pt x="244770" y="17157"/>
                  </a:lnTo>
                  <a:cubicBezTo>
                    <a:pt x="256405" y="6140"/>
                    <a:pt x="271820" y="0"/>
                    <a:pt x="287844" y="0"/>
                  </a:cubicBezTo>
                  <a:lnTo>
                    <a:pt x="571946" y="0"/>
                  </a:lnTo>
                  <a:cubicBezTo>
                    <a:pt x="578564" y="0"/>
                    <a:pt x="584911" y="2629"/>
                    <a:pt x="589591" y="7309"/>
                  </a:cubicBezTo>
                  <a:cubicBezTo>
                    <a:pt x="594271" y="11989"/>
                    <a:pt x="596900" y="18336"/>
                    <a:pt x="596900" y="24954"/>
                  </a:cubicBezTo>
                  <a:close/>
                </a:path>
              </a:pathLst>
            </a:custGeom>
            <a:ln w="190500" cap="sq">
              <a:solidFill>
                <a:srgbClr val="FE971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766594" y="1613214"/>
            <a:ext cx="11367768" cy="10642165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22006"/>
                  </a:moveTo>
                  <a:lnTo>
                    <a:pt x="596900" y="282794"/>
                  </a:lnTo>
                  <a:cubicBezTo>
                    <a:pt x="596900" y="296847"/>
                    <a:pt x="591141" y="310285"/>
                    <a:pt x="580964" y="319977"/>
                  </a:cubicBezTo>
                  <a:lnTo>
                    <a:pt x="346135" y="543623"/>
                  </a:lnTo>
                  <a:cubicBezTo>
                    <a:pt x="335906" y="553366"/>
                    <a:pt x="322321" y="558800"/>
                    <a:pt x="308194" y="558800"/>
                  </a:cubicBezTo>
                  <a:lnTo>
                    <a:pt x="22006" y="558800"/>
                  </a:lnTo>
                  <a:cubicBezTo>
                    <a:pt x="16170" y="558800"/>
                    <a:pt x="10572" y="556481"/>
                    <a:pt x="6445" y="552355"/>
                  </a:cubicBezTo>
                  <a:cubicBezTo>
                    <a:pt x="2318" y="548228"/>
                    <a:pt x="0" y="542630"/>
                    <a:pt x="0" y="536794"/>
                  </a:cubicBezTo>
                  <a:lnTo>
                    <a:pt x="0" y="270926"/>
                  </a:lnTo>
                  <a:cubicBezTo>
                    <a:pt x="0" y="256878"/>
                    <a:pt x="5779" y="243448"/>
                    <a:pt x="15979" y="233790"/>
                  </a:cubicBezTo>
                  <a:lnTo>
                    <a:pt x="246911" y="15130"/>
                  </a:lnTo>
                  <a:cubicBezTo>
                    <a:pt x="257172" y="5415"/>
                    <a:pt x="270765" y="0"/>
                    <a:pt x="284896" y="0"/>
                  </a:cubicBezTo>
                  <a:lnTo>
                    <a:pt x="574894" y="0"/>
                  </a:lnTo>
                  <a:cubicBezTo>
                    <a:pt x="580730" y="0"/>
                    <a:pt x="586328" y="2318"/>
                    <a:pt x="590455" y="6445"/>
                  </a:cubicBezTo>
                  <a:cubicBezTo>
                    <a:pt x="594581" y="10572"/>
                    <a:pt x="596900" y="16170"/>
                    <a:pt x="596900" y="22006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99641" y="1028700"/>
            <a:ext cx="6935129" cy="5905596"/>
            <a:chOff x="0" y="0"/>
            <a:chExt cx="1460623" cy="12437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0627" cy="1243791"/>
            </a:xfrm>
            <a:custGeom>
              <a:avLst/>
              <a:gdLst/>
              <a:ahLst/>
              <a:cxnLst/>
              <a:rect l="l" t="t" r="r" b="b"/>
              <a:pathLst>
                <a:path w="1460627" h="1243791">
                  <a:moveTo>
                    <a:pt x="1046362" y="38122"/>
                  </a:moveTo>
                  <a:cubicBezTo>
                    <a:pt x="1024662" y="13865"/>
                    <a:pt x="993657" y="0"/>
                    <a:pt x="961111" y="0"/>
                  </a:cubicBezTo>
                  <a:lnTo>
                    <a:pt x="114385" y="0"/>
                  </a:lnTo>
                  <a:cubicBezTo>
                    <a:pt x="51213" y="1"/>
                    <a:pt x="1" y="51211"/>
                    <a:pt x="0" y="114384"/>
                  </a:cubicBezTo>
                  <a:lnTo>
                    <a:pt x="0" y="501214"/>
                  </a:lnTo>
                  <a:lnTo>
                    <a:pt x="0" y="795306"/>
                  </a:lnTo>
                  <a:cubicBezTo>
                    <a:pt x="0" y="858478"/>
                    <a:pt x="51211" y="909690"/>
                    <a:pt x="114384" y="909690"/>
                  </a:cubicBezTo>
                  <a:lnTo>
                    <a:pt x="587586" y="909690"/>
                  </a:lnTo>
                  <a:cubicBezTo>
                    <a:pt x="620132" y="909690"/>
                    <a:pt x="651138" y="923554"/>
                    <a:pt x="672837" y="947811"/>
                  </a:cubicBezTo>
                  <a:lnTo>
                    <a:pt x="903501" y="1205669"/>
                  </a:lnTo>
                  <a:cubicBezTo>
                    <a:pt x="925201" y="1229927"/>
                    <a:pt x="956207" y="1243791"/>
                    <a:pt x="988753" y="1243791"/>
                  </a:cubicBezTo>
                  <a:lnTo>
                    <a:pt x="1346239" y="1243791"/>
                  </a:lnTo>
                  <a:cubicBezTo>
                    <a:pt x="1376576" y="1243792"/>
                    <a:pt x="1405670" y="1231742"/>
                    <a:pt x="1427122" y="1210291"/>
                  </a:cubicBezTo>
                  <a:cubicBezTo>
                    <a:pt x="1448574" y="1188841"/>
                    <a:pt x="1460626" y="1159748"/>
                    <a:pt x="1460627" y="1129411"/>
                  </a:cubicBezTo>
                  <a:lnTo>
                    <a:pt x="1460627" y="562247"/>
                  </a:lnTo>
                  <a:cubicBezTo>
                    <a:pt x="1460627" y="522943"/>
                    <a:pt x="1446140" y="485019"/>
                    <a:pt x="1419935" y="455726"/>
                  </a:cubicBezTo>
                  <a:close/>
                </a:path>
              </a:pathLst>
            </a:custGeom>
            <a:blipFill>
              <a:blip r:embed="rId2"/>
              <a:stretch>
                <a:fillRect t="-276" b="-276"/>
              </a:stretch>
            </a:blipFill>
            <a:ln w="1428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-1525476" y="5685503"/>
            <a:ext cx="6885531" cy="3577552"/>
            <a:chOff x="0" y="0"/>
            <a:chExt cx="1657619" cy="86125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57622" cy="861258"/>
            </a:xfrm>
            <a:custGeom>
              <a:avLst/>
              <a:gdLst/>
              <a:ahLst/>
              <a:cxnLst/>
              <a:rect l="l" t="t" r="r" b="b"/>
              <a:pathLst>
                <a:path w="1657622" h="861258">
                  <a:moveTo>
                    <a:pt x="1310663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81866"/>
                  </a:lnTo>
                  <a:cubicBezTo>
                    <a:pt x="0" y="618376"/>
                    <a:pt x="13458" y="653606"/>
                    <a:pt x="37800" y="680818"/>
                  </a:cubicBezTo>
                  <a:lnTo>
                    <a:pt x="154967" y="811794"/>
                  </a:lnTo>
                  <a:cubicBezTo>
                    <a:pt x="183122" y="843269"/>
                    <a:pt x="223353" y="861259"/>
                    <a:pt x="265584" y="861258"/>
                  </a:cubicBezTo>
                  <a:lnTo>
                    <a:pt x="1509206" y="861258"/>
                  </a:lnTo>
                  <a:cubicBezTo>
                    <a:pt x="1548568" y="861258"/>
                    <a:pt x="1586318" y="845622"/>
                    <a:pt x="1614152" y="817789"/>
                  </a:cubicBezTo>
                  <a:cubicBezTo>
                    <a:pt x="1641985" y="789956"/>
                    <a:pt x="1657622" y="752206"/>
                    <a:pt x="1657622" y="712843"/>
                  </a:cubicBezTo>
                  <a:lnTo>
                    <a:pt x="1657622" y="366141"/>
                  </a:lnTo>
                  <a:cubicBezTo>
                    <a:pt x="1657622" y="329143"/>
                    <a:pt x="1643803" y="293478"/>
                    <a:pt x="1618873" y="266140"/>
                  </a:cubicBezTo>
                  <a:lnTo>
                    <a:pt x="1420330" y="48414"/>
                  </a:lnTo>
                  <a:cubicBezTo>
                    <a:pt x="1392207" y="17574"/>
                    <a:pt x="1352400" y="0"/>
                    <a:pt x="1310663" y="0"/>
                  </a:cubicBezTo>
                  <a:close/>
                </a:path>
              </a:pathLst>
            </a:custGeom>
            <a:blipFill>
              <a:blip r:embed="rId3"/>
              <a:stretch>
                <a:fillRect t="-762" b="-762"/>
              </a:stretch>
            </a:blipFill>
            <a:ln w="1428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2" name="Freeform 12"/>
          <p:cNvSpPr/>
          <p:nvPr/>
        </p:nvSpPr>
        <p:spPr>
          <a:xfrm>
            <a:off x="680956" y="9608931"/>
            <a:ext cx="1237371" cy="204729"/>
          </a:xfrm>
          <a:custGeom>
            <a:avLst/>
            <a:gdLst/>
            <a:ahLst/>
            <a:cxnLst/>
            <a:rect l="l" t="t" r="r" b="b"/>
            <a:pathLst>
              <a:path w="1237371" h="204729">
                <a:moveTo>
                  <a:pt x="0" y="0"/>
                </a:moveTo>
                <a:lnTo>
                  <a:pt x="1237371" y="0"/>
                </a:lnTo>
                <a:lnTo>
                  <a:pt x="1237371" y="204729"/>
                </a:lnTo>
                <a:lnTo>
                  <a:pt x="0" y="2047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 rot="-10800000">
            <a:off x="8259045" y="-2215139"/>
            <a:ext cx="4732342" cy="4430278"/>
            <a:chOff x="0" y="0"/>
            <a:chExt cx="596900" cy="558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9223"/>
                  </a:moveTo>
                  <a:lnTo>
                    <a:pt x="596900" y="285577"/>
                  </a:lnTo>
                  <a:cubicBezTo>
                    <a:pt x="596900" y="297853"/>
                    <a:pt x="591869" y="309591"/>
                    <a:pt x="582980" y="318057"/>
                  </a:cubicBezTo>
                  <a:lnTo>
                    <a:pt x="344120" y="545543"/>
                  </a:lnTo>
                  <a:cubicBezTo>
                    <a:pt x="335184" y="554053"/>
                    <a:pt x="323317" y="558800"/>
                    <a:pt x="310977" y="558800"/>
                  </a:cubicBezTo>
                  <a:lnTo>
                    <a:pt x="19223" y="558800"/>
                  </a:lnTo>
                  <a:cubicBezTo>
                    <a:pt x="14124" y="558800"/>
                    <a:pt x="9235" y="556775"/>
                    <a:pt x="5630" y="553170"/>
                  </a:cubicBezTo>
                  <a:cubicBezTo>
                    <a:pt x="2025" y="549565"/>
                    <a:pt x="0" y="544676"/>
                    <a:pt x="0" y="539577"/>
                  </a:cubicBezTo>
                  <a:lnTo>
                    <a:pt x="0" y="268143"/>
                  </a:lnTo>
                  <a:cubicBezTo>
                    <a:pt x="0" y="255871"/>
                    <a:pt x="5048" y="244141"/>
                    <a:pt x="13958" y="235704"/>
                  </a:cubicBezTo>
                  <a:lnTo>
                    <a:pt x="248932" y="13216"/>
                  </a:lnTo>
                  <a:cubicBezTo>
                    <a:pt x="257895" y="4730"/>
                    <a:pt x="269769" y="0"/>
                    <a:pt x="282113" y="0"/>
                  </a:cubicBezTo>
                  <a:lnTo>
                    <a:pt x="577677" y="0"/>
                  </a:lnTo>
                  <a:cubicBezTo>
                    <a:pt x="582776" y="0"/>
                    <a:pt x="587665" y="2025"/>
                    <a:pt x="591270" y="5630"/>
                  </a:cubicBezTo>
                  <a:cubicBezTo>
                    <a:pt x="594875" y="9235"/>
                    <a:pt x="596900" y="14124"/>
                    <a:pt x="596900" y="19223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10800000">
            <a:off x="15921829" y="4985982"/>
            <a:ext cx="4732342" cy="4430278"/>
            <a:chOff x="0" y="0"/>
            <a:chExt cx="596900" cy="558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9223"/>
                  </a:moveTo>
                  <a:lnTo>
                    <a:pt x="596900" y="285577"/>
                  </a:lnTo>
                  <a:cubicBezTo>
                    <a:pt x="596900" y="297853"/>
                    <a:pt x="591869" y="309591"/>
                    <a:pt x="582980" y="318057"/>
                  </a:cubicBezTo>
                  <a:lnTo>
                    <a:pt x="344120" y="545543"/>
                  </a:lnTo>
                  <a:cubicBezTo>
                    <a:pt x="335184" y="554053"/>
                    <a:pt x="323317" y="558800"/>
                    <a:pt x="310977" y="558800"/>
                  </a:cubicBezTo>
                  <a:lnTo>
                    <a:pt x="19223" y="558800"/>
                  </a:lnTo>
                  <a:cubicBezTo>
                    <a:pt x="14124" y="558800"/>
                    <a:pt x="9235" y="556775"/>
                    <a:pt x="5630" y="553170"/>
                  </a:cubicBezTo>
                  <a:cubicBezTo>
                    <a:pt x="2025" y="549565"/>
                    <a:pt x="0" y="544676"/>
                    <a:pt x="0" y="539577"/>
                  </a:cubicBezTo>
                  <a:lnTo>
                    <a:pt x="0" y="268143"/>
                  </a:lnTo>
                  <a:cubicBezTo>
                    <a:pt x="0" y="255871"/>
                    <a:pt x="5048" y="244141"/>
                    <a:pt x="13958" y="235704"/>
                  </a:cubicBezTo>
                  <a:lnTo>
                    <a:pt x="248932" y="13216"/>
                  </a:lnTo>
                  <a:cubicBezTo>
                    <a:pt x="257895" y="4730"/>
                    <a:pt x="269769" y="0"/>
                    <a:pt x="282113" y="0"/>
                  </a:cubicBezTo>
                  <a:lnTo>
                    <a:pt x="577677" y="0"/>
                  </a:lnTo>
                  <a:cubicBezTo>
                    <a:pt x="582776" y="0"/>
                    <a:pt x="587665" y="2025"/>
                    <a:pt x="591270" y="5630"/>
                  </a:cubicBezTo>
                  <a:cubicBezTo>
                    <a:pt x="594875" y="9235"/>
                    <a:pt x="596900" y="14124"/>
                    <a:pt x="596900" y="19223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051245" y="2372295"/>
            <a:ext cx="8787529" cy="765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767"/>
              </a:lnSpc>
            </a:pPr>
            <a:r>
              <a:rPr lang="en-US" sz="5767" b="1" spc="115">
                <a:solidFill>
                  <a:srgbClr val="011A3C"/>
                </a:solidFill>
                <a:latin typeface="Gotham Bold"/>
                <a:ea typeface="Gotham Bold"/>
                <a:cs typeface="Gotham Bold"/>
                <a:sym typeface="Gotham Bold"/>
              </a:rPr>
              <a:t>Results &amp; Applications</a:t>
            </a:r>
          </a:p>
        </p:txBody>
      </p:sp>
      <p:sp>
        <p:nvSpPr>
          <p:cNvPr id="20" name="Freeform 20"/>
          <p:cNvSpPr/>
          <p:nvPr/>
        </p:nvSpPr>
        <p:spPr>
          <a:xfrm>
            <a:off x="11292003" y="609463"/>
            <a:ext cx="935360" cy="154760"/>
          </a:xfrm>
          <a:custGeom>
            <a:avLst/>
            <a:gdLst/>
            <a:ahLst/>
            <a:cxnLst/>
            <a:rect l="l" t="t" r="r" b="b"/>
            <a:pathLst>
              <a:path w="935360" h="154760">
                <a:moveTo>
                  <a:pt x="0" y="0"/>
                </a:moveTo>
                <a:lnTo>
                  <a:pt x="935360" y="0"/>
                </a:lnTo>
                <a:lnTo>
                  <a:pt x="935360" y="154759"/>
                </a:lnTo>
                <a:lnTo>
                  <a:pt x="0" y="1547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AutoShape 21"/>
          <p:cNvSpPr/>
          <p:nvPr/>
        </p:nvSpPr>
        <p:spPr>
          <a:xfrm>
            <a:off x="11498540" y="3583797"/>
            <a:ext cx="8461486" cy="0"/>
          </a:xfrm>
          <a:prstGeom prst="line">
            <a:avLst/>
          </a:prstGeom>
          <a:ln w="38100" cap="rnd">
            <a:solidFill>
              <a:srgbClr val="FE971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9144000" y="4079097"/>
            <a:ext cx="7694774" cy="1240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476"/>
              </a:lnSpc>
            </a:pPr>
            <a:r>
              <a:rPr lang="en-US" sz="1768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The system achieves safer navigation in dynamic environments, improved trajectory prediction accuracy, and robust obstacle avoidance. Adaptability to changing road layouts ensures reliable performance across diverse real-world conditions and traffic scenarios.</a:t>
            </a:r>
          </a:p>
        </p:txBody>
      </p:sp>
      <p:sp>
        <p:nvSpPr>
          <p:cNvPr id="24" name="Freeform 24"/>
          <p:cNvSpPr/>
          <p:nvPr/>
        </p:nvSpPr>
        <p:spPr>
          <a:xfrm flipH="1">
            <a:off x="339233" y="412355"/>
            <a:ext cx="1378935" cy="1363892"/>
          </a:xfrm>
          <a:custGeom>
            <a:avLst/>
            <a:gdLst/>
            <a:ahLst/>
            <a:cxnLst/>
            <a:rect l="l" t="t" r="r" b="b"/>
            <a:pathLst>
              <a:path w="1378935" h="1363892">
                <a:moveTo>
                  <a:pt x="1378934" y="0"/>
                </a:moveTo>
                <a:lnTo>
                  <a:pt x="0" y="0"/>
                </a:lnTo>
                <a:lnTo>
                  <a:pt x="0" y="1363892"/>
                </a:lnTo>
                <a:lnTo>
                  <a:pt x="1378934" y="1363892"/>
                </a:lnTo>
                <a:lnTo>
                  <a:pt x="137893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flipV="1">
            <a:off x="7260677" y="7875831"/>
            <a:ext cx="1043041" cy="1031662"/>
          </a:xfrm>
          <a:custGeom>
            <a:avLst/>
            <a:gdLst/>
            <a:ahLst/>
            <a:cxnLst/>
            <a:rect l="l" t="t" r="r" b="b"/>
            <a:pathLst>
              <a:path w="1043041" h="1031662">
                <a:moveTo>
                  <a:pt x="0" y="1031662"/>
                </a:moveTo>
                <a:lnTo>
                  <a:pt x="1043040" y="1031662"/>
                </a:lnTo>
                <a:lnTo>
                  <a:pt x="1043040" y="0"/>
                </a:lnTo>
                <a:lnTo>
                  <a:pt x="0" y="0"/>
                </a:lnTo>
                <a:lnTo>
                  <a:pt x="0" y="1031662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16667237" y="7723286"/>
            <a:ext cx="166204" cy="166204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6667237" y="8285224"/>
            <a:ext cx="166204" cy="166204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6667237" y="8847162"/>
            <a:ext cx="166204" cy="166204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8800166" y="7634957"/>
            <a:ext cx="7723773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22"/>
              </a:lnSpc>
            </a:pPr>
            <a:r>
              <a:rPr lang="en-US" sz="1768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Rural roads, construction zones &amp; unstructured terrain.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800166" y="8196895"/>
            <a:ext cx="7723773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22"/>
              </a:lnSpc>
            </a:pPr>
            <a:r>
              <a:rPr lang="en-US" sz="1768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Parking areas, intersections &amp; mixed-traffic environments.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800166" y="8758832"/>
            <a:ext cx="7723773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22"/>
              </a:lnSpc>
            </a:pPr>
            <a:r>
              <a:rPr lang="en-US" sz="1768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Scalable deployment in intelligent transportation systems.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1292003" y="6379885"/>
            <a:ext cx="6157797" cy="924316"/>
            <a:chOff x="0" y="0"/>
            <a:chExt cx="1402306" cy="24344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402306" cy="243441"/>
            </a:xfrm>
            <a:custGeom>
              <a:avLst/>
              <a:gdLst/>
              <a:ahLst/>
              <a:cxnLst/>
              <a:rect l="l" t="t" r="r" b="b"/>
              <a:pathLst>
                <a:path w="1402306" h="243441">
                  <a:moveTo>
                    <a:pt x="121721" y="0"/>
                  </a:moveTo>
                  <a:lnTo>
                    <a:pt x="1280586" y="0"/>
                  </a:lnTo>
                  <a:cubicBezTo>
                    <a:pt x="1347810" y="0"/>
                    <a:pt x="1402306" y="54496"/>
                    <a:pt x="1402306" y="121721"/>
                  </a:cubicBezTo>
                  <a:lnTo>
                    <a:pt x="1402306" y="121721"/>
                  </a:lnTo>
                  <a:cubicBezTo>
                    <a:pt x="1402306" y="154003"/>
                    <a:pt x="1389482" y="184963"/>
                    <a:pt x="1366655" y="207790"/>
                  </a:cubicBezTo>
                  <a:cubicBezTo>
                    <a:pt x="1343828" y="230617"/>
                    <a:pt x="1312868" y="243441"/>
                    <a:pt x="1280586" y="243441"/>
                  </a:cubicBezTo>
                  <a:lnTo>
                    <a:pt x="121721" y="243441"/>
                  </a:lnTo>
                  <a:cubicBezTo>
                    <a:pt x="89438" y="243441"/>
                    <a:pt x="58478" y="230617"/>
                    <a:pt x="35651" y="207790"/>
                  </a:cubicBezTo>
                  <a:cubicBezTo>
                    <a:pt x="12824" y="184963"/>
                    <a:pt x="0" y="154003"/>
                    <a:pt x="0" y="121721"/>
                  </a:cubicBezTo>
                  <a:lnTo>
                    <a:pt x="0" y="121721"/>
                  </a:lnTo>
                  <a:cubicBezTo>
                    <a:pt x="0" y="89438"/>
                    <a:pt x="12824" y="58478"/>
                    <a:pt x="35651" y="35651"/>
                  </a:cubicBezTo>
                  <a:cubicBezTo>
                    <a:pt x="58478" y="12824"/>
                    <a:pt x="89438" y="0"/>
                    <a:pt x="121721" y="0"/>
                  </a:cubicBezTo>
                  <a:close/>
                </a:path>
              </a:pathLst>
            </a:custGeom>
            <a:solidFill>
              <a:srgbClr val="014AAB"/>
            </a:solidFill>
            <a:ln cap="rnd">
              <a:noFill/>
              <a:prstDash val="solid"/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57150"/>
              <a:ext cx="1402306" cy="3005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672748" y="6607112"/>
            <a:ext cx="5340234" cy="356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06"/>
              </a:lnSpc>
            </a:pPr>
            <a:r>
              <a:rPr lang="en-US" sz="2076" b="1">
                <a:solidFill>
                  <a:srgbClr val="FFFFFF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Evaluate the Future of Autonomous Mobility</a:t>
            </a:r>
          </a:p>
        </p:txBody>
      </p:sp>
      <p:grpSp>
        <p:nvGrpSpPr>
          <p:cNvPr id="42" name="Group 42"/>
          <p:cNvGrpSpPr/>
          <p:nvPr/>
        </p:nvGrpSpPr>
        <p:grpSpPr>
          <a:xfrm rot="-5400000">
            <a:off x="14949104" y="9787647"/>
            <a:ext cx="2392343" cy="2239640"/>
            <a:chOff x="0" y="0"/>
            <a:chExt cx="596900" cy="558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38024"/>
                  </a:moveTo>
                  <a:lnTo>
                    <a:pt x="596900" y="266776"/>
                  </a:lnTo>
                  <a:cubicBezTo>
                    <a:pt x="596900" y="291057"/>
                    <a:pt x="586948" y="314278"/>
                    <a:pt x="569365" y="331024"/>
                  </a:cubicBezTo>
                  <a:lnTo>
                    <a:pt x="357735" y="532576"/>
                  </a:lnTo>
                  <a:cubicBezTo>
                    <a:pt x="340059" y="549410"/>
                    <a:pt x="316585" y="558800"/>
                    <a:pt x="292176" y="558800"/>
                  </a:cubicBezTo>
                  <a:lnTo>
                    <a:pt x="38024" y="558800"/>
                  </a:lnTo>
                  <a:cubicBezTo>
                    <a:pt x="17024" y="558800"/>
                    <a:pt x="0" y="541776"/>
                    <a:pt x="0" y="520776"/>
                  </a:cubicBezTo>
                  <a:lnTo>
                    <a:pt x="0" y="286944"/>
                  </a:lnTo>
                  <a:cubicBezTo>
                    <a:pt x="0" y="262671"/>
                    <a:pt x="9985" y="239466"/>
                    <a:pt x="27611" y="222776"/>
                  </a:cubicBezTo>
                  <a:lnTo>
                    <a:pt x="235279" y="26144"/>
                  </a:lnTo>
                  <a:cubicBezTo>
                    <a:pt x="253009" y="9356"/>
                    <a:pt x="276498" y="0"/>
                    <a:pt x="300914" y="0"/>
                  </a:cubicBezTo>
                  <a:lnTo>
                    <a:pt x="558876" y="0"/>
                  </a:lnTo>
                  <a:cubicBezTo>
                    <a:pt x="579876" y="0"/>
                    <a:pt x="596900" y="17024"/>
                    <a:pt x="596900" y="38024"/>
                  </a:cubicBezTo>
                  <a:close/>
                </a:path>
              </a:pathLst>
            </a:custGeom>
            <a:solidFill>
              <a:srgbClr val="FE9710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 rot="-5400000">
            <a:off x="5638404" y="9787647"/>
            <a:ext cx="2392343" cy="2239640"/>
            <a:chOff x="0" y="0"/>
            <a:chExt cx="596900" cy="558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38024"/>
                  </a:moveTo>
                  <a:lnTo>
                    <a:pt x="596900" y="266776"/>
                  </a:lnTo>
                  <a:cubicBezTo>
                    <a:pt x="596900" y="291057"/>
                    <a:pt x="586948" y="314278"/>
                    <a:pt x="569365" y="331024"/>
                  </a:cubicBezTo>
                  <a:lnTo>
                    <a:pt x="357735" y="532576"/>
                  </a:lnTo>
                  <a:cubicBezTo>
                    <a:pt x="340059" y="549410"/>
                    <a:pt x="316585" y="558800"/>
                    <a:pt x="292176" y="558800"/>
                  </a:cubicBezTo>
                  <a:lnTo>
                    <a:pt x="38024" y="558800"/>
                  </a:lnTo>
                  <a:cubicBezTo>
                    <a:pt x="17024" y="558800"/>
                    <a:pt x="0" y="541776"/>
                    <a:pt x="0" y="520776"/>
                  </a:cubicBezTo>
                  <a:lnTo>
                    <a:pt x="0" y="286944"/>
                  </a:lnTo>
                  <a:cubicBezTo>
                    <a:pt x="0" y="262671"/>
                    <a:pt x="9985" y="239466"/>
                    <a:pt x="27611" y="222776"/>
                  </a:cubicBezTo>
                  <a:lnTo>
                    <a:pt x="235279" y="26144"/>
                  </a:lnTo>
                  <a:cubicBezTo>
                    <a:pt x="253009" y="9356"/>
                    <a:pt x="276498" y="0"/>
                    <a:pt x="300914" y="0"/>
                  </a:cubicBezTo>
                  <a:lnTo>
                    <a:pt x="558876" y="0"/>
                  </a:lnTo>
                  <a:cubicBezTo>
                    <a:pt x="579876" y="0"/>
                    <a:pt x="596900" y="17024"/>
                    <a:pt x="596900" y="38024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4372557" y="-522625"/>
            <a:ext cx="5586552" cy="5229964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6283"/>
                  </a:moveTo>
                  <a:lnTo>
                    <a:pt x="596900" y="288517"/>
                  </a:lnTo>
                  <a:cubicBezTo>
                    <a:pt x="596900" y="298915"/>
                    <a:pt x="592638" y="308859"/>
                    <a:pt x="585109" y="316030"/>
                  </a:cubicBezTo>
                  <a:lnTo>
                    <a:pt x="341991" y="547570"/>
                  </a:lnTo>
                  <a:cubicBezTo>
                    <a:pt x="334422" y="554779"/>
                    <a:pt x="324370" y="558800"/>
                    <a:pt x="313917" y="558800"/>
                  </a:cubicBezTo>
                  <a:lnTo>
                    <a:pt x="16283" y="558800"/>
                  </a:lnTo>
                  <a:cubicBezTo>
                    <a:pt x="7290" y="558800"/>
                    <a:pt x="0" y="551510"/>
                    <a:pt x="0" y="542517"/>
                  </a:cubicBezTo>
                  <a:lnTo>
                    <a:pt x="0" y="265203"/>
                  </a:lnTo>
                  <a:cubicBezTo>
                    <a:pt x="0" y="254809"/>
                    <a:pt x="4276" y="244871"/>
                    <a:pt x="11824" y="237724"/>
                  </a:cubicBezTo>
                  <a:lnTo>
                    <a:pt x="251066" y="11196"/>
                  </a:lnTo>
                  <a:cubicBezTo>
                    <a:pt x="258659" y="4007"/>
                    <a:pt x="268717" y="0"/>
                    <a:pt x="279173" y="0"/>
                  </a:cubicBezTo>
                  <a:lnTo>
                    <a:pt x="580617" y="0"/>
                  </a:lnTo>
                  <a:cubicBezTo>
                    <a:pt x="589610" y="0"/>
                    <a:pt x="596900" y="7290"/>
                    <a:pt x="596900" y="16283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-1951372" y="-821553"/>
            <a:ext cx="5308335" cy="4969505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7137"/>
                  </a:moveTo>
                  <a:lnTo>
                    <a:pt x="596900" y="287663"/>
                  </a:lnTo>
                  <a:cubicBezTo>
                    <a:pt x="596900" y="298606"/>
                    <a:pt x="592415" y="309071"/>
                    <a:pt x="584491" y="316618"/>
                  </a:cubicBezTo>
                  <a:lnTo>
                    <a:pt x="342609" y="546982"/>
                  </a:lnTo>
                  <a:cubicBezTo>
                    <a:pt x="334643" y="554568"/>
                    <a:pt x="324064" y="558800"/>
                    <a:pt x="313063" y="558800"/>
                  </a:cubicBezTo>
                  <a:lnTo>
                    <a:pt x="17137" y="558800"/>
                  </a:lnTo>
                  <a:cubicBezTo>
                    <a:pt x="12592" y="558800"/>
                    <a:pt x="8233" y="556995"/>
                    <a:pt x="5019" y="553781"/>
                  </a:cubicBezTo>
                  <a:cubicBezTo>
                    <a:pt x="1805" y="550567"/>
                    <a:pt x="0" y="546208"/>
                    <a:pt x="0" y="541663"/>
                  </a:cubicBezTo>
                  <a:lnTo>
                    <a:pt x="0" y="266057"/>
                  </a:lnTo>
                  <a:cubicBezTo>
                    <a:pt x="0" y="255117"/>
                    <a:pt x="4500" y="244659"/>
                    <a:pt x="12444" y="237138"/>
                  </a:cubicBezTo>
                  <a:lnTo>
                    <a:pt x="250446" y="11782"/>
                  </a:lnTo>
                  <a:cubicBezTo>
                    <a:pt x="258437" y="4217"/>
                    <a:pt x="269023" y="0"/>
                    <a:pt x="280027" y="0"/>
                  </a:cubicBezTo>
                  <a:lnTo>
                    <a:pt x="579763" y="0"/>
                  </a:lnTo>
                  <a:cubicBezTo>
                    <a:pt x="584308" y="0"/>
                    <a:pt x="588667" y="1805"/>
                    <a:pt x="591881" y="5019"/>
                  </a:cubicBezTo>
                  <a:cubicBezTo>
                    <a:pt x="595095" y="8233"/>
                    <a:pt x="596900" y="12592"/>
                    <a:pt x="596900" y="17137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987743" y="0"/>
            <a:ext cx="9949049" cy="9314003"/>
            <a:chOff x="0" y="0"/>
            <a:chExt cx="596900" cy="558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9143"/>
                  </a:moveTo>
                  <a:lnTo>
                    <a:pt x="596900" y="295657"/>
                  </a:lnTo>
                  <a:cubicBezTo>
                    <a:pt x="596900" y="301495"/>
                    <a:pt x="594507" y="307079"/>
                    <a:pt x="590279" y="311106"/>
                  </a:cubicBezTo>
                  <a:lnTo>
                    <a:pt x="336821" y="552494"/>
                  </a:lnTo>
                  <a:cubicBezTo>
                    <a:pt x="332571" y="556542"/>
                    <a:pt x="326926" y="558800"/>
                    <a:pt x="321057" y="558800"/>
                  </a:cubicBezTo>
                  <a:lnTo>
                    <a:pt x="9143" y="558800"/>
                  </a:lnTo>
                  <a:cubicBezTo>
                    <a:pt x="4094" y="558800"/>
                    <a:pt x="0" y="554706"/>
                    <a:pt x="0" y="549657"/>
                  </a:cubicBezTo>
                  <a:lnTo>
                    <a:pt x="0" y="258063"/>
                  </a:lnTo>
                  <a:cubicBezTo>
                    <a:pt x="0" y="252226"/>
                    <a:pt x="2401" y="246647"/>
                    <a:pt x="6639" y="242633"/>
                  </a:cubicBezTo>
                  <a:lnTo>
                    <a:pt x="256251" y="6287"/>
                  </a:lnTo>
                  <a:cubicBezTo>
                    <a:pt x="260514" y="2250"/>
                    <a:pt x="266162" y="0"/>
                    <a:pt x="272033" y="0"/>
                  </a:cubicBezTo>
                  <a:lnTo>
                    <a:pt x="587757" y="0"/>
                  </a:lnTo>
                  <a:cubicBezTo>
                    <a:pt x="592806" y="0"/>
                    <a:pt x="596900" y="4094"/>
                    <a:pt x="596900" y="9143"/>
                  </a:cubicBezTo>
                  <a:close/>
                </a:path>
              </a:pathLst>
            </a:custGeom>
            <a:ln w="142875" cap="sq">
              <a:solidFill>
                <a:srgbClr val="FE971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455920" y="438294"/>
            <a:ext cx="9012694" cy="8437416"/>
            <a:chOff x="0" y="0"/>
            <a:chExt cx="596900" cy="558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0093"/>
                  </a:moveTo>
                  <a:lnTo>
                    <a:pt x="596900" y="294707"/>
                  </a:lnTo>
                  <a:cubicBezTo>
                    <a:pt x="596900" y="301152"/>
                    <a:pt x="594258" y="307316"/>
                    <a:pt x="589591" y="311761"/>
                  </a:cubicBezTo>
                  <a:lnTo>
                    <a:pt x="337509" y="551839"/>
                  </a:lnTo>
                  <a:cubicBezTo>
                    <a:pt x="332817" y="556308"/>
                    <a:pt x="326586" y="558800"/>
                    <a:pt x="320107" y="558800"/>
                  </a:cubicBezTo>
                  <a:lnTo>
                    <a:pt x="10093" y="558800"/>
                  </a:lnTo>
                  <a:cubicBezTo>
                    <a:pt x="7416" y="558800"/>
                    <a:pt x="4849" y="557737"/>
                    <a:pt x="2956" y="555844"/>
                  </a:cubicBezTo>
                  <a:cubicBezTo>
                    <a:pt x="1063" y="553951"/>
                    <a:pt x="0" y="551384"/>
                    <a:pt x="0" y="548707"/>
                  </a:cubicBezTo>
                  <a:lnTo>
                    <a:pt x="0" y="259013"/>
                  </a:lnTo>
                  <a:cubicBezTo>
                    <a:pt x="0" y="252570"/>
                    <a:pt x="2650" y="246410"/>
                    <a:pt x="7329" y="241980"/>
                  </a:cubicBezTo>
                  <a:lnTo>
                    <a:pt x="255561" y="6940"/>
                  </a:lnTo>
                  <a:cubicBezTo>
                    <a:pt x="260267" y="2483"/>
                    <a:pt x="266502" y="0"/>
                    <a:pt x="272983" y="0"/>
                  </a:cubicBezTo>
                  <a:lnTo>
                    <a:pt x="586807" y="0"/>
                  </a:lnTo>
                  <a:cubicBezTo>
                    <a:pt x="589484" y="0"/>
                    <a:pt x="592051" y="1063"/>
                    <a:pt x="593944" y="2956"/>
                  </a:cubicBezTo>
                  <a:cubicBezTo>
                    <a:pt x="595837" y="4849"/>
                    <a:pt x="596900" y="7416"/>
                    <a:pt x="596900" y="10093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180050" y="1404182"/>
            <a:ext cx="5547029" cy="6854956"/>
            <a:chOff x="0" y="0"/>
            <a:chExt cx="1460623" cy="180502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60627" cy="1805022"/>
            </a:xfrm>
            <a:custGeom>
              <a:avLst/>
              <a:gdLst/>
              <a:ahLst/>
              <a:cxnLst/>
              <a:rect l="l" t="t" r="r" b="b"/>
              <a:pathLst>
                <a:path w="1460627" h="1805022">
                  <a:moveTo>
                    <a:pt x="1460627" y="1189424"/>
                  </a:moveTo>
                  <a:lnTo>
                    <a:pt x="1460627" y="561989"/>
                  </a:lnTo>
                  <a:cubicBezTo>
                    <a:pt x="1460629" y="522853"/>
                    <a:pt x="1446205" y="485089"/>
                    <a:pt x="1420114" y="455919"/>
                  </a:cubicBezTo>
                  <a:lnTo>
                    <a:pt x="1046362" y="38122"/>
                  </a:lnTo>
                  <a:cubicBezTo>
                    <a:pt x="1024662" y="13865"/>
                    <a:pt x="993657" y="0"/>
                    <a:pt x="961111" y="0"/>
                  </a:cubicBezTo>
                  <a:lnTo>
                    <a:pt x="114384" y="0"/>
                  </a:lnTo>
                  <a:cubicBezTo>
                    <a:pt x="51211" y="0"/>
                    <a:pt x="0" y="51211"/>
                    <a:pt x="0" y="114384"/>
                  </a:cubicBezTo>
                  <a:lnTo>
                    <a:pt x="0" y="501214"/>
                  </a:lnTo>
                  <a:lnTo>
                    <a:pt x="0" y="1234766"/>
                  </a:lnTo>
                  <a:cubicBezTo>
                    <a:pt x="0" y="1279232"/>
                    <a:pt x="16390" y="1322137"/>
                    <a:pt x="46036" y="1355277"/>
                  </a:cubicBezTo>
                  <a:lnTo>
                    <a:pt x="414263" y="1766900"/>
                  </a:lnTo>
                  <a:cubicBezTo>
                    <a:pt x="435962" y="1791157"/>
                    <a:pt x="466967" y="1805022"/>
                    <a:pt x="499514" y="1805022"/>
                  </a:cubicBezTo>
                  <a:lnTo>
                    <a:pt x="944739" y="1805022"/>
                  </a:lnTo>
                  <a:cubicBezTo>
                    <a:pt x="975076" y="1805022"/>
                    <a:pt x="1004170" y="1792971"/>
                    <a:pt x="1025621" y="1771520"/>
                  </a:cubicBezTo>
                  <a:cubicBezTo>
                    <a:pt x="1047073" y="1750069"/>
                    <a:pt x="1059124" y="1720975"/>
                    <a:pt x="1059124" y="1690638"/>
                  </a:cubicBezTo>
                  <a:lnTo>
                    <a:pt x="1059124" y="1418193"/>
                  </a:lnTo>
                  <a:cubicBezTo>
                    <a:pt x="1059124" y="1355019"/>
                    <a:pt x="1110336" y="1303808"/>
                    <a:pt x="1173509" y="1303808"/>
                  </a:cubicBezTo>
                  <a:lnTo>
                    <a:pt x="1346241" y="1303808"/>
                  </a:lnTo>
                  <a:cubicBezTo>
                    <a:pt x="1376578" y="1303808"/>
                    <a:pt x="1405672" y="1291757"/>
                    <a:pt x="1427124" y="1270306"/>
                  </a:cubicBezTo>
                  <a:cubicBezTo>
                    <a:pt x="1448576" y="1248855"/>
                    <a:pt x="1460627" y="1219761"/>
                    <a:pt x="1460627" y="1189424"/>
                  </a:cubicBezTo>
                  <a:close/>
                </a:path>
              </a:pathLst>
            </a:custGeom>
            <a:blipFill>
              <a:blip r:embed="rId2"/>
              <a:stretch>
                <a:fillRect t="-260" b="-260"/>
              </a:stretch>
            </a:blipFill>
            <a:ln w="152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344311" y="6940650"/>
            <a:ext cx="6885531" cy="3577552"/>
            <a:chOff x="0" y="0"/>
            <a:chExt cx="1657619" cy="8612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57622" cy="861258"/>
            </a:xfrm>
            <a:custGeom>
              <a:avLst/>
              <a:gdLst/>
              <a:ahLst/>
              <a:cxnLst/>
              <a:rect l="l" t="t" r="r" b="b"/>
              <a:pathLst>
                <a:path w="1657622" h="861258">
                  <a:moveTo>
                    <a:pt x="1310663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81866"/>
                  </a:lnTo>
                  <a:cubicBezTo>
                    <a:pt x="0" y="618376"/>
                    <a:pt x="13458" y="653606"/>
                    <a:pt x="37800" y="680818"/>
                  </a:cubicBezTo>
                  <a:lnTo>
                    <a:pt x="154967" y="811794"/>
                  </a:lnTo>
                  <a:cubicBezTo>
                    <a:pt x="183122" y="843269"/>
                    <a:pt x="223353" y="861259"/>
                    <a:pt x="265584" y="861258"/>
                  </a:cubicBezTo>
                  <a:lnTo>
                    <a:pt x="1509206" y="861258"/>
                  </a:lnTo>
                  <a:cubicBezTo>
                    <a:pt x="1548568" y="861258"/>
                    <a:pt x="1586318" y="845622"/>
                    <a:pt x="1614152" y="817789"/>
                  </a:cubicBezTo>
                  <a:cubicBezTo>
                    <a:pt x="1641985" y="789956"/>
                    <a:pt x="1657622" y="752206"/>
                    <a:pt x="1657622" y="712843"/>
                  </a:cubicBezTo>
                  <a:lnTo>
                    <a:pt x="1657622" y="366141"/>
                  </a:lnTo>
                  <a:cubicBezTo>
                    <a:pt x="1657622" y="329143"/>
                    <a:pt x="1643803" y="293478"/>
                    <a:pt x="1618873" y="266140"/>
                  </a:cubicBezTo>
                  <a:lnTo>
                    <a:pt x="1420330" y="48414"/>
                  </a:lnTo>
                  <a:cubicBezTo>
                    <a:pt x="1392207" y="17574"/>
                    <a:pt x="1352400" y="0"/>
                    <a:pt x="1310663" y="0"/>
                  </a:cubicBezTo>
                  <a:close/>
                </a:path>
              </a:pathLst>
            </a:custGeom>
            <a:blipFill>
              <a:blip r:embed="rId3"/>
              <a:stretch>
                <a:fillRect t="-762" b="-762"/>
              </a:stretch>
            </a:blipFill>
            <a:ln w="1428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 rot="-5400000">
            <a:off x="556994" y="6621083"/>
            <a:ext cx="4568455" cy="4276852"/>
            <a:chOff x="0" y="0"/>
            <a:chExt cx="596900" cy="558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21157"/>
                  </a:moveTo>
                  <a:lnTo>
                    <a:pt x="596900" y="283643"/>
                  </a:lnTo>
                  <a:cubicBezTo>
                    <a:pt x="596900" y="297154"/>
                    <a:pt x="591363" y="310073"/>
                    <a:pt x="581580" y="319391"/>
                  </a:cubicBezTo>
                  <a:lnTo>
                    <a:pt x="345520" y="544209"/>
                  </a:lnTo>
                  <a:cubicBezTo>
                    <a:pt x="335686" y="553576"/>
                    <a:pt x="322625" y="558800"/>
                    <a:pt x="309043" y="558800"/>
                  </a:cubicBezTo>
                  <a:lnTo>
                    <a:pt x="21157" y="558800"/>
                  </a:lnTo>
                  <a:cubicBezTo>
                    <a:pt x="9472" y="558800"/>
                    <a:pt x="0" y="549328"/>
                    <a:pt x="0" y="537643"/>
                  </a:cubicBezTo>
                  <a:lnTo>
                    <a:pt x="0" y="270077"/>
                  </a:lnTo>
                  <a:cubicBezTo>
                    <a:pt x="0" y="256571"/>
                    <a:pt x="5556" y="243660"/>
                    <a:pt x="15363" y="234374"/>
                  </a:cubicBezTo>
                  <a:lnTo>
                    <a:pt x="247527" y="14546"/>
                  </a:lnTo>
                  <a:cubicBezTo>
                    <a:pt x="257392" y="5206"/>
                    <a:pt x="270461" y="0"/>
                    <a:pt x="284047" y="0"/>
                  </a:cubicBezTo>
                  <a:lnTo>
                    <a:pt x="575743" y="0"/>
                  </a:lnTo>
                  <a:cubicBezTo>
                    <a:pt x="587428" y="0"/>
                    <a:pt x="596900" y="9472"/>
                    <a:pt x="596900" y="21157"/>
                  </a:cubicBezTo>
                  <a:close/>
                </a:path>
              </a:pathLst>
            </a:custGeom>
            <a:solidFill>
              <a:srgbClr val="FE971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-5400000">
            <a:off x="9035539" y="-3630374"/>
            <a:ext cx="4568455" cy="4276852"/>
            <a:chOff x="0" y="0"/>
            <a:chExt cx="596900" cy="558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21157"/>
                  </a:moveTo>
                  <a:lnTo>
                    <a:pt x="596900" y="283643"/>
                  </a:lnTo>
                  <a:cubicBezTo>
                    <a:pt x="596900" y="297154"/>
                    <a:pt x="591363" y="310073"/>
                    <a:pt x="581580" y="319391"/>
                  </a:cubicBezTo>
                  <a:lnTo>
                    <a:pt x="345520" y="544209"/>
                  </a:lnTo>
                  <a:cubicBezTo>
                    <a:pt x="335686" y="553576"/>
                    <a:pt x="322625" y="558800"/>
                    <a:pt x="309043" y="558800"/>
                  </a:cubicBezTo>
                  <a:lnTo>
                    <a:pt x="21157" y="558800"/>
                  </a:lnTo>
                  <a:cubicBezTo>
                    <a:pt x="9472" y="558800"/>
                    <a:pt x="0" y="549328"/>
                    <a:pt x="0" y="537643"/>
                  </a:cubicBezTo>
                  <a:lnTo>
                    <a:pt x="0" y="270077"/>
                  </a:lnTo>
                  <a:cubicBezTo>
                    <a:pt x="0" y="256571"/>
                    <a:pt x="5556" y="243660"/>
                    <a:pt x="15363" y="234374"/>
                  </a:cubicBezTo>
                  <a:lnTo>
                    <a:pt x="247527" y="14546"/>
                  </a:lnTo>
                  <a:cubicBezTo>
                    <a:pt x="257392" y="5206"/>
                    <a:pt x="270461" y="0"/>
                    <a:pt x="284047" y="0"/>
                  </a:cubicBezTo>
                  <a:lnTo>
                    <a:pt x="575743" y="0"/>
                  </a:lnTo>
                  <a:cubicBezTo>
                    <a:pt x="587428" y="0"/>
                    <a:pt x="596900" y="9472"/>
                    <a:pt x="596900" y="21157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-912428" y="6940650"/>
            <a:ext cx="6885531" cy="3577552"/>
            <a:chOff x="0" y="0"/>
            <a:chExt cx="1657619" cy="86125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657622" cy="861258"/>
            </a:xfrm>
            <a:custGeom>
              <a:avLst/>
              <a:gdLst/>
              <a:ahLst/>
              <a:cxnLst/>
              <a:rect l="l" t="t" r="r" b="b"/>
              <a:pathLst>
                <a:path w="1657622" h="861258">
                  <a:moveTo>
                    <a:pt x="1310663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81866"/>
                  </a:lnTo>
                  <a:cubicBezTo>
                    <a:pt x="0" y="618376"/>
                    <a:pt x="13458" y="653606"/>
                    <a:pt x="37800" y="680818"/>
                  </a:cubicBezTo>
                  <a:lnTo>
                    <a:pt x="154967" y="811794"/>
                  </a:lnTo>
                  <a:cubicBezTo>
                    <a:pt x="183122" y="843269"/>
                    <a:pt x="223353" y="861259"/>
                    <a:pt x="265584" y="861258"/>
                  </a:cubicBezTo>
                  <a:lnTo>
                    <a:pt x="1509206" y="861258"/>
                  </a:lnTo>
                  <a:cubicBezTo>
                    <a:pt x="1548568" y="861258"/>
                    <a:pt x="1586318" y="845622"/>
                    <a:pt x="1614152" y="817789"/>
                  </a:cubicBezTo>
                  <a:cubicBezTo>
                    <a:pt x="1641985" y="789956"/>
                    <a:pt x="1657622" y="752206"/>
                    <a:pt x="1657622" y="712843"/>
                  </a:cubicBezTo>
                  <a:lnTo>
                    <a:pt x="1657622" y="366141"/>
                  </a:lnTo>
                  <a:cubicBezTo>
                    <a:pt x="1657622" y="329143"/>
                    <a:pt x="1643803" y="293478"/>
                    <a:pt x="1618873" y="266140"/>
                  </a:cubicBezTo>
                  <a:lnTo>
                    <a:pt x="1420330" y="48414"/>
                  </a:lnTo>
                  <a:cubicBezTo>
                    <a:pt x="1392207" y="17574"/>
                    <a:pt x="1352400" y="0"/>
                    <a:pt x="1310663" y="0"/>
                  </a:cubicBezTo>
                  <a:close/>
                </a:path>
              </a:pathLst>
            </a:custGeom>
            <a:blipFill>
              <a:blip r:embed="rId4"/>
              <a:stretch>
                <a:fillRect t="-762" b="-762"/>
              </a:stretch>
            </a:blipFill>
            <a:ln w="1428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26" name="Freeform 26"/>
          <p:cNvSpPr/>
          <p:nvPr/>
        </p:nvSpPr>
        <p:spPr>
          <a:xfrm flipV="1">
            <a:off x="16638425" y="7798931"/>
            <a:ext cx="2177309" cy="2153557"/>
          </a:xfrm>
          <a:custGeom>
            <a:avLst/>
            <a:gdLst/>
            <a:ahLst/>
            <a:cxnLst/>
            <a:rect l="l" t="t" r="r" b="b"/>
            <a:pathLst>
              <a:path w="2177309" h="2153557">
                <a:moveTo>
                  <a:pt x="0" y="2153557"/>
                </a:moveTo>
                <a:lnTo>
                  <a:pt x="2177309" y="2153557"/>
                </a:lnTo>
                <a:lnTo>
                  <a:pt x="2177309" y="0"/>
                </a:lnTo>
                <a:lnTo>
                  <a:pt x="0" y="0"/>
                </a:lnTo>
                <a:lnTo>
                  <a:pt x="0" y="215355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9181341" y="6513687"/>
            <a:ext cx="1211471" cy="200443"/>
          </a:xfrm>
          <a:custGeom>
            <a:avLst/>
            <a:gdLst/>
            <a:ahLst/>
            <a:cxnLst/>
            <a:rect l="l" t="t" r="r" b="b"/>
            <a:pathLst>
              <a:path w="1211471" h="200443">
                <a:moveTo>
                  <a:pt x="0" y="0"/>
                </a:moveTo>
                <a:lnTo>
                  <a:pt x="1211471" y="0"/>
                </a:lnTo>
                <a:lnTo>
                  <a:pt x="1211471" y="200444"/>
                </a:lnTo>
                <a:lnTo>
                  <a:pt x="0" y="2004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202761" y="1919306"/>
            <a:ext cx="9718307" cy="716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35"/>
              </a:lnSpc>
            </a:pPr>
            <a:r>
              <a:rPr lang="en-US" sz="5335" b="1" spc="106">
                <a:solidFill>
                  <a:srgbClr val="011A3C"/>
                </a:solidFill>
                <a:latin typeface="Gotham Bold"/>
                <a:ea typeface="Gotham Bold"/>
                <a:cs typeface="Gotham Bold"/>
                <a:sym typeface="Gotham Bold"/>
              </a:rPr>
              <a:t>Limitations &amp; Future Scope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02761" y="3023680"/>
            <a:ext cx="9560324" cy="1176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41"/>
              </a:lnSpc>
            </a:pPr>
            <a:r>
              <a:rPr lang="en-US" sz="1672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Current Limitations: The system faces challenges including sensor noise degrading perception accuracy, limited real-world datasets for rare-event scenarios, and high computational cost hindering real-time deployment. Sim-to-real transfer gaps reduce generalization, and predicting unpredictable agent behavior remains an open challenge.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02761" y="4895624"/>
            <a:ext cx="9560324" cy="881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41"/>
              </a:lnSpc>
            </a:pPr>
            <a:r>
              <a:rPr lang="en-US" sz="1672">
                <a:solidFill>
                  <a:srgbClr val="011A3C"/>
                </a:solidFill>
                <a:latin typeface="Nunito"/>
                <a:ea typeface="Nunito"/>
                <a:cs typeface="Nunito"/>
                <a:sym typeface="Nunito"/>
              </a:rPr>
              <a:t>Future Scope: Planned extensions include multimodal sensor fusion (LiDAR + camera + radar), end-to-end deep learning pipelines, uncertainty-aware planning with risk quantification, real-vehicle hardware testing, and large-scale diverse scenario dataset collection for robust model training.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30768" y="4646344"/>
            <a:ext cx="5455035" cy="5106842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6676"/>
                  </a:moveTo>
                  <a:lnTo>
                    <a:pt x="596900" y="288124"/>
                  </a:lnTo>
                  <a:cubicBezTo>
                    <a:pt x="596900" y="298773"/>
                    <a:pt x="592536" y="308957"/>
                    <a:pt x="584824" y="316301"/>
                  </a:cubicBezTo>
                  <a:lnTo>
                    <a:pt x="342276" y="547299"/>
                  </a:lnTo>
                  <a:cubicBezTo>
                    <a:pt x="334524" y="554682"/>
                    <a:pt x="324229" y="558800"/>
                    <a:pt x="313524" y="558800"/>
                  </a:cubicBezTo>
                  <a:lnTo>
                    <a:pt x="16676" y="558800"/>
                  </a:lnTo>
                  <a:cubicBezTo>
                    <a:pt x="12253" y="558800"/>
                    <a:pt x="8012" y="557043"/>
                    <a:pt x="4884" y="553916"/>
                  </a:cubicBezTo>
                  <a:cubicBezTo>
                    <a:pt x="1757" y="550788"/>
                    <a:pt x="0" y="546547"/>
                    <a:pt x="0" y="542124"/>
                  </a:cubicBezTo>
                  <a:lnTo>
                    <a:pt x="0" y="265596"/>
                  </a:lnTo>
                  <a:cubicBezTo>
                    <a:pt x="0" y="254950"/>
                    <a:pt x="4379" y="244774"/>
                    <a:pt x="12109" y="237454"/>
                  </a:cubicBezTo>
                  <a:lnTo>
                    <a:pt x="250781" y="11466"/>
                  </a:lnTo>
                  <a:cubicBezTo>
                    <a:pt x="258557" y="4103"/>
                    <a:pt x="268858" y="0"/>
                    <a:pt x="279566" y="0"/>
                  </a:cubicBezTo>
                  <a:lnTo>
                    <a:pt x="580224" y="0"/>
                  </a:lnTo>
                  <a:cubicBezTo>
                    <a:pt x="584647" y="0"/>
                    <a:pt x="588888" y="1757"/>
                    <a:pt x="592016" y="4884"/>
                  </a:cubicBezTo>
                  <a:cubicBezTo>
                    <a:pt x="595143" y="8012"/>
                    <a:pt x="596900" y="12253"/>
                    <a:pt x="596900" y="16676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626760" y="5534027"/>
            <a:ext cx="2765738" cy="2589201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32891"/>
                  </a:moveTo>
                  <a:lnTo>
                    <a:pt x="596900" y="271909"/>
                  </a:lnTo>
                  <a:cubicBezTo>
                    <a:pt x="596900" y="292913"/>
                    <a:pt x="588292" y="312998"/>
                    <a:pt x="573082" y="327483"/>
                  </a:cubicBezTo>
                  <a:lnTo>
                    <a:pt x="354018" y="536117"/>
                  </a:lnTo>
                  <a:cubicBezTo>
                    <a:pt x="338728" y="550678"/>
                    <a:pt x="318423" y="558800"/>
                    <a:pt x="297309" y="558800"/>
                  </a:cubicBezTo>
                  <a:lnTo>
                    <a:pt x="32891" y="558800"/>
                  </a:lnTo>
                  <a:cubicBezTo>
                    <a:pt x="14726" y="558800"/>
                    <a:pt x="0" y="544074"/>
                    <a:pt x="0" y="525909"/>
                  </a:cubicBezTo>
                  <a:lnTo>
                    <a:pt x="0" y="281811"/>
                  </a:lnTo>
                  <a:cubicBezTo>
                    <a:pt x="0" y="260814"/>
                    <a:pt x="8637" y="240742"/>
                    <a:pt x="23883" y="226306"/>
                  </a:cubicBezTo>
                  <a:lnTo>
                    <a:pt x="239007" y="22614"/>
                  </a:lnTo>
                  <a:cubicBezTo>
                    <a:pt x="254343" y="8093"/>
                    <a:pt x="274661" y="0"/>
                    <a:pt x="295781" y="0"/>
                  </a:cubicBezTo>
                  <a:lnTo>
                    <a:pt x="564009" y="0"/>
                  </a:lnTo>
                  <a:cubicBezTo>
                    <a:pt x="582174" y="0"/>
                    <a:pt x="596900" y="14726"/>
                    <a:pt x="596900" y="328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225979" y="8542449"/>
            <a:ext cx="4218545" cy="3949276"/>
            <a:chOff x="0" y="0"/>
            <a:chExt cx="596900" cy="558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21564"/>
                  </a:moveTo>
                  <a:lnTo>
                    <a:pt x="596900" y="283236"/>
                  </a:lnTo>
                  <a:cubicBezTo>
                    <a:pt x="596900" y="297006"/>
                    <a:pt x="591256" y="310175"/>
                    <a:pt x="581285" y="319672"/>
                  </a:cubicBezTo>
                  <a:lnTo>
                    <a:pt x="345815" y="543928"/>
                  </a:lnTo>
                  <a:cubicBezTo>
                    <a:pt x="335791" y="553475"/>
                    <a:pt x="322479" y="558800"/>
                    <a:pt x="308636" y="558800"/>
                  </a:cubicBezTo>
                  <a:lnTo>
                    <a:pt x="21564" y="558800"/>
                  </a:lnTo>
                  <a:cubicBezTo>
                    <a:pt x="9654" y="558800"/>
                    <a:pt x="0" y="549146"/>
                    <a:pt x="0" y="537236"/>
                  </a:cubicBezTo>
                  <a:lnTo>
                    <a:pt x="0" y="270484"/>
                  </a:lnTo>
                  <a:cubicBezTo>
                    <a:pt x="0" y="256718"/>
                    <a:pt x="5662" y="243558"/>
                    <a:pt x="15658" y="234094"/>
                  </a:cubicBezTo>
                  <a:lnTo>
                    <a:pt x="247232" y="14826"/>
                  </a:lnTo>
                  <a:cubicBezTo>
                    <a:pt x="257286" y="5306"/>
                    <a:pt x="270607" y="0"/>
                    <a:pt x="284454" y="0"/>
                  </a:cubicBezTo>
                  <a:lnTo>
                    <a:pt x="575336" y="0"/>
                  </a:lnTo>
                  <a:cubicBezTo>
                    <a:pt x="587246" y="0"/>
                    <a:pt x="596900" y="9654"/>
                    <a:pt x="596900" y="21564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-536217" y="-2958766"/>
            <a:ext cx="6321001" cy="5917533"/>
            <a:chOff x="0" y="0"/>
            <a:chExt cx="596900" cy="558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14391"/>
                  </a:moveTo>
                  <a:lnTo>
                    <a:pt x="596900" y="290409"/>
                  </a:lnTo>
                  <a:cubicBezTo>
                    <a:pt x="596900" y="299599"/>
                    <a:pt x="593134" y="308387"/>
                    <a:pt x="586479" y="314725"/>
                  </a:cubicBezTo>
                  <a:lnTo>
                    <a:pt x="340621" y="548875"/>
                  </a:lnTo>
                  <a:cubicBezTo>
                    <a:pt x="333931" y="555246"/>
                    <a:pt x="325047" y="558800"/>
                    <a:pt x="315809" y="558800"/>
                  </a:cubicBezTo>
                  <a:lnTo>
                    <a:pt x="14391" y="558800"/>
                  </a:lnTo>
                  <a:cubicBezTo>
                    <a:pt x="10575" y="558800"/>
                    <a:pt x="6914" y="557284"/>
                    <a:pt x="4215" y="554585"/>
                  </a:cubicBezTo>
                  <a:cubicBezTo>
                    <a:pt x="1516" y="551886"/>
                    <a:pt x="0" y="548226"/>
                    <a:pt x="0" y="544409"/>
                  </a:cubicBezTo>
                  <a:lnTo>
                    <a:pt x="0" y="263311"/>
                  </a:lnTo>
                  <a:cubicBezTo>
                    <a:pt x="0" y="254124"/>
                    <a:pt x="3779" y="245342"/>
                    <a:pt x="10450" y="239025"/>
                  </a:cubicBezTo>
                  <a:lnTo>
                    <a:pt x="252440" y="9895"/>
                  </a:lnTo>
                  <a:cubicBezTo>
                    <a:pt x="259150" y="3541"/>
                    <a:pt x="268040" y="0"/>
                    <a:pt x="277281" y="0"/>
                  </a:cubicBezTo>
                  <a:lnTo>
                    <a:pt x="582509" y="0"/>
                  </a:lnTo>
                  <a:cubicBezTo>
                    <a:pt x="586326" y="0"/>
                    <a:pt x="589986" y="1516"/>
                    <a:pt x="592685" y="4215"/>
                  </a:cubicBezTo>
                  <a:cubicBezTo>
                    <a:pt x="595384" y="6914"/>
                    <a:pt x="596900" y="10575"/>
                    <a:pt x="596900" y="14391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10800000">
            <a:off x="13810359" y="-3147653"/>
            <a:ext cx="4531224" cy="4241997"/>
            <a:chOff x="0" y="0"/>
            <a:chExt cx="596900" cy="558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20076"/>
                  </a:moveTo>
                  <a:lnTo>
                    <a:pt x="596900" y="284724"/>
                  </a:lnTo>
                  <a:cubicBezTo>
                    <a:pt x="596900" y="297544"/>
                    <a:pt x="591646" y="309804"/>
                    <a:pt x="582362" y="318645"/>
                  </a:cubicBezTo>
                  <a:lnTo>
                    <a:pt x="344738" y="544955"/>
                  </a:lnTo>
                  <a:cubicBezTo>
                    <a:pt x="335405" y="553843"/>
                    <a:pt x="323012" y="558800"/>
                    <a:pt x="310124" y="558800"/>
                  </a:cubicBezTo>
                  <a:lnTo>
                    <a:pt x="20076" y="558800"/>
                  </a:lnTo>
                  <a:cubicBezTo>
                    <a:pt x="8988" y="558800"/>
                    <a:pt x="0" y="549812"/>
                    <a:pt x="0" y="538724"/>
                  </a:cubicBezTo>
                  <a:lnTo>
                    <a:pt x="0" y="268996"/>
                  </a:lnTo>
                  <a:cubicBezTo>
                    <a:pt x="0" y="256180"/>
                    <a:pt x="5272" y="243928"/>
                    <a:pt x="14578" y="235117"/>
                  </a:cubicBezTo>
                  <a:lnTo>
                    <a:pt x="248312" y="13803"/>
                  </a:lnTo>
                  <a:cubicBezTo>
                    <a:pt x="257673" y="4940"/>
                    <a:pt x="270074" y="0"/>
                    <a:pt x="282966" y="0"/>
                  </a:cubicBezTo>
                  <a:lnTo>
                    <a:pt x="576824" y="0"/>
                  </a:lnTo>
                  <a:cubicBezTo>
                    <a:pt x="587912" y="0"/>
                    <a:pt x="596900" y="8988"/>
                    <a:pt x="596900" y="20076"/>
                  </a:cubicBezTo>
                  <a:close/>
                </a:path>
              </a:pathLst>
            </a:custGeom>
            <a:solidFill>
              <a:srgbClr val="014AAB">
                <a:alpha val="5882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634197" y="543858"/>
            <a:ext cx="3762996" cy="3522804"/>
            <a:chOff x="0" y="0"/>
            <a:chExt cx="596900" cy="558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24174"/>
                  </a:moveTo>
                  <a:lnTo>
                    <a:pt x="596900" y="280626"/>
                  </a:lnTo>
                  <a:cubicBezTo>
                    <a:pt x="596900" y="296063"/>
                    <a:pt x="590573" y="310826"/>
                    <a:pt x="579395" y="321472"/>
                  </a:cubicBezTo>
                  <a:lnTo>
                    <a:pt x="347705" y="542128"/>
                  </a:lnTo>
                  <a:cubicBezTo>
                    <a:pt x="336468" y="552831"/>
                    <a:pt x="321544" y="558800"/>
                    <a:pt x="306026" y="558800"/>
                  </a:cubicBezTo>
                  <a:lnTo>
                    <a:pt x="24174" y="558800"/>
                  </a:lnTo>
                  <a:cubicBezTo>
                    <a:pt x="17763" y="558800"/>
                    <a:pt x="11614" y="556253"/>
                    <a:pt x="7080" y="551720"/>
                  </a:cubicBezTo>
                  <a:cubicBezTo>
                    <a:pt x="2547" y="547186"/>
                    <a:pt x="0" y="541037"/>
                    <a:pt x="0" y="534626"/>
                  </a:cubicBezTo>
                  <a:lnTo>
                    <a:pt x="0" y="273094"/>
                  </a:lnTo>
                  <a:cubicBezTo>
                    <a:pt x="0" y="257662"/>
                    <a:pt x="6348" y="242909"/>
                    <a:pt x="17554" y="232299"/>
                  </a:cubicBezTo>
                  <a:lnTo>
                    <a:pt x="245336" y="16621"/>
                  </a:lnTo>
                  <a:cubicBezTo>
                    <a:pt x="256608" y="5948"/>
                    <a:pt x="271541" y="0"/>
                    <a:pt x="287064" y="0"/>
                  </a:cubicBezTo>
                  <a:lnTo>
                    <a:pt x="572726" y="0"/>
                  </a:lnTo>
                  <a:cubicBezTo>
                    <a:pt x="579137" y="0"/>
                    <a:pt x="585286" y="2547"/>
                    <a:pt x="589820" y="7080"/>
                  </a:cubicBezTo>
                  <a:cubicBezTo>
                    <a:pt x="594353" y="11614"/>
                    <a:pt x="596900" y="17763"/>
                    <a:pt x="596900" y="24174"/>
                  </a:cubicBezTo>
                  <a:close/>
                </a:path>
              </a:pathLst>
            </a:custGeom>
            <a:solidFill>
              <a:srgbClr val="FE971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147937" y="1323502"/>
            <a:ext cx="2737867" cy="2563109"/>
            <a:chOff x="0" y="0"/>
            <a:chExt cx="596900" cy="558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33226"/>
                  </a:moveTo>
                  <a:lnTo>
                    <a:pt x="596900" y="271574"/>
                  </a:lnTo>
                  <a:cubicBezTo>
                    <a:pt x="596900" y="292792"/>
                    <a:pt x="588204" y="313082"/>
                    <a:pt x="572840" y="327714"/>
                  </a:cubicBezTo>
                  <a:lnTo>
                    <a:pt x="354260" y="535886"/>
                  </a:lnTo>
                  <a:cubicBezTo>
                    <a:pt x="338815" y="550595"/>
                    <a:pt x="318303" y="558800"/>
                    <a:pt x="296974" y="558800"/>
                  </a:cubicBezTo>
                  <a:lnTo>
                    <a:pt x="33226" y="558800"/>
                  </a:lnTo>
                  <a:cubicBezTo>
                    <a:pt x="14876" y="558800"/>
                    <a:pt x="0" y="543924"/>
                    <a:pt x="0" y="525574"/>
                  </a:cubicBezTo>
                  <a:lnTo>
                    <a:pt x="0" y="282146"/>
                  </a:lnTo>
                  <a:cubicBezTo>
                    <a:pt x="0" y="260935"/>
                    <a:pt x="8725" y="240659"/>
                    <a:pt x="24126" y="226076"/>
                  </a:cubicBezTo>
                  <a:lnTo>
                    <a:pt x="238764" y="22844"/>
                  </a:lnTo>
                  <a:cubicBezTo>
                    <a:pt x="254256" y="8175"/>
                    <a:pt x="274780" y="0"/>
                    <a:pt x="296116" y="0"/>
                  </a:cubicBezTo>
                  <a:lnTo>
                    <a:pt x="563674" y="0"/>
                  </a:lnTo>
                  <a:cubicBezTo>
                    <a:pt x="582024" y="0"/>
                    <a:pt x="596900" y="14876"/>
                    <a:pt x="596900" y="33226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5400000">
            <a:off x="9551409" y="7241939"/>
            <a:ext cx="2594035" cy="2428459"/>
            <a:chOff x="0" y="0"/>
            <a:chExt cx="596900" cy="558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35068"/>
                  </a:moveTo>
                  <a:lnTo>
                    <a:pt x="596900" y="269732"/>
                  </a:lnTo>
                  <a:cubicBezTo>
                    <a:pt x="596900" y="292126"/>
                    <a:pt x="587722" y="313541"/>
                    <a:pt x="571506" y="328985"/>
                  </a:cubicBezTo>
                  <a:lnTo>
                    <a:pt x="355594" y="534615"/>
                  </a:lnTo>
                  <a:cubicBezTo>
                    <a:pt x="339293" y="550140"/>
                    <a:pt x="317644" y="558800"/>
                    <a:pt x="295132" y="558800"/>
                  </a:cubicBezTo>
                  <a:lnTo>
                    <a:pt x="35068" y="558800"/>
                  </a:lnTo>
                  <a:cubicBezTo>
                    <a:pt x="25767" y="558800"/>
                    <a:pt x="16848" y="555105"/>
                    <a:pt x="10271" y="548529"/>
                  </a:cubicBezTo>
                  <a:cubicBezTo>
                    <a:pt x="3695" y="541952"/>
                    <a:pt x="0" y="533033"/>
                    <a:pt x="0" y="523732"/>
                  </a:cubicBezTo>
                  <a:lnTo>
                    <a:pt x="0" y="283988"/>
                  </a:lnTo>
                  <a:cubicBezTo>
                    <a:pt x="0" y="261602"/>
                    <a:pt x="9209" y="240201"/>
                    <a:pt x="25464" y="224809"/>
                  </a:cubicBezTo>
                  <a:lnTo>
                    <a:pt x="237426" y="24111"/>
                  </a:lnTo>
                  <a:cubicBezTo>
                    <a:pt x="253777" y="8628"/>
                    <a:pt x="275440" y="0"/>
                    <a:pt x="297958" y="0"/>
                  </a:cubicBezTo>
                  <a:lnTo>
                    <a:pt x="561832" y="0"/>
                  </a:lnTo>
                  <a:cubicBezTo>
                    <a:pt x="571133" y="0"/>
                    <a:pt x="580052" y="3695"/>
                    <a:pt x="586629" y="10271"/>
                  </a:cubicBezTo>
                  <a:cubicBezTo>
                    <a:pt x="593205" y="16848"/>
                    <a:pt x="596900" y="25767"/>
                    <a:pt x="596900" y="35068"/>
                  </a:cubicBezTo>
                  <a:close/>
                </a:path>
              </a:pathLst>
            </a:custGeom>
            <a:solidFill>
              <a:srgbClr val="FE9710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01600" y="76200"/>
              <a:ext cx="393700" cy="350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523711" y="1294169"/>
            <a:ext cx="6935129" cy="5905596"/>
            <a:chOff x="0" y="0"/>
            <a:chExt cx="1460623" cy="124379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60627" cy="1243791"/>
            </a:xfrm>
            <a:custGeom>
              <a:avLst/>
              <a:gdLst/>
              <a:ahLst/>
              <a:cxnLst/>
              <a:rect l="l" t="t" r="r" b="b"/>
              <a:pathLst>
                <a:path w="1460627" h="1243791">
                  <a:moveTo>
                    <a:pt x="1046362" y="38122"/>
                  </a:moveTo>
                  <a:cubicBezTo>
                    <a:pt x="1024662" y="13865"/>
                    <a:pt x="993657" y="0"/>
                    <a:pt x="961111" y="0"/>
                  </a:cubicBezTo>
                  <a:lnTo>
                    <a:pt x="114385" y="0"/>
                  </a:lnTo>
                  <a:cubicBezTo>
                    <a:pt x="51213" y="1"/>
                    <a:pt x="1" y="51211"/>
                    <a:pt x="0" y="114384"/>
                  </a:cubicBezTo>
                  <a:lnTo>
                    <a:pt x="0" y="501214"/>
                  </a:lnTo>
                  <a:lnTo>
                    <a:pt x="0" y="795306"/>
                  </a:lnTo>
                  <a:cubicBezTo>
                    <a:pt x="0" y="858478"/>
                    <a:pt x="51211" y="909690"/>
                    <a:pt x="114384" y="909690"/>
                  </a:cubicBezTo>
                  <a:lnTo>
                    <a:pt x="587586" y="909690"/>
                  </a:lnTo>
                  <a:cubicBezTo>
                    <a:pt x="620132" y="909690"/>
                    <a:pt x="651138" y="923554"/>
                    <a:pt x="672837" y="947811"/>
                  </a:cubicBezTo>
                  <a:lnTo>
                    <a:pt x="903501" y="1205669"/>
                  </a:lnTo>
                  <a:cubicBezTo>
                    <a:pt x="925201" y="1229927"/>
                    <a:pt x="956207" y="1243791"/>
                    <a:pt x="988753" y="1243791"/>
                  </a:cubicBezTo>
                  <a:lnTo>
                    <a:pt x="1346239" y="1243791"/>
                  </a:lnTo>
                  <a:cubicBezTo>
                    <a:pt x="1376576" y="1243792"/>
                    <a:pt x="1405670" y="1231742"/>
                    <a:pt x="1427122" y="1210291"/>
                  </a:cubicBezTo>
                  <a:cubicBezTo>
                    <a:pt x="1448574" y="1188841"/>
                    <a:pt x="1460626" y="1159748"/>
                    <a:pt x="1460627" y="1129411"/>
                  </a:cubicBezTo>
                  <a:lnTo>
                    <a:pt x="1460627" y="562247"/>
                  </a:lnTo>
                  <a:cubicBezTo>
                    <a:pt x="1460627" y="522943"/>
                    <a:pt x="1446140" y="485019"/>
                    <a:pt x="1419935" y="455726"/>
                  </a:cubicBezTo>
                  <a:close/>
                </a:path>
              </a:pathLst>
            </a:custGeom>
            <a:blipFill>
              <a:blip r:embed="rId2"/>
              <a:stretch>
                <a:fillRect t="-276" b="-276"/>
              </a:stretch>
            </a:blipFill>
            <a:ln w="1428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9034205" y="5971469"/>
            <a:ext cx="5257565" cy="2731701"/>
            <a:chOff x="0" y="0"/>
            <a:chExt cx="1657619" cy="86125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657622" cy="861258"/>
            </a:xfrm>
            <a:custGeom>
              <a:avLst/>
              <a:gdLst/>
              <a:ahLst/>
              <a:cxnLst/>
              <a:rect l="l" t="t" r="r" b="b"/>
              <a:pathLst>
                <a:path w="1657622" h="861258">
                  <a:moveTo>
                    <a:pt x="1310663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81866"/>
                  </a:lnTo>
                  <a:cubicBezTo>
                    <a:pt x="0" y="618376"/>
                    <a:pt x="13458" y="653606"/>
                    <a:pt x="37800" y="680818"/>
                  </a:cubicBezTo>
                  <a:lnTo>
                    <a:pt x="154967" y="811794"/>
                  </a:lnTo>
                  <a:cubicBezTo>
                    <a:pt x="183122" y="843269"/>
                    <a:pt x="223353" y="861259"/>
                    <a:pt x="265584" y="861258"/>
                  </a:cubicBezTo>
                  <a:lnTo>
                    <a:pt x="1509206" y="861258"/>
                  </a:lnTo>
                  <a:cubicBezTo>
                    <a:pt x="1548568" y="861258"/>
                    <a:pt x="1586318" y="845622"/>
                    <a:pt x="1614152" y="817789"/>
                  </a:cubicBezTo>
                  <a:cubicBezTo>
                    <a:pt x="1641985" y="789956"/>
                    <a:pt x="1657622" y="752206"/>
                    <a:pt x="1657622" y="712843"/>
                  </a:cubicBezTo>
                  <a:lnTo>
                    <a:pt x="1657622" y="366141"/>
                  </a:lnTo>
                  <a:cubicBezTo>
                    <a:pt x="1657622" y="329143"/>
                    <a:pt x="1643803" y="293478"/>
                    <a:pt x="1618873" y="266140"/>
                  </a:cubicBezTo>
                  <a:lnTo>
                    <a:pt x="1420330" y="48414"/>
                  </a:lnTo>
                  <a:cubicBezTo>
                    <a:pt x="1392207" y="17574"/>
                    <a:pt x="1352400" y="0"/>
                    <a:pt x="1310663" y="0"/>
                  </a:cubicBezTo>
                  <a:close/>
                </a:path>
              </a:pathLst>
            </a:custGeom>
            <a:blipFill>
              <a:blip r:embed="rId3"/>
              <a:stretch>
                <a:fillRect t="-762" b="-762"/>
              </a:stretch>
            </a:blipFill>
            <a:ln w="142875" cap="sq">
              <a:solidFill>
                <a:srgbClr val="FE9710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 rot="-10800000">
            <a:off x="1274759" y="6265139"/>
            <a:ext cx="5856018" cy="1078309"/>
            <a:chOff x="0" y="0"/>
            <a:chExt cx="1352556" cy="24905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352556" cy="249055"/>
            </a:xfrm>
            <a:custGeom>
              <a:avLst/>
              <a:gdLst/>
              <a:ahLst/>
              <a:cxnLst/>
              <a:rect l="l" t="t" r="r" b="b"/>
              <a:pathLst>
                <a:path w="1352556" h="249055">
                  <a:moveTo>
                    <a:pt x="124528" y="0"/>
                  </a:moveTo>
                  <a:lnTo>
                    <a:pt x="1228028" y="0"/>
                  </a:lnTo>
                  <a:cubicBezTo>
                    <a:pt x="1296803" y="0"/>
                    <a:pt x="1352556" y="55753"/>
                    <a:pt x="1352556" y="124528"/>
                  </a:cubicBezTo>
                  <a:lnTo>
                    <a:pt x="1352556" y="124528"/>
                  </a:lnTo>
                  <a:cubicBezTo>
                    <a:pt x="1352556" y="157555"/>
                    <a:pt x="1339436" y="189229"/>
                    <a:pt x="1316082" y="212582"/>
                  </a:cubicBezTo>
                  <a:cubicBezTo>
                    <a:pt x="1292729" y="235936"/>
                    <a:pt x="1261055" y="249055"/>
                    <a:pt x="1228028" y="249055"/>
                  </a:cubicBezTo>
                  <a:lnTo>
                    <a:pt x="124528" y="249055"/>
                  </a:lnTo>
                  <a:cubicBezTo>
                    <a:pt x="91501" y="249055"/>
                    <a:pt x="59827" y="235936"/>
                    <a:pt x="36473" y="212582"/>
                  </a:cubicBezTo>
                  <a:cubicBezTo>
                    <a:pt x="13120" y="189229"/>
                    <a:pt x="0" y="157555"/>
                    <a:pt x="0" y="124528"/>
                  </a:cubicBezTo>
                  <a:lnTo>
                    <a:pt x="0" y="124528"/>
                  </a:lnTo>
                  <a:cubicBezTo>
                    <a:pt x="0" y="91501"/>
                    <a:pt x="13120" y="59827"/>
                    <a:pt x="36473" y="36473"/>
                  </a:cubicBezTo>
                  <a:cubicBezTo>
                    <a:pt x="59827" y="13120"/>
                    <a:pt x="91501" y="0"/>
                    <a:pt x="124528" y="0"/>
                  </a:cubicBezTo>
                  <a:close/>
                </a:path>
              </a:pathLst>
            </a:custGeom>
            <a:solidFill>
              <a:srgbClr val="014AAB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1352556" cy="296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 flipV="1">
            <a:off x="16114192" y="8000901"/>
            <a:ext cx="1771612" cy="1752285"/>
          </a:xfrm>
          <a:custGeom>
            <a:avLst/>
            <a:gdLst/>
            <a:ahLst/>
            <a:cxnLst/>
            <a:rect l="l" t="t" r="r" b="b"/>
            <a:pathLst>
              <a:path w="1771612" h="1752285">
                <a:moveTo>
                  <a:pt x="0" y="1752285"/>
                </a:moveTo>
                <a:lnTo>
                  <a:pt x="1771611" y="1752285"/>
                </a:lnTo>
                <a:lnTo>
                  <a:pt x="1771611" y="0"/>
                </a:lnTo>
                <a:lnTo>
                  <a:pt x="0" y="0"/>
                </a:lnTo>
                <a:lnTo>
                  <a:pt x="0" y="175228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flipH="1">
            <a:off x="9634197" y="543858"/>
            <a:ext cx="1113115" cy="1100972"/>
          </a:xfrm>
          <a:custGeom>
            <a:avLst/>
            <a:gdLst/>
            <a:ahLst/>
            <a:cxnLst/>
            <a:rect l="l" t="t" r="r" b="b"/>
            <a:pathLst>
              <a:path w="1113115" h="1100972">
                <a:moveTo>
                  <a:pt x="1113115" y="0"/>
                </a:moveTo>
                <a:lnTo>
                  <a:pt x="0" y="0"/>
                </a:lnTo>
                <a:lnTo>
                  <a:pt x="0" y="1100972"/>
                </a:lnTo>
                <a:lnTo>
                  <a:pt x="1113115" y="1100972"/>
                </a:lnTo>
                <a:lnTo>
                  <a:pt x="11131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679654" y="9654723"/>
            <a:ext cx="1190212" cy="196926"/>
          </a:xfrm>
          <a:custGeom>
            <a:avLst/>
            <a:gdLst/>
            <a:ahLst/>
            <a:cxnLst/>
            <a:rect l="l" t="t" r="r" b="b"/>
            <a:pathLst>
              <a:path w="1190212" h="196926">
                <a:moveTo>
                  <a:pt x="0" y="0"/>
                </a:moveTo>
                <a:lnTo>
                  <a:pt x="1190211" y="0"/>
                </a:lnTo>
                <a:lnTo>
                  <a:pt x="1190211" y="196926"/>
                </a:lnTo>
                <a:lnTo>
                  <a:pt x="0" y="1969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4626760" y="693817"/>
            <a:ext cx="1190212" cy="196926"/>
          </a:xfrm>
          <a:custGeom>
            <a:avLst/>
            <a:gdLst/>
            <a:ahLst/>
            <a:cxnLst/>
            <a:rect l="l" t="t" r="r" b="b"/>
            <a:pathLst>
              <a:path w="1190212" h="196926">
                <a:moveTo>
                  <a:pt x="0" y="0"/>
                </a:moveTo>
                <a:lnTo>
                  <a:pt x="1190212" y="0"/>
                </a:lnTo>
                <a:lnTo>
                  <a:pt x="1190212" y="196926"/>
                </a:lnTo>
                <a:lnTo>
                  <a:pt x="0" y="1969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3696665" y="9159837"/>
            <a:ext cx="1190212" cy="196926"/>
          </a:xfrm>
          <a:custGeom>
            <a:avLst/>
            <a:gdLst/>
            <a:ahLst/>
            <a:cxnLst/>
            <a:rect l="l" t="t" r="r" b="b"/>
            <a:pathLst>
              <a:path w="1190212" h="196926">
                <a:moveTo>
                  <a:pt x="0" y="0"/>
                </a:moveTo>
                <a:lnTo>
                  <a:pt x="1190211" y="0"/>
                </a:lnTo>
                <a:lnTo>
                  <a:pt x="1190211" y="196926"/>
                </a:lnTo>
                <a:lnTo>
                  <a:pt x="0" y="1969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1274759" y="4352660"/>
            <a:ext cx="6530721" cy="1904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92"/>
              </a:lnSpc>
            </a:pPr>
            <a:r>
              <a:rPr lang="en-US" sz="12493" b="1" spc="187">
                <a:solidFill>
                  <a:srgbClr val="011A3C"/>
                </a:solidFill>
                <a:latin typeface="Gotham Bold"/>
                <a:ea typeface="Gotham Bold"/>
                <a:cs typeface="Gotham Bold"/>
                <a:sym typeface="Gotham Bold"/>
              </a:rPr>
              <a:t>YOU!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74759" y="2934067"/>
            <a:ext cx="6530721" cy="1904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92"/>
              </a:lnSpc>
            </a:pPr>
            <a:r>
              <a:rPr lang="en-US" sz="12493" b="1" spc="187">
                <a:solidFill>
                  <a:srgbClr val="011A3C"/>
                </a:solidFill>
                <a:latin typeface="Gotham Bold"/>
                <a:ea typeface="Gotham Bold"/>
                <a:cs typeface="Gotham Bold"/>
                <a:sym typeface="Gotham Bold"/>
              </a:rPr>
              <a:t>THANK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74759" y="6541744"/>
            <a:ext cx="5856018" cy="46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31"/>
              </a:lnSpc>
            </a:pPr>
            <a:r>
              <a:rPr lang="en-US" sz="2716" spc="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993</Words>
  <Application>Microsoft Office PowerPoint</Application>
  <PresentationFormat>Custom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Poppins Medium</vt:lpstr>
      <vt:lpstr>Gotham Bold</vt:lpstr>
      <vt:lpstr>Nunito Semi-Bold</vt:lpstr>
      <vt:lpstr>Arial</vt:lpstr>
      <vt:lpstr>Calibri</vt:lpstr>
      <vt:lpstr>Poppins</vt:lpstr>
      <vt:lpstr>Nunito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Hari Pangi</cp:lastModifiedBy>
  <cp:revision>13</cp:revision>
  <dcterms:created xsi:type="dcterms:W3CDTF">2006-08-16T00:00:00Z</dcterms:created>
  <dcterms:modified xsi:type="dcterms:W3CDTF">2026-10-02T19:12:13Z</dcterms:modified>
  <dc:identifier>DAHW2y4Sonc</dc:identifier>
</cp:coreProperties>
</file>